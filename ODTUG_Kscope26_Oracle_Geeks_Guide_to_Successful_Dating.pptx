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7" r:id="rId2"/>
    <p:sldId id="259" r:id="rId3"/>
    <p:sldId id="263" r:id="rId4"/>
    <p:sldId id="264" r:id="rId5"/>
    <p:sldId id="266" r:id="rId6"/>
    <p:sldId id="268" r:id="rId7"/>
    <p:sldId id="269" r:id="rId8"/>
    <p:sldId id="270" r:id="rId9"/>
    <p:sldId id="292" r:id="rId10"/>
    <p:sldId id="271" r:id="rId11"/>
    <p:sldId id="272" r:id="rId12"/>
    <p:sldId id="315" r:id="rId13"/>
    <p:sldId id="316" r:id="rId14"/>
    <p:sldId id="273" r:id="rId15"/>
    <p:sldId id="274" r:id="rId16"/>
    <p:sldId id="275"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305" r:id="rId30"/>
    <p:sldId id="306" r:id="rId31"/>
    <p:sldId id="307" r:id="rId32"/>
    <p:sldId id="308" r:id="rId33"/>
    <p:sldId id="309" r:id="rId34"/>
    <p:sldId id="310" r:id="rId35"/>
    <p:sldId id="311" r:id="rId36"/>
    <p:sldId id="312" r:id="rId37"/>
    <p:sldId id="313" r:id="rId38"/>
    <p:sldId id="314" r:id="rId39"/>
    <p:sldId id="25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an Stuber" initials="SS" lastIdx="1" clrIdx="0"/>
  <p:cmAuthor id="2" name="Sean D Stuber" initials="SD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60"/>
    <p:restoredTop sz="94694"/>
  </p:normalViewPr>
  <p:slideViewPr>
    <p:cSldViewPr snapToGrid="0">
      <p:cViewPr varScale="1">
        <p:scale>
          <a:sx n="103" d="100"/>
          <a:sy n="103" d="100"/>
        </p:scale>
        <p:origin x="132" y="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2-03-14T19:06:34" idx="1">
    <p:pos x="0" y="0"/>
    <p:text>Conversion with timestamp with local time zone causes indexing issues depending on how the queries are constructed
Also, once one column with local time zone data is populated you can't change the dbtimezone
</p:text>
  </p:cm>
</p:cmLst>
</file>

<file path=ppt/comments/comment2.xml><?xml version="1.0" encoding="utf-8"?>
<p:cmLst xmlns:a="http://schemas.openxmlformats.org/drawingml/2006/main" xmlns:r="http://schemas.openxmlformats.org/officeDocument/2006/relationships" xmlns:p="http://schemas.openxmlformats.org/presentationml/2006/main">
  <p:cm authorId="2" dt="2012-03-15T02:19:27.730" idx="1">
    <p:pos x="10" y="10"/>
    <p:text>WITH x(n)
     AS (SELECT 1 n FROM DUAL
         UNION ALL
         SELECT n + 1 n
           FROM x
          WHERE n &lt;= 4)
SELECT DATE '2012-04-24' + n / 24 date_math,
       TIMESTAMP '2012-04-24 14:30:00' + NUMTODSINTERVAL(n, 'hour') timestamp_math
  FROM x;
------------------------------------------------------
SELECT DATE '2012-04-24' + ROWNUM / 24 date_math,
       TIMESTAMP '2012-04-24 14:30:00' + NUMTODSINTERVAL(ROWNUM, 'hour') timestamp_math
  FROM XMLTABLE('1 to 5');
------------------------------------------------------
SELECT DATE '2012-04-24' + n / 24 date_math,
       TIMESTAMP '2012-04-24 14:30:00' + NUMTODSINTERVAL(n, 'hour') timestamp_math from dual
MODEL DIMENSION BY (0 AS z) MEASURES (1 n)
  RULES ITERATE (5) (n[ITERATION_NUMBER]=ITERATION_NUMBER+1)
;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61391-9100-4165-981D-2CC1C6F64E95}" type="datetimeFigureOut">
              <a:rPr lang="en-US" smtClean="0"/>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DD036-F4EA-4C27-BACA-14F0B42CC795}" type="slidenum">
              <a:rPr lang="en-US" smtClean="0"/>
              <a:t>‹#›</a:t>
            </a:fld>
            <a:endParaRPr lang="en-US"/>
          </a:p>
        </p:txBody>
      </p:sp>
    </p:spTree>
    <p:extLst>
      <p:ext uri="{BB962C8B-B14F-4D97-AF65-F5344CB8AC3E}">
        <p14:creationId xmlns:p14="http://schemas.microsoft.com/office/powerpoint/2010/main" val="815342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1"/>
          <p:cNvSpPr>
            <a:spLocks noGrp="1" noRot="1" noChangeAspect="1" noChangeArrowheads="1" noTextEdit="1"/>
          </p:cNvSpPr>
          <p:nvPr>
            <p:ph type="sldImg"/>
          </p:nvPr>
        </p:nvSpPr>
        <p:spPr bwMode="auto">
          <a:xfrm>
            <a:off x="1588" y="0"/>
            <a:ext cx="1587" cy="158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07" name="Rectangle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numCol="1" anchor="ctr" anchorCtr="0" compatLnSpc="1">
            <a:prstTxWarp prst="textNoShape">
              <a:avLst/>
            </a:prstTxWarp>
          </a:bodyPr>
          <a:lstStyle/>
          <a:p>
            <a:endParaRPr lang="en-US">
              <a:latin typeface="Times New Roman" pitchFamily="16"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1"/>
          <p:cNvSpPr>
            <a:spLocks noGrp="1" noRot="1" noChangeAspect="1" noChangeArrowheads="1" noTextEdit="1"/>
          </p:cNvSpPr>
          <p:nvPr>
            <p:ph type="sldImg"/>
          </p:nvPr>
        </p:nvSpPr>
        <p:spPr bwMode="auto">
          <a:xfrm>
            <a:off x="1588" y="0"/>
            <a:ext cx="1587" cy="158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1" name="Rectangle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numCol="1" anchor="ctr" anchorCtr="0" compatLnSpc="1">
            <a:prstTxWarp prst="textNoShape">
              <a:avLst/>
            </a:prstTxWarp>
          </a:bodyPr>
          <a:lstStyle/>
          <a:p>
            <a:endParaRPr lang="en-US">
              <a:latin typeface="Times New Roman" pitchFamily="16"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1"/>
          <p:cNvSpPr>
            <a:spLocks noGrp="1" noRot="1" noChangeAspect="1" noChangeArrowheads="1" noTextEdit="1"/>
          </p:cNvSpPr>
          <p:nvPr>
            <p:ph type="sldImg"/>
          </p:nvPr>
        </p:nvSpPr>
        <p:spPr bwMode="auto">
          <a:xfrm>
            <a:off x="1588" y="0"/>
            <a:ext cx="1587" cy="158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5" name="Rectangle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numCol="1" anchor="ctr" anchorCtr="0" compatLnSpc="1">
            <a:prstTxWarp prst="textNoShape">
              <a:avLst/>
            </a:prstTxWarp>
          </a:bodyPr>
          <a:lstStyle/>
          <a:p>
            <a:endParaRPr lang="en-US">
              <a:latin typeface="Times New Roman" pitchFamily="16"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1"/>
          <p:cNvSpPr>
            <a:spLocks noGrp="1" noRot="1" noChangeAspect="1" noChangeArrowheads="1" noTextEdit="1"/>
          </p:cNvSpPr>
          <p:nvPr>
            <p:ph type="sldImg"/>
          </p:nvPr>
        </p:nvSpPr>
        <p:spPr bwMode="auto">
          <a:xfrm>
            <a:off x="1588" y="0"/>
            <a:ext cx="1587" cy="158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79" name="Rectangle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numCol="1" anchor="ctr" anchorCtr="0" compatLnSpc="1">
            <a:prstTxWarp prst="textNoShape">
              <a:avLst/>
            </a:prstTxWarp>
          </a:bodyPr>
          <a:lstStyle/>
          <a:p>
            <a:endParaRPr lang="en-US">
              <a:latin typeface="Times New Roman" pitchFamily="16"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D0CCA-FBF3-959D-A998-EF18F8F61F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DBA556-BB16-D2F8-F529-56C64C7B26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792F8-FE0C-CBD1-A4C2-52A0FA0809B2}"/>
              </a:ext>
            </a:extLst>
          </p:cNvPr>
          <p:cNvSpPr>
            <a:spLocks noGrp="1"/>
          </p:cNvSpPr>
          <p:nvPr>
            <p:ph type="dt" sz="half" idx="10"/>
          </p:nvPr>
        </p:nvSpPr>
        <p:spPr/>
        <p:txBody>
          <a:bodyPr/>
          <a:lstStyle/>
          <a:p>
            <a:fld id="{9F3AAC95-1C84-E54F-8057-CBE0695E3940}" type="datetimeFigureOut">
              <a:rPr lang="en-US" smtClean="0"/>
              <a:t>5/21/2026</a:t>
            </a:fld>
            <a:endParaRPr lang="en-US"/>
          </a:p>
        </p:txBody>
      </p:sp>
      <p:sp>
        <p:nvSpPr>
          <p:cNvPr id="5" name="Footer Placeholder 4">
            <a:extLst>
              <a:ext uri="{FF2B5EF4-FFF2-40B4-BE49-F238E27FC236}">
                <a16:creationId xmlns:a16="http://schemas.microsoft.com/office/drawing/2014/main" id="{0E58AB44-7CF6-ACFD-0A66-BED92F2557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E1E7A1-5A72-7456-D8EF-248EBE8914B6}"/>
              </a:ext>
            </a:extLst>
          </p:cNvPr>
          <p:cNvSpPr>
            <a:spLocks noGrp="1"/>
          </p:cNvSpPr>
          <p:nvPr>
            <p:ph type="sldNum" sz="quarter" idx="12"/>
          </p:nvPr>
        </p:nvSpPr>
        <p:spPr/>
        <p:txBody>
          <a:bodyPr/>
          <a:lstStyle/>
          <a:p>
            <a:fld id="{F4964D36-1D18-3C42-8B40-1F4E259E2295}" type="slidenum">
              <a:rPr lang="en-US" smtClean="0"/>
              <a:t>‹#›</a:t>
            </a:fld>
            <a:endParaRPr lang="en-US"/>
          </a:p>
        </p:txBody>
      </p:sp>
    </p:spTree>
    <p:extLst>
      <p:ext uri="{BB962C8B-B14F-4D97-AF65-F5344CB8AC3E}">
        <p14:creationId xmlns:p14="http://schemas.microsoft.com/office/powerpoint/2010/main" val="4029870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D68AE-F09E-A068-D45F-B7488E4425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74E7FA-3E56-4399-80AD-8082C9900F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CC5BA1-58B4-57A4-87A7-94A2F91C9218}"/>
              </a:ext>
            </a:extLst>
          </p:cNvPr>
          <p:cNvSpPr>
            <a:spLocks noGrp="1"/>
          </p:cNvSpPr>
          <p:nvPr>
            <p:ph type="dt" sz="half" idx="10"/>
          </p:nvPr>
        </p:nvSpPr>
        <p:spPr/>
        <p:txBody>
          <a:bodyPr/>
          <a:lstStyle/>
          <a:p>
            <a:fld id="{9F3AAC95-1C84-E54F-8057-CBE0695E3940}" type="datetimeFigureOut">
              <a:rPr lang="en-US" smtClean="0"/>
              <a:t>5/21/2026</a:t>
            </a:fld>
            <a:endParaRPr lang="en-US"/>
          </a:p>
        </p:txBody>
      </p:sp>
      <p:sp>
        <p:nvSpPr>
          <p:cNvPr id="5" name="Footer Placeholder 4">
            <a:extLst>
              <a:ext uri="{FF2B5EF4-FFF2-40B4-BE49-F238E27FC236}">
                <a16:creationId xmlns:a16="http://schemas.microsoft.com/office/drawing/2014/main" id="{461C551E-693C-555E-3137-E0B4FFE82E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8C7727-7F74-105B-8111-77DE0A8552E2}"/>
              </a:ext>
            </a:extLst>
          </p:cNvPr>
          <p:cNvSpPr>
            <a:spLocks noGrp="1"/>
          </p:cNvSpPr>
          <p:nvPr>
            <p:ph type="sldNum" sz="quarter" idx="12"/>
          </p:nvPr>
        </p:nvSpPr>
        <p:spPr/>
        <p:txBody>
          <a:bodyPr/>
          <a:lstStyle/>
          <a:p>
            <a:fld id="{F4964D36-1D18-3C42-8B40-1F4E259E2295}" type="slidenum">
              <a:rPr lang="en-US" smtClean="0"/>
              <a:t>‹#›</a:t>
            </a:fld>
            <a:endParaRPr lang="en-US"/>
          </a:p>
        </p:txBody>
      </p:sp>
    </p:spTree>
    <p:extLst>
      <p:ext uri="{BB962C8B-B14F-4D97-AF65-F5344CB8AC3E}">
        <p14:creationId xmlns:p14="http://schemas.microsoft.com/office/powerpoint/2010/main" val="2024237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8FB75-AF94-7CC5-345A-80D1061482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D5F75D-F6EC-A59E-4635-5AC22849F7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592C61-59B1-C339-F6E1-5116F4CB8F72}"/>
              </a:ext>
            </a:extLst>
          </p:cNvPr>
          <p:cNvSpPr>
            <a:spLocks noGrp="1"/>
          </p:cNvSpPr>
          <p:nvPr>
            <p:ph type="dt" sz="half" idx="10"/>
          </p:nvPr>
        </p:nvSpPr>
        <p:spPr/>
        <p:txBody>
          <a:bodyPr/>
          <a:lstStyle/>
          <a:p>
            <a:fld id="{9F3AAC95-1C84-E54F-8057-CBE0695E3940}" type="datetimeFigureOut">
              <a:rPr lang="en-US" smtClean="0"/>
              <a:t>5/21/2026</a:t>
            </a:fld>
            <a:endParaRPr lang="en-US"/>
          </a:p>
        </p:txBody>
      </p:sp>
      <p:sp>
        <p:nvSpPr>
          <p:cNvPr id="5" name="Footer Placeholder 4">
            <a:extLst>
              <a:ext uri="{FF2B5EF4-FFF2-40B4-BE49-F238E27FC236}">
                <a16:creationId xmlns:a16="http://schemas.microsoft.com/office/drawing/2014/main" id="{2C986D66-A5EA-7090-F8D1-2B9D9EF2B5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03092F-77AB-77CE-12AE-163AD2D66087}"/>
              </a:ext>
            </a:extLst>
          </p:cNvPr>
          <p:cNvSpPr>
            <a:spLocks noGrp="1"/>
          </p:cNvSpPr>
          <p:nvPr>
            <p:ph type="sldNum" sz="quarter" idx="12"/>
          </p:nvPr>
        </p:nvSpPr>
        <p:spPr/>
        <p:txBody>
          <a:bodyPr/>
          <a:lstStyle/>
          <a:p>
            <a:fld id="{F4964D36-1D18-3C42-8B40-1F4E259E2295}" type="slidenum">
              <a:rPr lang="en-US" smtClean="0"/>
              <a:t>‹#›</a:t>
            </a:fld>
            <a:endParaRPr lang="en-US"/>
          </a:p>
        </p:txBody>
      </p:sp>
    </p:spTree>
    <p:extLst>
      <p:ext uri="{BB962C8B-B14F-4D97-AF65-F5344CB8AC3E}">
        <p14:creationId xmlns:p14="http://schemas.microsoft.com/office/powerpoint/2010/main" val="3965802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B1A27-53E6-4EAB-4F54-5559C38AA9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CDE480-70A7-0B6C-6D58-FEAC2E7A84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23864D-086B-565B-F49F-D8B35DB860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91EC08-CE7F-EA0C-5E8C-6F29E204E62F}"/>
              </a:ext>
            </a:extLst>
          </p:cNvPr>
          <p:cNvSpPr>
            <a:spLocks noGrp="1"/>
          </p:cNvSpPr>
          <p:nvPr>
            <p:ph type="dt" sz="half" idx="10"/>
          </p:nvPr>
        </p:nvSpPr>
        <p:spPr/>
        <p:txBody>
          <a:bodyPr/>
          <a:lstStyle/>
          <a:p>
            <a:fld id="{9F3AAC95-1C84-E54F-8057-CBE0695E3940}" type="datetimeFigureOut">
              <a:rPr lang="en-US" smtClean="0"/>
              <a:t>5/21/2026</a:t>
            </a:fld>
            <a:endParaRPr lang="en-US"/>
          </a:p>
        </p:txBody>
      </p:sp>
      <p:sp>
        <p:nvSpPr>
          <p:cNvPr id="6" name="Footer Placeholder 5">
            <a:extLst>
              <a:ext uri="{FF2B5EF4-FFF2-40B4-BE49-F238E27FC236}">
                <a16:creationId xmlns:a16="http://schemas.microsoft.com/office/drawing/2014/main" id="{F74A76F4-3EB3-A1E6-0955-6C3A3995F5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9CEC98-E88E-9A0E-7432-CE605044F3C6}"/>
              </a:ext>
            </a:extLst>
          </p:cNvPr>
          <p:cNvSpPr>
            <a:spLocks noGrp="1"/>
          </p:cNvSpPr>
          <p:nvPr>
            <p:ph type="sldNum" sz="quarter" idx="12"/>
          </p:nvPr>
        </p:nvSpPr>
        <p:spPr/>
        <p:txBody>
          <a:bodyPr/>
          <a:lstStyle/>
          <a:p>
            <a:fld id="{F4964D36-1D18-3C42-8B40-1F4E259E2295}" type="slidenum">
              <a:rPr lang="en-US" smtClean="0"/>
              <a:t>‹#›</a:t>
            </a:fld>
            <a:endParaRPr lang="en-US"/>
          </a:p>
        </p:txBody>
      </p:sp>
    </p:spTree>
    <p:extLst>
      <p:ext uri="{BB962C8B-B14F-4D97-AF65-F5344CB8AC3E}">
        <p14:creationId xmlns:p14="http://schemas.microsoft.com/office/powerpoint/2010/main" val="3465385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D57B0-A67F-25E6-4CC8-E1C5109969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5E1C9A-7C19-1824-9FDA-4FACD22B3A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E35273-BF31-5730-BCEA-876BBA87B2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DE7849-922E-A875-9070-0A5B1EBD2D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7B51BA-2A2B-237B-1BF7-6CAC826280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A576F0-D7A1-586E-BDC5-6AE0F389A5A2}"/>
              </a:ext>
            </a:extLst>
          </p:cNvPr>
          <p:cNvSpPr>
            <a:spLocks noGrp="1"/>
          </p:cNvSpPr>
          <p:nvPr>
            <p:ph type="dt" sz="half" idx="10"/>
          </p:nvPr>
        </p:nvSpPr>
        <p:spPr/>
        <p:txBody>
          <a:bodyPr/>
          <a:lstStyle/>
          <a:p>
            <a:fld id="{9F3AAC95-1C84-E54F-8057-CBE0695E3940}" type="datetimeFigureOut">
              <a:rPr lang="en-US" smtClean="0"/>
              <a:t>5/21/2026</a:t>
            </a:fld>
            <a:endParaRPr lang="en-US"/>
          </a:p>
        </p:txBody>
      </p:sp>
      <p:sp>
        <p:nvSpPr>
          <p:cNvPr id="8" name="Footer Placeholder 7">
            <a:extLst>
              <a:ext uri="{FF2B5EF4-FFF2-40B4-BE49-F238E27FC236}">
                <a16:creationId xmlns:a16="http://schemas.microsoft.com/office/drawing/2014/main" id="{61D3DE9C-B87F-53B3-043B-F3853638A1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31BE8A-2E91-82F8-22D9-6265C04F0430}"/>
              </a:ext>
            </a:extLst>
          </p:cNvPr>
          <p:cNvSpPr>
            <a:spLocks noGrp="1"/>
          </p:cNvSpPr>
          <p:nvPr>
            <p:ph type="sldNum" sz="quarter" idx="12"/>
          </p:nvPr>
        </p:nvSpPr>
        <p:spPr/>
        <p:txBody>
          <a:bodyPr/>
          <a:lstStyle/>
          <a:p>
            <a:fld id="{F4964D36-1D18-3C42-8B40-1F4E259E2295}" type="slidenum">
              <a:rPr lang="en-US" smtClean="0"/>
              <a:t>‹#›</a:t>
            </a:fld>
            <a:endParaRPr lang="en-US"/>
          </a:p>
        </p:txBody>
      </p:sp>
    </p:spTree>
    <p:extLst>
      <p:ext uri="{BB962C8B-B14F-4D97-AF65-F5344CB8AC3E}">
        <p14:creationId xmlns:p14="http://schemas.microsoft.com/office/powerpoint/2010/main" val="2977373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1BE69-39B4-ADB5-D9A5-7F245EBBA9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24371B-D0B1-D204-72B3-6B269D1FA02C}"/>
              </a:ext>
            </a:extLst>
          </p:cNvPr>
          <p:cNvSpPr>
            <a:spLocks noGrp="1"/>
          </p:cNvSpPr>
          <p:nvPr>
            <p:ph type="dt" sz="half" idx="10"/>
          </p:nvPr>
        </p:nvSpPr>
        <p:spPr/>
        <p:txBody>
          <a:bodyPr/>
          <a:lstStyle/>
          <a:p>
            <a:fld id="{9F3AAC95-1C84-E54F-8057-CBE0695E3940}" type="datetimeFigureOut">
              <a:rPr lang="en-US" smtClean="0"/>
              <a:t>5/21/2026</a:t>
            </a:fld>
            <a:endParaRPr lang="en-US"/>
          </a:p>
        </p:txBody>
      </p:sp>
      <p:sp>
        <p:nvSpPr>
          <p:cNvPr id="4" name="Footer Placeholder 3">
            <a:extLst>
              <a:ext uri="{FF2B5EF4-FFF2-40B4-BE49-F238E27FC236}">
                <a16:creationId xmlns:a16="http://schemas.microsoft.com/office/drawing/2014/main" id="{E4372CF7-9453-7BDE-2AD9-8E5F5FDD974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3F1DE9-4F8D-512C-ED00-AA206B0AA9ED}"/>
              </a:ext>
            </a:extLst>
          </p:cNvPr>
          <p:cNvSpPr>
            <a:spLocks noGrp="1"/>
          </p:cNvSpPr>
          <p:nvPr>
            <p:ph type="sldNum" sz="quarter" idx="12"/>
          </p:nvPr>
        </p:nvSpPr>
        <p:spPr/>
        <p:txBody>
          <a:bodyPr/>
          <a:lstStyle/>
          <a:p>
            <a:fld id="{F4964D36-1D18-3C42-8B40-1F4E259E2295}" type="slidenum">
              <a:rPr lang="en-US" smtClean="0"/>
              <a:t>‹#›</a:t>
            </a:fld>
            <a:endParaRPr lang="en-US"/>
          </a:p>
        </p:txBody>
      </p:sp>
    </p:spTree>
    <p:extLst>
      <p:ext uri="{BB962C8B-B14F-4D97-AF65-F5344CB8AC3E}">
        <p14:creationId xmlns:p14="http://schemas.microsoft.com/office/powerpoint/2010/main" val="2039651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AEA4AB-CB6A-7010-D1DB-1D6C03F8EB39}"/>
              </a:ext>
            </a:extLst>
          </p:cNvPr>
          <p:cNvSpPr>
            <a:spLocks noGrp="1"/>
          </p:cNvSpPr>
          <p:nvPr>
            <p:ph type="dt" sz="half" idx="10"/>
          </p:nvPr>
        </p:nvSpPr>
        <p:spPr/>
        <p:txBody>
          <a:bodyPr/>
          <a:lstStyle/>
          <a:p>
            <a:fld id="{9F3AAC95-1C84-E54F-8057-CBE0695E3940}" type="datetimeFigureOut">
              <a:rPr lang="en-US" smtClean="0"/>
              <a:t>5/21/2026</a:t>
            </a:fld>
            <a:endParaRPr lang="en-US"/>
          </a:p>
        </p:txBody>
      </p:sp>
      <p:sp>
        <p:nvSpPr>
          <p:cNvPr id="3" name="Footer Placeholder 2">
            <a:extLst>
              <a:ext uri="{FF2B5EF4-FFF2-40B4-BE49-F238E27FC236}">
                <a16:creationId xmlns:a16="http://schemas.microsoft.com/office/drawing/2014/main" id="{801C1E84-3E95-ADD7-658A-49DB528991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EF6396-3414-0098-4A51-E47BD2EEB225}"/>
              </a:ext>
            </a:extLst>
          </p:cNvPr>
          <p:cNvSpPr>
            <a:spLocks noGrp="1"/>
          </p:cNvSpPr>
          <p:nvPr>
            <p:ph type="sldNum" sz="quarter" idx="12"/>
          </p:nvPr>
        </p:nvSpPr>
        <p:spPr/>
        <p:txBody>
          <a:bodyPr/>
          <a:lstStyle/>
          <a:p>
            <a:fld id="{F4964D36-1D18-3C42-8B40-1F4E259E2295}" type="slidenum">
              <a:rPr lang="en-US" smtClean="0"/>
              <a:t>‹#›</a:t>
            </a:fld>
            <a:endParaRPr lang="en-US"/>
          </a:p>
        </p:txBody>
      </p:sp>
    </p:spTree>
    <p:extLst>
      <p:ext uri="{BB962C8B-B14F-4D97-AF65-F5344CB8AC3E}">
        <p14:creationId xmlns:p14="http://schemas.microsoft.com/office/powerpoint/2010/main" val="282492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296A-7555-7107-A8E1-423656B12B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23B8A3-1FAD-509B-B77B-19BBB58A05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C872DB-343E-9AB0-80A2-E2F7229EAD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616269-B3B6-940E-12FA-AFD16005F24A}"/>
              </a:ext>
            </a:extLst>
          </p:cNvPr>
          <p:cNvSpPr>
            <a:spLocks noGrp="1"/>
          </p:cNvSpPr>
          <p:nvPr>
            <p:ph type="dt" sz="half" idx="10"/>
          </p:nvPr>
        </p:nvSpPr>
        <p:spPr/>
        <p:txBody>
          <a:bodyPr/>
          <a:lstStyle/>
          <a:p>
            <a:fld id="{9F3AAC95-1C84-E54F-8057-CBE0695E3940}" type="datetimeFigureOut">
              <a:rPr lang="en-US" smtClean="0"/>
              <a:t>5/21/2026</a:t>
            </a:fld>
            <a:endParaRPr lang="en-US"/>
          </a:p>
        </p:txBody>
      </p:sp>
      <p:sp>
        <p:nvSpPr>
          <p:cNvPr id="6" name="Footer Placeholder 5">
            <a:extLst>
              <a:ext uri="{FF2B5EF4-FFF2-40B4-BE49-F238E27FC236}">
                <a16:creationId xmlns:a16="http://schemas.microsoft.com/office/drawing/2014/main" id="{B997AC36-D8CC-B7DE-0843-5E569DB5AD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B96520-CAEB-180E-5378-66140C798E9C}"/>
              </a:ext>
            </a:extLst>
          </p:cNvPr>
          <p:cNvSpPr>
            <a:spLocks noGrp="1"/>
          </p:cNvSpPr>
          <p:nvPr>
            <p:ph type="sldNum" sz="quarter" idx="12"/>
          </p:nvPr>
        </p:nvSpPr>
        <p:spPr/>
        <p:txBody>
          <a:bodyPr/>
          <a:lstStyle/>
          <a:p>
            <a:fld id="{F4964D36-1D18-3C42-8B40-1F4E259E2295}" type="slidenum">
              <a:rPr lang="en-US" smtClean="0"/>
              <a:t>‹#›</a:t>
            </a:fld>
            <a:endParaRPr lang="en-US"/>
          </a:p>
        </p:txBody>
      </p:sp>
    </p:spTree>
    <p:extLst>
      <p:ext uri="{BB962C8B-B14F-4D97-AF65-F5344CB8AC3E}">
        <p14:creationId xmlns:p14="http://schemas.microsoft.com/office/powerpoint/2010/main" val="3807177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6C92E-DD84-30E9-1D73-7CC0BEEABB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491548-FA55-CBC6-F981-5E5BFFFE6A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C69658-217B-197C-2876-A75494D4EF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6B7EF0-110F-3D98-C929-ABEE0D9B0986}"/>
              </a:ext>
            </a:extLst>
          </p:cNvPr>
          <p:cNvSpPr>
            <a:spLocks noGrp="1"/>
          </p:cNvSpPr>
          <p:nvPr>
            <p:ph type="dt" sz="half" idx="10"/>
          </p:nvPr>
        </p:nvSpPr>
        <p:spPr/>
        <p:txBody>
          <a:bodyPr/>
          <a:lstStyle/>
          <a:p>
            <a:fld id="{9F3AAC95-1C84-E54F-8057-CBE0695E3940}" type="datetimeFigureOut">
              <a:rPr lang="en-US" smtClean="0"/>
              <a:t>5/21/2026</a:t>
            </a:fld>
            <a:endParaRPr lang="en-US"/>
          </a:p>
        </p:txBody>
      </p:sp>
      <p:sp>
        <p:nvSpPr>
          <p:cNvPr id="6" name="Footer Placeholder 5">
            <a:extLst>
              <a:ext uri="{FF2B5EF4-FFF2-40B4-BE49-F238E27FC236}">
                <a16:creationId xmlns:a16="http://schemas.microsoft.com/office/drawing/2014/main" id="{6B8103F6-61AF-5A48-240B-74E9180ABB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CA0ABD-75A5-EDAB-E2B6-56697ED7D9E9}"/>
              </a:ext>
            </a:extLst>
          </p:cNvPr>
          <p:cNvSpPr>
            <a:spLocks noGrp="1"/>
          </p:cNvSpPr>
          <p:nvPr>
            <p:ph type="sldNum" sz="quarter" idx="12"/>
          </p:nvPr>
        </p:nvSpPr>
        <p:spPr/>
        <p:txBody>
          <a:bodyPr/>
          <a:lstStyle/>
          <a:p>
            <a:fld id="{F4964D36-1D18-3C42-8B40-1F4E259E2295}" type="slidenum">
              <a:rPr lang="en-US" smtClean="0"/>
              <a:t>‹#›</a:t>
            </a:fld>
            <a:endParaRPr lang="en-US"/>
          </a:p>
        </p:txBody>
      </p:sp>
    </p:spTree>
    <p:extLst>
      <p:ext uri="{BB962C8B-B14F-4D97-AF65-F5344CB8AC3E}">
        <p14:creationId xmlns:p14="http://schemas.microsoft.com/office/powerpoint/2010/main" val="1579687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7EA55-FC10-A436-BF67-307C37BAD8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FB1DBB-602F-6008-8972-9812A65548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37B6B5-C181-5CF9-7145-74EA5D673B93}"/>
              </a:ext>
            </a:extLst>
          </p:cNvPr>
          <p:cNvSpPr>
            <a:spLocks noGrp="1"/>
          </p:cNvSpPr>
          <p:nvPr>
            <p:ph type="dt" sz="half" idx="10"/>
          </p:nvPr>
        </p:nvSpPr>
        <p:spPr/>
        <p:txBody>
          <a:bodyPr/>
          <a:lstStyle/>
          <a:p>
            <a:fld id="{9F3AAC95-1C84-E54F-8057-CBE0695E3940}" type="datetimeFigureOut">
              <a:rPr lang="en-US" smtClean="0"/>
              <a:t>5/21/2026</a:t>
            </a:fld>
            <a:endParaRPr lang="en-US"/>
          </a:p>
        </p:txBody>
      </p:sp>
      <p:sp>
        <p:nvSpPr>
          <p:cNvPr id="5" name="Footer Placeholder 4">
            <a:extLst>
              <a:ext uri="{FF2B5EF4-FFF2-40B4-BE49-F238E27FC236}">
                <a16:creationId xmlns:a16="http://schemas.microsoft.com/office/drawing/2014/main" id="{1BF6E7A7-23A9-F9A2-CAE6-AF8145D872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9822BE-36C0-3A42-E556-F204B4AE90D1}"/>
              </a:ext>
            </a:extLst>
          </p:cNvPr>
          <p:cNvSpPr>
            <a:spLocks noGrp="1"/>
          </p:cNvSpPr>
          <p:nvPr>
            <p:ph type="sldNum" sz="quarter" idx="12"/>
          </p:nvPr>
        </p:nvSpPr>
        <p:spPr/>
        <p:txBody>
          <a:bodyPr/>
          <a:lstStyle/>
          <a:p>
            <a:fld id="{F4964D36-1D18-3C42-8B40-1F4E259E2295}" type="slidenum">
              <a:rPr lang="en-US" smtClean="0"/>
              <a:t>‹#›</a:t>
            </a:fld>
            <a:endParaRPr lang="en-US"/>
          </a:p>
        </p:txBody>
      </p:sp>
    </p:spTree>
    <p:extLst>
      <p:ext uri="{BB962C8B-B14F-4D97-AF65-F5344CB8AC3E}">
        <p14:creationId xmlns:p14="http://schemas.microsoft.com/office/powerpoint/2010/main" val="2884687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3FDA51-DFFF-712C-BC8C-05D96E7CE8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AAE150-D260-C880-F224-51B353036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F09030-71C5-E67A-8E72-A494F2F88E7D}"/>
              </a:ext>
            </a:extLst>
          </p:cNvPr>
          <p:cNvSpPr>
            <a:spLocks noGrp="1"/>
          </p:cNvSpPr>
          <p:nvPr>
            <p:ph type="dt" sz="half" idx="10"/>
          </p:nvPr>
        </p:nvSpPr>
        <p:spPr/>
        <p:txBody>
          <a:bodyPr/>
          <a:lstStyle/>
          <a:p>
            <a:fld id="{9F3AAC95-1C84-E54F-8057-CBE0695E3940}" type="datetimeFigureOut">
              <a:rPr lang="en-US" smtClean="0"/>
              <a:t>5/21/2026</a:t>
            </a:fld>
            <a:endParaRPr lang="en-US"/>
          </a:p>
        </p:txBody>
      </p:sp>
      <p:sp>
        <p:nvSpPr>
          <p:cNvPr id="5" name="Footer Placeholder 4">
            <a:extLst>
              <a:ext uri="{FF2B5EF4-FFF2-40B4-BE49-F238E27FC236}">
                <a16:creationId xmlns:a16="http://schemas.microsoft.com/office/drawing/2014/main" id="{A8D47243-7650-8DAC-247D-CE0760CAC8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70DA9-DC93-4D7A-C46B-9AB9665BC6E5}"/>
              </a:ext>
            </a:extLst>
          </p:cNvPr>
          <p:cNvSpPr>
            <a:spLocks noGrp="1"/>
          </p:cNvSpPr>
          <p:nvPr>
            <p:ph type="sldNum" sz="quarter" idx="12"/>
          </p:nvPr>
        </p:nvSpPr>
        <p:spPr/>
        <p:txBody>
          <a:bodyPr/>
          <a:lstStyle/>
          <a:p>
            <a:fld id="{F4964D36-1D18-3C42-8B40-1F4E259E2295}" type="slidenum">
              <a:rPr lang="en-US" smtClean="0"/>
              <a:t>‹#›</a:t>
            </a:fld>
            <a:endParaRPr lang="en-US"/>
          </a:p>
        </p:txBody>
      </p:sp>
    </p:spTree>
    <p:extLst>
      <p:ext uri="{BB962C8B-B14F-4D97-AF65-F5344CB8AC3E}">
        <p14:creationId xmlns:p14="http://schemas.microsoft.com/office/powerpoint/2010/main" val="1822010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19B3F9-E6EF-C325-7885-E6DBEB3417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9972CF-A505-6E53-3D29-6C434C152B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E38BAC-85D6-01FC-10EB-E2124AF337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3AAC95-1C84-E54F-8057-CBE0695E3940}" type="datetimeFigureOut">
              <a:rPr lang="en-US" smtClean="0"/>
              <a:t>5/21/2026</a:t>
            </a:fld>
            <a:endParaRPr lang="en-US"/>
          </a:p>
        </p:txBody>
      </p:sp>
      <p:sp>
        <p:nvSpPr>
          <p:cNvPr id="5" name="Footer Placeholder 4">
            <a:extLst>
              <a:ext uri="{FF2B5EF4-FFF2-40B4-BE49-F238E27FC236}">
                <a16:creationId xmlns:a16="http://schemas.microsoft.com/office/drawing/2014/main" id="{2AB529FB-C963-6825-C62A-18231258CC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00AFD2-E856-E506-79BB-53E38F0D23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964D36-1D18-3C42-8B40-1F4E259E2295}" type="slidenum">
              <a:rPr lang="en-US" smtClean="0"/>
              <a:t>‹#›</a:t>
            </a:fld>
            <a:endParaRPr lang="en-US"/>
          </a:p>
        </p:txBody>
      </p:sp>
    </p:spTree>
    <p:extLst>
      <p:ext uri="{BB962C8B-B14F-4D97-AF65-F5344CB8AC3E}">
        <p14:creationId xmlns:p14="http://schemas.microsoft.com/office/powerpoint/2010/main" val="131304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hyperlink" Target="https://seanstuber.com/2023/05/08/oracle-23c-interval-aggregates/" TargetMode="External"/><Relationship Id="rId3" Type="http://schemas.openxmlformats.org/officeDocument/2006/relationships/hyperlink" Target="https://seanstuber.com/2020/11/19/time-zones-daylight-saving-time-and-data-types/" TargetMode="External"/><Relationship Id="rId7" Type="http://schemas.openxmlformats.org/officeDocument/2006/relationships/hyperlink" Target="https://seanstuber.com/2021/01/30/dates-and-timestamps-the-trunc-function/" TargetMode="External"/><Relationship Id="rId2" Type="http://schemas.openxmlformats.org/officeDocument/2006/relationships/hyperlink" Target="https://seanstuber.com/2020/05/17/dates-and-timestamp-formats-and-structure/" TargetMode="External"/><Relationship Id="rId1" Type="http://schemas.openxmlformats.org/officeDocument/2006/relationships/slideLayout" Target="../slideLayouts/slideLayout7.xml"/><Relationship Id="rId6" Type="http://schemas.openxmlformats.org/officeDocument/2006/relationships/hyperlink" Target="https://seanstuber.com/2020/12/30/oracle-intervals-year-to-month/" TargetMode="External"/><Relationship Id="rId5" Type="http://schemas.openxmlformats.org/officeDocument/2006/relationships/hyperlink" Target="https://seanstuber.com/2020/12/23/oracle-intervals-day-to-second/" TargetMode="External"/><Relationship Id="rId4" Type="http://schemas.openxmlformats.org/officeDocument/2006/relationships/hyperlink" Target="https://seanstuber.com/2020/12/23/oracle-intervals-overview/"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3337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3CBC7F6F-E9EC-1F27-F749-FB43019273C7}"/>
              </a:ext>
            </a:extLst>
          </p:cNvPr>
          <p:cNvSpPr txBox="1">
            <a:spLocks noChangeArrowheads="1"/>
          </p:cNvSpPr>
          <p:nvPr/>
        </p:nvSpPr>
        <p:spPr bwMode="auto">
          <a:xfrm>
            <a:off x="2287588" y="2038109"/>
            <a:ext cx="7780337" cy="194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defPPr>
              <a:defRPr lang="en-US"/>
            </a:defPPr>
            <a:lvl1pPr marL="0" algn="l" defTabSz="914400" rtl="0" eaLnBrk="0" latinLnBrk="0" hangingPunct="0">
              <a:tabLst>
                <a:tab pos="407988" algn="l"/>
                <a:tab pos="723900" algn="l"/>
                <a:tab pos="1447800" algn="l"/>
                <a:tab pos="2171700" algn="l"/>
                <a:tab pos="2895600" algn="l"/>
                <a:tab pos="3619500" algn="l"/>
                <a:tab pos="4343400" algn="l"/>
                <a:tab pos="5067300" algn="l"/>
                <a:tab pos="5791200" algn="l"/>
                <a:tab pos="6515100" algn="l"/>
                <a:tab pos="7239000" algn="l"/>
              </a:tabLst>
              <a:defRPr sz="1800" kern="1200">
                <a:solidFill>
                  <a:schemeClr val="tx1"/>
                </a:solidFill>
                <a:latin typeface="Arial" charset="0"/>
                <a:ea typeface="+mn-ea"/>
                <a:cs typeface="Arial" charset="0"/>
              </a:defRPr>
            </a:lvl1pPr>
            <a:lvl2pPr marL="742950" indent="-285750" algn="l" defTabSz="914400" rtl="0" eaLnBrk="0" latinLnBrk="0" hangingPunct="0">
              <a:tabLst>
                <a:tab pos="407988" algn="l"/>
                <a:tab pos="723900" algn="l"/>
                <a:tab pos="1447800" algn="l"/>
                <a:tab pos="2171700" algn="l"/>
                <a:tab pos="2895600" algn="l"/>
                <a:tab pos="3619500" algn="l"/>
                <a:tab pos="4343400" algn="l"/>
                <a:tab pos="5067300" algn="l"/>
                <a:tab pos="5791200" algn="l"/>
                <a:tab pos="6515100" algn="l"/>
                <a:tab pos="7239000" algn="l"/>
              </a:tabLst>
              <a:defRPr sz="1800" kern="1200">
                <a:solidFill>
                  <a:schemeClr val="tx1"/>
                </a:solidFill>
                <a:latin typeface="Arial" charset="0"/>
                <a:ea typeface="+mn-ea"/>
                <a:cs typeface="Arial" charset="0"/>
              </a:defRPr>
            </a:lvl2pPr>
            <a:lvl3pPr marL="1143000" indent="-228600" algn="l" defTabSz="914400" rtl="0" eaLnBrk="0" latinLnBrk="0" hangingPunct="0">
              <a:tabLst>
                <a:tab pos="407988" algn="l"/>
                <a:tab pos="723900" algn="l"/>
                <a:tab pos="1447800" algn="l"/>
                <a:tab pos="2171700" algn="l"/>
                <a:tab pos="2895600" algn="l"/>
                <a:tab pos="3619500" algn="l"/>
                <a:tab pos="4343400" algn="l"/>
                <a:tab pos="5067300" algn="l"/>
                <a:tab pos="5791200" algn="l"/>
                <a:tab pos="6515100" algn="l"/>
                <a:tab pos="7239000" algn="l"/>
              </a:tabLst>
              <a:defRPr sz="1800" kern="1200">
                <a:solidFill>
                  <a:schemeClr val="tx1"/>
                </a:solidFill>
                <a:latin typeface="Arial" charset="0"/>
                <a:ea typeface="+mn-ea"/>
                <a:cs typeface="Arial" charset="0"/>
              </a:defRPr>
            </a:lvl3pPr>
            <a:lvl4pPr marL="1600200" indent="-228600" algn="l" defTabSz="914400" rtl="0" eaLnBrk="0" latinLnBrk="0" hangingPunct="0">
              <a:tabLst>
                <a:tab pos="407988" algn="l"/>
                <a:tab pos="723900" algn="l"/>
                <a:tab pos="1447800" algn="l"/>
                <a:tab pos="2171700" algn="l"/>
                <a:tab pos="2895600" algn="l"/>
                <a:tab pos="3619500" algn="l"/>
                <a:tab pos="4343400" algn="l"/>
                <a:tab pos="5067300" algn="l"/>
                <a:tab pos="5791200" algn="l"/>
                <a:tab pos="6515100" algn="l"/>
                <a:tab pos="7239000" algn="l"/>
              </a:tabLst>
              <a:defRPr sz="1800" kern="1200">
                <a:solidFill>
                  <a:schemeClr val="tx1"/>
                </a:solidFill>
                <a:latin typeface="Arial" charset="0"/>
                <a:ea typeface="+mn-ea"/>
                <a:cs typeface="Arial" charset="0"/>
              </a:defRPr>
            </a:lvl4pPr>
            <a:lvl5pPr marL="2057400" indent="-228600" algn="l" defTabSz="914400" rtl="0" eaLnBrk="0" latinLnBrk="0" hangingPunct="0">
              <a:tabLst>
                <a:tab pos="407988" algn="l"/>
                <a:tab pos="723900" algn="l"/>
                <a:tab pos="1447800" algn="l"/>
                <a:tab pos="2171700" algn="l"/>
                <a:tab pos="2895600" algn="l"/>
                <a:tab pos="3619500" algn="l"/>
                <a:tab pos="4343400" algn="l"/>
                <a:tab pos="5067300" algn="l"/>
                <a:tab pos="5791200" algn="l"/>
                <a:tab pos="6515100" algn="l"/>
                <a:tab pos="7239000" algn="l"/>
              </a:tabLst>
              <a:defRPr sz="1800" kern="1200">
                <a:solidFill>
                  <a:schemeClr val="tx1"/>
                </a:solidFill>
                <a:latin typeface="Arial" charset="0"/>
                <a:ea typeface="+mn-ea"/>
                <a:cs typeface="Arial" charset="0"/>
              </a:defRPr>
            </a:lvl5pPr>
            <a:lvl6pPr marL="2514600" indent="-228600" algn="l" defTabSz="914400" rtl="0" eaLnBrk="0" fontAlgn="base" latinLnBrk="0"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Lst>
              <a:defRPr sz="1800" kern="1200">
                <a:solidFill>
                  <a:schemeClr val="tx1"/>
                </a:solidFill>
                <a:latin typeface="Arial" charset="0"/>
                <a:ea typeface="+mn-ea"/>
                <a:cs typeface="Arial" charset="0"/>
              </a:defRPr>
            </a:lvl6pPr>
            <a:lvl7pPr marL="2971800" indent="-228600" algn="l" defTabSz="914400" rtl="0" eaLnBrk="0" fontAlgn="base" latinLnBrk="0"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Lst>
              <a:defRPr sz="1800" kern="1200">
                <a:solidFill>
                  <a:schemeClr val="tx1"/>
                </a:solidFill>
                <a:latin typeface="Arial" charset="0"/>
                <a:ea typeface="+mn-ea"/>
                <a:cs typeface="Arial" charset="0"/>
              </a:defRPr>
            </a:lvl7pPr>
            <a:lvl8pPr marL="3429000" indent="-228600" algn="l" defTabSz="914400" rtl="0" eaLnBrk="0" fontAlgn="base" latinLnBrk="0"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Lst>
              <a:defRPr sz="1800" kern="1200">
                <a:solidFill>
                  <a:schemeClr val="tx1"/>
                </a:solidFill>
                <a:latin typeface="Arial" charset="0"/>
                <a:ea typeface="+mn-ea"/>
                <a:cs typeface="Arial" charset="0"/>
              </a:defRPr>
            </a:lvl8pPr>
            <a:lvl9pPr marL="3886200" indent="-228600" algn="l" defTabSz="914400" rtl="0" eaLnBrk="0" fontAlgn="base" latinLnBrk="0"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Lst>
              <a:defRPr sz="1800" kern="1200">
                <a:solidFill>
                  <a:schemeClr val="tx1"/>
                </a:solidFill>
                <a:latin typeface="Arial" charset="0"/>
                <a:ea typeface="+mn-ea"/>
                <a:cs typeface="Arial" charset="0"/>
              </a:defRPr>
            </a:lvl9pPr>
          </a:lstStyle>
          <a:p>
            <a:pPr algn="ctr" eaLnBrk="1" hangingPunct="1"/>
            <a:r>
              <a:rPr lang="en-US" sz="4800">
                <a:solidFill>
                  <a:srgbClr val="000000"/>
                </a:solidFill>
                <a:latin typeface="Gill Sans" charset="0"/>
              </a:rPr>
              <a:t>An Oracle Geek's Guide to Successful Dating</a:t>
            </a:r>
          </a:p>
        </p:txBody>
      </p:sp>
      <p:sp>
        <p:nvSpPr>
          <p:cNvPr id="3" name="Text Box 2">
            <a:extLst>
              <a:ext uri="{FF2B5EF4-FFF2-40B4-BE49-F238E27FC236}">
                <a16:creationId xmlns:a16="http://schemas.microsoft.com/office/drawing/2014/main" id="{638F3387-23A9-A606-419D-F5B78AA42A06}"/>
              </a:ext>
            </a:extLst>
          </p:cNvPr>
          <p:cNvSpPr txBox="1">
            <a:spLocks noChangeArrowheads="1"/>
          </p:cNvSpPr>
          <p:nvPr/>
        </p:nvSpPr>
        <p:spPr bwMode="auto">
          <a:xfrm>
            <a:off x="3728243" y="3987559"/>
            <a:ext cx="4735513" cy="64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defPPr>
              <a:defRPr lang="en-US"/>
            </a:defPPr>
            <a:lvl1pPr marL="0" algn="l" defTabSz="914400" rtl="0" eaLnBrk="0" latinLnBrk="0" hangingPunct="0">
              <a:tabLst>
                <a:tab pos="407988" algn="l"/>
                <a:tab pos="723900" algn="l"/>
                <a:tab pos="1447800" algn="l"/>
                <a:tab pos="2171700" algn="l"/>
                <a:tab pos="2895600" algn="l"/>
                <a:tab pos="3619500" algn="l"/>
                <a:tab pos="4343400" algn="l"/>
              </a:tabLst>
              <a:defRPr sz="1800" kern="1200">
                <a:solidFill>
                  <a:schemeClr val="tx1"/>
                </a:solidFill>
                <a:latin typeface="Arial" charset="0"/>
                <a:ea typeface="+mn-ea"/>
                <a:cs typeface="Arial" charset="0"/>
              </a:defRPr>
            </a:lvl1pPr>
            <a:lvl2pPr marL="742950" indent="-285750" algn="l" defTabSz="914400" rtl="0" eaLnBrk="0" latinLnBrk="0" hangingPunct="0">
              <a:tabLst>
                <a:tab pos="407988" algn="l"/>
                <a:tab pos="723900" algn="l"/>
                <a:tab pos="1447800" algn="l"/>
                <a:tab pos="2171700" algn="l"/>
                <a:tab pos="2895600" algn="l"/>
                <a:tab pos="3619500" algn="l"/>
                <a:tab pos="4343400" algn="l"/>
              </a:tabLst>
              <a:defRPr sz="1800" kern="1200">
                <a:solidFill>
                  <a:schemeClr val="tx1"/>
                </a:solidFill>
                <a:latin typeface="Arial" charset="0"/>
                <a:ea typeface="+mn-ea"/>
                <a:cs typeface="Arial" charset="0"/>
              </a:defRPr>
            </a:lvl2pPr>
            <a:lvl3pPr marL="1143000" indent="-228600" algn="l" defTabSz="914400" rtl="0" eaLnBrk="0" latinLnBrk="0" hangingPunct="0">
              <a:tabLst>
                <a:tab pos="407988" algn="l"/>
                <a:tab pos="723900" algn="l"/>
                <a:tab pos="1447800" algn="l"/>
                <a:tab pos="2171700" algn="l"/>
                <a:tab pos="2895600" algn="l"/>
                <a:tab pos="3619500" algn="l"/>
                <a:tab pos="4343400" algn="l"/>
              </a:tabLst>
              <a:defRPr sz="1800" kern="1200">
                <a:solidFill>
                  <a:schemeClr val="tx1"/>
                </a:solidFill>
                <a:latin typeface="Arial" charset="0"/>
                <a:ea typeface="+mn-ea"/>
                <a:cs typeface="Arial" charset="0"/>
              </a:defRPr>
            </a:lvl3pPr>
            <a:lvl4pPr marL="1600200" indent="-228600" algn="l" defTabSz="914400" rtl="0" eaLnBrk="0" latinLnBrk="0" hangingPunct="0">
              <a:tabLst>
                <a:tab pos="407988" algn="l"/>
                <a:tab pos="723900" algn="l"/>
                <a:tab pos="1447800" algn="l"/>
                <a:tab pos="2171700" algn="l"/>
                <a:tab pos="2895600" algn="l"/>
                <a:tab pos="3619500" algn="l"/>
                <a:tab pos="4343400" algn="l"/>
              </a:tabLst>
              <a:defRPr sz="1800" kern="1200">
                <a:solidFill>
                  <a:schemeClr val="tx1"/>
                </a:solidFill>
                <a:latin typeface="Arial" charset="0"/>
                <a:ea typeface="+mn-ea"/>
                <a:cs typeface="Arial" charset="0"/>
              </a:defRPr>
            </a:lvl4pPr>
            <a:lvl5pPr marL="2057400" indent="-228600" algn="l" defTabSz="914400" rtl="0" eaLnBrk="0" latinLnBrk="0" hangingPunct="0">
              <a:tabLst>
                <a:tab pos="407988" algn="l"/>
                <a:tab pos="723900" algn="l"/>
                <a:tab pos="1447800" algn="l"/>
                <a:tab pos="2171700" algn="l"/>
                <a:tab pos="2895600" algn="l"/>
                <a:tab pos="3619500" algn="l"/>
                <a:tab pos="4343400" algn="l"/>
              </a:tabLst>
              <a:defRPr sz="1800" kern="1200">
                <a:solidFill>
                  <a:schemeClr val="tx1"/>
                </a:solidFill>
                <a:latin typeface="Arial" charset="0"/>
                <a:ea typeface="+mn-ea"/>
                <a:cs typeface="Arial" charset="0"/>
              </a:defRPr>
            </a:lvl5pPr>
            <a:lvl6pPr marL="2514600" indent="-228600" algn="l" defTabSz="914400" rtl="0" eaLnBrk="0" fontAlgn="base" latinLnBrk="0" hangingPunct="0">
              <a:spcBef>
                <a:spcPct val="0"/>
              </a:spcBef>
              <a:spcAft>
                <a:spcPct val="0"/>
              </a:spcAft>
              <a:tabLst>
                <a:tab pos="407988" algn="l"/>
                <a:tab pos="723900" algn="l"/>
                <a:tab pos="1447800" algn="l"/>
                <a:tab pos="2171700" algn="l"/>
                <a:tab pos="2895600" algn="l"/>
                <a:tab pos="3619500" algn="l"/>
                <a:tab pos="4343400" algn="l"/>
              </a:tabLst>
              <a:defRPr sz="1800" kern="1200">
                <a:solidFill>
                  <a:schemeClr val="tx1"/>
                </a:solidFill>
                <a:latin typeface="Arial" charset="0"/>
                <a:ea typeface="+mn-ea"/>
                <a:cs typeface="Arial" charset="0"/>
              </a:defRPr>
            </a:lvl6pPr>
            <a:lvl7pPr marL="2971800" indent="-228600" algn="l" defTabSz="914400" rtl="0" eaLnBrk="0" fontAlgn="base" latinLnBrk="0" hangingPunct="0">
              <a:spcBef>
                <a:spcPct val="0"/>
              </a:spcBef>
              <a:spcAft>
                <a:spcPct val="0"/>
              </a:spcAft>
              <a:tabLst>
                <a:tab pos="407988" algn="l"/>
                <a:tab pos="723900" algn="l"/>
                <a:tab pos="1447800" algn="l"/>
                <a:tab pos="2171700" algn="l"/>
                <a:tab pos="2895600" algn="l"/>
                <a:tab pos="3619500" algn="l"/>
                <a:tab pos="4343400" algn="l"/>
              </a:tabLst>
              <a:defRPr sz="1800" kern="1200">
                <a:solidFill>
                  <a:schemeClr val="tx1"/>
                </a:solidFill>
                <a:latin typeface="Arial" charset="0"/>
                <a:ea typeface="+mn-ea"/>
                <a:cs typeface="Arial" charset="0"/>
              </a:defRPr>
            </a:lvl7pPr>
            <a:lvl8pPr marL="3429000" indent="-228600" algn="l" defTabSz="914400" rtl="0" eaLnBrk="0" fontAlgn="base" latinLnBrk="0" hangingPunct="0">
              <a:spcBef>
                <a:spcPct val="0"/>
              </a:spcBef>
              <a:spcAft>
                <a:spcPct val="0"/>
              </a:spcAft>
              <a:tabLst>
                <a:tab pos="407988" algn="l"/>
                <a:tab pos="723900" algn="l"/>
                <a:tab pos="1447800" algn="l"/>
                <a:tab pos="2171700" algn="l"/>
                <a:tab pos="2895600" algn="l"/>
                <a:tab pos="3619500" algn="l"/>
                <a:tab pos="4343400" algn="l"/>
              </a:tabLst>
              <a:defRPr sz="1800" kern="1200">
                <a:solidFill>
                  <a:schemeClr val="tx1"/>
                </a:solidFill>
                <a:latin typeface="Arial" charset="0"/>
                <a:ea typeface="+mn-ea"/>
                <a:cs typeface="Arial" charset="0"/>
              </a:defRPr>
            </a:lvl8pPr>
            <a:lvl9pPr marL="3886200" indent="-228600" algn="l" defTabSz="914400" rtl="0" eaLnBrk="0" fontAlgn="base" latinLnBrk="0" hangingPunct="0">
              <a:spcBef>
                <a:spcPct val="0"/>
              </a:spcBef>
              <a:spcAft>
                <a:spcPct val="0"/>
              </a:spcAft>
              <a:tabLst>
                <a:tab pos="407988" algn="l"/>
                <a:tab pos="723900" algn="l"/>
                <a:tab pos="1447800" algn="l"/>
                <a:tab pos="2171700" algn="l"/>
                <a:tab pos="2895600" algn="l"/>
                <a:tab pos="3619500" algn="l"/>
                <a:tab pos="4343400" algn="l"/>
              </a:tabLst>
              <a:defRPr sz="1800" kern="1200">
                <a:solidFill>
                  <a:schemeClr val="tx1"/>
                </a:solidFill>
                <a:latin typeface="Arial" charset="0"/>
                <a:ea typeface="+mn-ea"/>
                <a:cs typeface="Arial" charset="0"/>
              </a:defRPr>
            </a:lvl9pPr>
          </a:lstStyle>
          <a:p>
            <a:pPr algn="ctr" eaLnBrk="1" hangingPunct="1"/>
            <a:r>
              <a:rPr lang="en-US" sz="3200" dirty="0">
                <a:solidFill>
                  <a:srgbClr val="000000"/>
                </a:solidFill>
                <a:latin typeface="Gill Sans" charset="0"/>
              </a:rPr>
              <a:t>Sean D. </a:t>
            </a:r>
            <a:r>
              <a:rPr lang="en-US" sz="3200" dirty="0" err="1">
                <a:solidFill>
                  <a:srgbClr val="000000"/>
                </a:solidFill>
                <a:latin typeface="Gill Sans" charset="0"/>
              </a:rPr>
              <a:t>Stuber</a:t>
            </a:r>
            <a:endParaRPr lang="en-US" sz="3200" dirty="0">
              <a:solidFill>
                <a:srgbClr val="000000"/>
              </a:solidFill>
              <a:latin typeface="Gill Sans" charset="0"/>
            </a:endParaRPr>
          </a:p>
        </p:txBody>
      </p:sp>
    </p:spTree>
    <p:extLst>
      <p:ext uri="{BB962C8B-B14F-4D97-AF65-F5344CB8AC3E}">
        <p14:creationId xmlns:p14="http://schemas.microsoft.com/office/powerpoint/2010/main" val="4033631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24E85-6A15-EC43-CD60-81D7AD8D2FE2}"/>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0464A4D4-2328-13F6-2ACA-531049CD7140}"/>
              </a:ext>
            </a:extLst>
          </p:cNvPr>
          <p:cNvSpPr txBox="1">
            <a:spLocks noChangeArrowheads="1"/>
          </p:cNvSpPr>
          <p:nvPr/>
        </p:nvSpPr>
        <p:spPr bwMode="auto">
          <a:xfrm>
            <a:off x="4986337" y="921645"/>
            <a:ext cx="2219325" cy="650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723900" algn="l"/>
                <a:tab pos="1447800" algn="l"/>
                <a:tab pos="2171700" algn="l"/>
                <a:tab pos="2895600" algn="l"/>
                <a:tab pos="3619500" algn="l"/>
                <a:tab pos="4343400" algn="l"/>
                <a:tab pos="5067300" algn="l"/>
              </a:tabLst>
              <a:defRPr>
                <a:solidFill>
                  <a:schemeClr val="tx1"/>
                </a:solidFill>
                <a:latin typeface="Arial" charset="0"/>
                <a:cs typeface="Arial" charset="0"/>
              </a:defRPr>
            </a:lvl1pPr>
            <a:lvl2pPr marL="742950" indent="-285750" eaLnBrk="0" hangingPunct="0">
              <a:tabLst>
                <a:tab pos="723900" algn="l"/>
                <a:tab pos="1447800" algn="l"/>
                <a:tab pos="2171700" algn="l"/>
                <a:tab pos="2895600" algn="l"/>
                <a:tab pos="3619500" algn="l"/>
                <a:tab pos="4343400" algn="l"/>
                <a:tab pos="5067300" algn="l"/>
              </a:tabLst>
              <a:defRPr>
                <a:solidFill>
                  <a:schemeClr val="tx1"/>
                </a:solidFill>
                <a:latin typeface="Arial" charset="0"/>
                <a:cs typeface="Arial" charset="0"/>
              </a:defRPr>
            </a:lvl2pPr>
            <a:lvl3pPr marL="1143000" indent="-228600" eaLnBrk="0" hangingPunct="0">
              <a:tabLst>
                <a:tab pos="723900" algn="l"/>
                <a:tab pos="1447800" algn="l"/>
                <a:tab pos="2171700" algn="l"/>
                <a:tab pos="2895600" algn="l"/>
                <a:tab pos="3619500" algn="l"/>
                <a:tab pos="4343400" algn="l"/>
                <a:tab pos="5067300" algn="l"/>
              </a:tabLst>
              <a:defRPr>
                <a:solidFill>
                  <a:schemeClr val="tx1"/>
                </a:solidFill>
                <a:latin typeface="Arial" charset="0"/>
                <a:cs typeface="Arial" charset="0"/>
              </a:defRPr>
            </a:lvl3pPr>
            <a:lvl4pPr marL="1600200" indent="-228600" eaLnBrk="0" hangingPunct="0">
              <a:tabLst>
                <a:tab pos="723900" algn="l"/>
                <a:tab pos="1447800" algn="l"/>
                <a:tab pos="2171700" algn="l"/>
                <a:tab pos="2895600" algn="l"/>
                <a:tab pos="3619500" algn="l"/>
                <a:tab pos="4343400" algn="l"/>
                <a:tab pos="5067300" algn="l"/>
              </a:tabLst>
              <a:defRPr>
                <a:solidFill>
                  <a:schemeClr val="tx1"/>
                </a:solidFill>
                <a:latin typeface="Arial" charset="0"/>
                <a:cs typeface="Arial" charset="0"/>
              </a:defRPr>
            </a:lvl4pPr>
            <a:lvl5pPr marL="2057400" indent="-228600" eaLnBrk="0" hangingPunct="0">
              <a:tabLst>
                <a:tab pos="723900" algn="l"/>
                <a:tab pos="1447800" algn="l"/>
                <a:tab pos="2171700" algn="l"/>
                <a:tab pos="2895600" algn="l"/>
                <a:tab pos="3619500" algn="l"/>
                <a:tab pos="4343400" algn="l"/>
                <a:tab pos="50673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a:solidFill>
                  <a:schemeClr val="tx1"/>
                </a:solidFill>
                <a:latin typeface="Arial" charset="0"/>
                <a:cs typeface="Arial" charset="0"/>
              </a:defRPr>
            </a:lvl9pPr>
          </a:lstStyle>
          <a:p>
            <a:pPr algn="ctr" eaLnBrk="1"/>
            <a:r>
              <a:rPr lang="en-US" sz="2800" dirty="0">
                <a:solidFill>
                  <a:srgbClr val="000000"/>
                </a:solidFill>
                <a:latin typeface="Gill Sans" charset="0"/>
                <a:ea typeface="ヒラギノ角ゴ ProN W3" charset="0"/>
                <a:cs typeface="Arial Unicode MS" charset="0"/>
              </a:rPr>
              <a:t>Why Dates?</a:t>
            </a:r>
          </a:p>
        </p:txBody>
      </p:sp>
      <p:sp>
        <p:nvSpPr>
          <p:cNvPr id="3" name="Text Box 2">
            <a:extLst>
              <a:ext uri="{FF2B5EF4-FFF2-40B4-BE49-F238E27FC236}">
                <a16:creationId xmlns:a16="http://schemas.microsoft.com/office/drawing/2014/main" id="{29950BE6-0C78-8AB8-9D54-19D835DC3A9B}"/>
              </a:ext>
            </a:extLst>
          </p:cNvPr>
          <p:cNvSpPr txBox="1">
            <a:spLocks noChangeArrowheads="1"/>
          </p:cNvSpPr>
          <p:nvPr/>
        </p:nvSpPr>
        <p:spPr bwMode="auto">
          <a:xfrm>
            <a:off x="2374900" y="2374392"/>
            <a:ext cx="7442200" cy="391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charset="0"/>
                <a:cs typeface="Arial" charset="0"/>
              </a:defRPr>
            </a:lvl1pPr>
            <a:lvl2pPr marL="742950" indent="-285750" eaLnBrk="0" hangingPunct="0">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charset="0"/>
                <a:cs typeface="Arial" charset="0"/>
              </a:defRPr>
            </a:lvl2pPr>
            <a:lvl3pPr marL="1143000" indent="-228600" eaLnBrk="0" hangingPunct="0">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charset="0"/>
                <a:cs typeface="Arial" charset="0"/>
              </a:defRPr>
            </a:lvl3pPr>
            <a:lvl4pPr marL="1600200" indent="-228600" eaLnBrk="0" hangingPunct="0">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charset="0"/>
                <a:cs typeface="Arial" charset="0"/>
              </a:defRPr>
            </a:lvl4pPr>
            <a:lvl5pPr marL="2057400" indent="-228600" eaLnBrk="0" hangingPunct="0">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charset="0"/>
                <a:cs typeface="Arial" charset="0"/>
              </a:defRPr>
            </a:lvl9pPr>
          </a:lstStyle>
          <a:p>
            <a:pPr algn="ctr">
              <a:spcBef>
                <a:spcPts val="1263"/>
              </a:spcBef>
              <a:spcAft>
                <a:spcPts val="575"/>
              </a:spcAft>
            </a:pPr>
            <a:r>
              <a:rPr lang="en-US" sz="2400" dirty="0">
                <a:solidFill>
                  <a:srgbClr val="000000"/>
                </a:solidFill>
                <a:latin typeface="Gill Sans" charset="0"/>
              </a:rPr>
              <a:t>30+ years as a developer</a:t>
            </a:r>
          </a:p>
          <a:p>
            <a:pPr algn="ctr">
              <a:spcBef>
                <a:spcPts val="1263"/>
              </a:spcBef>
              <a:spcAft>
                <a:spcPts val="575"/>
              </a:spcAft>
            </a:pPr>
            <a:r>
              <a:rPr lang="en-US" sz="2400" dirty="0">
                <a:solidFill>
                  <a:srgbClr val="000000"/>
                </a:solidFill>
                <a:latin typeface="Gill Sans" charset="0"/>
              </a:rPr>
              <a:t>25+ years using Oracle databases</a:t>
            </a:r>
          </a:p>
          <a:p>
            <a:pPr algn="ctr">
              <a:spcBef>
                <a:spcPts val="1263"/>
              </a:spcBef>
              <a:spcAft>
                <a:spcPts val="575"/>
              </a:spcAft>
            </a:pPr>
            <a:r>
              <a:rPr lang="en-US" sz="2400" dirty="0">
                <a:solidFill>
                  <a:srgbClr val="000000"/>
                </a:solidFill>
                <a:latin typeface="Gill Sans" charset="0"/>
              </a:rPr>
              <a:t>20+ years as an Oracle DBA</a:t>
            </a:r>
          </a:p>
          <a:p>
            <a:pPr algn="ctr">
              <a:spcBef>
                <a:spcPts val="1263"/>
              </a:spcBef>
              <a:spcAft>
                <a:spcPts val="575"/>
              </a:spcAft>
            </a:pPr>
            <a:r>
              <a:rPr lang="en-US" sz="2400" dirty="0">
                <a:solidFill>
                  <a:srgbClr val="000000"/>
                </a:solidFill>
                <a:latin typeface="Gill Sans" charset="0"/>
              </a:rPr>
              <a:t>Answering 7000+ questions in online forums</a:t>
            </a:r>
          </a:p>
        </p:txBody>
      </p:sp>
      <p:sp>
        <p:nvSpPr>
          <p:cNvPr id="4" name="AutoShape 3">
            <a:extLst>
              <a:ext uri="{FF2B5EF4-FFF2-40B4-BE49-F238E27FC236}">
                <a16:creationId xmlns:a16="http://schemas.microsoft.com/office/drawing/2014/main" id="{3ACCDA60-DB9C-5151-68B7-8F10F9AA4E8F}"/>
              </a:ext>
            </a:extLst>
          </p:cNvPr>
          <p:cNvSpPr>
            <a:spLocks noChangeArrowheads="1"/>
          </p:cNvSpPr>
          <p:nvPr/>
        </p:nvSpPr>
        <p:spPr bwMode="auto">
          <a:xfrm>
            <a:off x="4772024" y="3235516"/>
            <a:ext cx="2647950" cy="1671638"/>
          </a:xfrm>
          <a:prstGeom prst="roundRect">
            <a:avLst>
              <a:gd name="adj" fmla="val 17880"/>
            </a:avLst>
          </a:prstGeom>
          <a:solidFill>
            <a:srgbClr val="FF3333"/>
          </a:solidFill>
          <a:ln w="5472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a:tabLst>
                <a:tab pos="407988" algn="l"/>
                <a:tab pos="723900" algn="l"/>
                <a:tab pos="1447800" algn="l"/>
                <a:tab pos="2171700" algn="l"/>
              </a:tabLst>
            </a:pPr>
            <a:r>
              <a:rPr lang="en-US" dirty="0">
                <a:solidFill>
                  <a:srgbClr val="FFFFFF"/>
                </a:solidFill>
              </a:rPr>
              <a:t>Far too many developers and DBAs are confused by dates!</a:t>
            </a:r>
          </a:p>
        </p:txBody>
      </p:sp>
      <p:cxnSp>
        <p:nvCxnSpPr>
          <p:cNvPr id="5" name="Straight Connector 4">
            <a:extLst>
              <a:ext uri="{FF2B5EF4-FFF2-40B4-BE49-F238E27FC236}">
                <a16:creationId xmlns:a16="http://schemas.microsoft.com/office/drawing/2014/main" id="{E7862231-B7E1-D708-F7E1-D173FDB47CE4}"/>
              </a:ext>
            </a:extLst>
          </p:cNvPr>
          <p:cNvCxnSpPr>
            <a:cxnSpLocks/>
          </p:cNvCxnSpPr>
          <p:nvPr/>
        </p:nvCxnSpPr>
        <p:spPr>
          <a:xfrm>
            <a:off x="0" y="1690180"/>
            <a:ext cx="12192000" cy="0"/>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7971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EBAD0-6E87-2A3F-AC70-1919B67E6723}"/>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7B52BB79-C001-65C9-847A-5EB8662E248C}"/>
              </a:ext>
            </a:extLst>
          </p:cNvPr>
          <p:cNvSpPr txBox="1">
            <a:spLocks noChangeArrowheads="1"/>
          </p:cNvSpPr>
          <p:nvPr/>
        </p:nvSpPr>
        <p:spPr bwMode="auto">
          <a:xfrm>
            <a:off x="4269359" y="1129919"/>
            <a:ext cx="3514725" cy="747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9pPr>
          </a:lstStyle>
          <a:p>
            <a:pPr algn="ctr" eaLnBrk="1" hangingPunct="1"/>
            <a:r>
              <a:rPr lang="en-US" sz="3600">
                <a:solidFill>
                  <a:srgbClr val="000000"/>
                </a:solidFill>
                <a:latin typeface="Gill Sans" charset="0"/>
              </a:rPr>
              <a:t>Agenda</a:t>
            </a:r>
          </a:p>
        </p:txBody>
      </p:sp>
      <p:sp>
        <p:nvSpPr>
          <p:cNvPr id="3" name="Text Box 2">
            <a:extLst>
              <a:ext uri="{FF2B5EF4-FFF2-40B4-BE49-F238E27FC236}">
                <a16:creationId xmlns:a16="http://schemas.microsoft.com/office/drawing/2014/main" id="{662322ED-744A-7304-E107-23CBF4F27039}"/>
              </a:ext>
            </a:extLst>
          </p:cNvPr>
          <p:cNvSpPr txBox="1">
            <a:spLocks noChangeArrowheads="1"/>
          </p:cNvSpPr>
          <p:nvPr/>
        </p:nvSpPr>
        <p:spPr bwMode="auto">
          <a:xfrm>
            <a:off x="3658172" y="2201482"/>
            <a:ext cx="4949825" cy="3716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723900" algn="l"/>
                <a:tab pos="1447800" algn="l"/>
                <a:tab pos="2171700" algn="l"/>
                <a:tab pos="2895600" algn="l"/>
                <a:tab pos="3619500" algn="l"/>
                <a:tab pos="4343400" algn="l"/>
              </a:tabLst>
              <a:defRPr>
                <a:solidFill>
                  <a:schemeClr val="tx1"/>
                </a:solidFill>
                <a:latin typeface="Arial" charset="0"/>
                <a:cs typeface="Arial" charset="0"/>
              </a:defRPr>
            </a:lvl1pPr>
            <a:lvl2pPr marL="742950" indent="-285750" eaLnBrk="0" hangingPunct="0">
              <a:tabLst>
                <a:tab pos="723900" algn="l"/>
                <a:tab pos="1447800" algn="l"/>
                <a:tab pos="2171700" algn="l"/>
                <a:tab pos="2895600" algn="l"/>
                <a:tab pos="3619500" algn="l"/>
                <a:tab pos="4343400" algn="l"/>
              </a:tabLst>
              <a:defRPr>
                <a:solidFill>
                  <a:schemeClr val="tx1"/>
                </a:solidFill>
                <a:latin typeface="Arial" charset="0"/>
                <a:cs typeface="Arial" charset="0"/>
              </a:defRPr>
            </a:lvl2pPr>
            <a:lvl3pPr marL="1143000" indent="-228600" eaLnBrk="0" hangingPunct="0">
              <a:tabLst>
                <a:tab pos="723900" algn="l"/>
                <a:tab pos="1447800" algn="l"/>
                <a:tab pos="2171700" algn="l"/>
                <a:tab pos="2895600" algn="l"/>
                <a:tab pos="3619500" algn="l"/>
                <a:tab pos="4343400" algn="l"/>
              </a:tabLst>
              <a:defRPr>
                <a:solidFill>
                  <a:schemeClr val="tx1"/>
                </a:solidFill>
                <a:latin typeface="Arial" charset="0"/>
                <a:cs typeface="Arial" charset="0"/>
              </a:defRPr>
            </a:lvl3pPr>
            <a:lvl4pPr marL="1600200" indent="-228600" eaLnBrk="0" hangingPunct="0">
              <a:tabLst>
                <a:tab pos="723900" algn="l"/>
                <a:tab pos="1447800" algn="l"/>
                <a:tab pos="2171700" algn="l"/>
                <a:tab pos="2895600" algn="l"/>
                <a:tab pos="3619500" algn="l"/>
                <a:tab pos="4343400" algn="l"/>
              </a:tabLst>
              <a:defRPr>
                <a:solidFill>
                  <a:schemeClr val="tx1"/>
                </a:solidFill>
                <a:latin typeface="Arial" charset="0"/>
                <a:cs typeface="Arial" charset="0"/>
              </a:defRPr>
            </a:lvl4pPr>
            <a:lvl5pPr marL="2057400" indent="-228600" eaLnBrk="0" hangingPunct="0">
              <a:tabLst>
                <a:tab pos="723900" algn="l"/>
                <a:tab pos="1447800" algn="l"/>
                <a:tab pos="2171700" algn="l"/>
                <a:tab pos="2895600" algn="l"/>
                <a:tab pos="3619500" algn="l"/>
                <a:tab pos="43434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Lst>
              <a:defRPr>
                <a:solidFill>
                  <a:schemeClr val="tx1"/>
                </a:solidFill>
                <a:latin typeface="Arial" charset="0"/>
                <a:cs typeface="Arial" charset="0"/>
              </a:defRPr>
            </a:lvl9pPr>
          </a:lstStyle>
          <a:p>
            <a:pPr eaLnBrk="1">
              <a:spcBef>
                <a:spcPts val="1013"/>
              </a:spcBef>
              <a:spcAft>
                <a:spcPts val="288"/>
              </a:spcAft>
            </a:pPr>
            <a:r>
              <a:rPr lang="en-US" sz="2800">
                <a:solidFill>
                  <a:srgbClr val="000000"/>
                </a:solidFill>
                <a:latin typeface="Gill Sans" charset="0"/>
                <a:ea typeface="ヒラギノ角ゴ ProN W3" charset="0"/>
                <a:cs typeface="Arial Unicode MS" charset="0"/>
              </a:rPr>
              <a:t>Be Yourself</a:t>
            </a:r>
          </a:p>
          <a:p>
            <a:pPr eaLnBrk="1">
              <a:spcBef>
                <a:spcPts val="1013"/>
              </a:spcBef>
              <a:spcAft>
                <a:spcPts val="288"/>
              </a:spcAft>
            </a:pPr>
            <a:r>
              <a:rPr lang="en-US" sz="2800">
                <a:solidFill>
                  <a:srgbClr val="000000"/>
                </a:solidFill>
                <a:latin typeface="Gill Sans" charset="0"/>
                <a:ea typeface="ヒラギノ角ゴ ProN W3" charset="0"/>
                <a:cs typeface="Arial Unicode MS" charset="0"/>
              </a:rPr>
              <a:t>Looking Your Best</a:t>
            </a:r>
          </a:p>
          <a:p>
            <a:pPr eaLnBrk="1">
              <a:spcBef>
                <a:spcPts val="1013"/>
              </a:spcBef>
              <a:spcAft>
                <a:spcPts val="288"/>
              </a:spcAft>
            </a:pPr>
            <a:r>
              <a:rPr lang="en-US" sz="2800">
                <a:solidFill>
                  <a:srgbClr val="000000"/>
                </a:solidFill>
                <a:latin typeface="Gill Sans" charset="0"/>
                <a:ea typeface="ヒラギノ角ゴ ProN W3" charset="0"/>
                <a:cs typeface="Arial Unicode MS" charset="0"/>
              </a:rPr>
              <a:t>Getting to Know Your Date</a:t>
            </a:r>
          </a:p>
          <a:p>
            <a:pPr eaLnBrk="1">
              <a:spcBef>
                <a:spcPts val="1013"/>
              </a:spcBef>
              <a:spcAft>
                <a:spcPts val="288"/>
              </a:spcAft>
            </a:pPr>
            <a:r>
              <a:rPr lang="en-US" sz="2800">
                <a:solidFill>
                  <a:srgbClr val="000000"/>
                </a:solidFill>
                <a:latin typeface="Gill Sans" charset="0"/>
                <a:ea typeface="ヒラギノ角ゴ ProN W3" charset="0"/>
                <a:cs typeface="Arial Unicode MS" charset="0"/>
              </a:rPr>
              <a:t>Getting New Dates</a:t>
            </a:r>
          </a:p>
          <a:p>
            <a:pPr eaLnBrk="1">
              <a:spcBef>
                <a:spcPts val="1013"/>
              </a:spcBef>
              <a:spcAft>
                <a:spcPts val="288"/>
              </a:spcAft>
            </a:pPr>
            <a:r>
              <a:rPr lang="en-US" sz="2800">
                <a:solidFill>
                  <a:srgbClr val="000000"/>
                </a:solidFill>
                <a:latin typeface="Gill Sans" charset="0"/>
                <a:ea typeface="ヒラギノ角ゴ ProN W3" charset="0"/>
                <a:cs typeface="Arial Unicode MS" charset="0"/>
              </a:rPr>
              <a:t>Keeping Your Dates Interesting</a:t>
            </a:r>
          </a:p>
        </p:txBody>
      </p:sp>
    </p:spTree>
    <p:extLst>
      <p:ext uri="{BB962C8B-B14F-4D97-AF65-F5344CB8AC3E}">
        <p14:creationId xmlns:p14="http://schemas.microsoft.com/office/powerpoint/2010/main" val="3970076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D1AC1-1393-6370-7071-33C52E14073E}"/>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385DDE4D-785D-A93B-B375-0D00F55F0E06}"/>
              </a:ext>
            </a:extLst>
          </p:cNvPr>
          <p:cNvSpPr txBox="1">
            <a:spLocks noChangeArrowheads="1"/>
          </p:cNvSpPr>
          <p:nvPr/>
        </p:nvSpPr>
        <p:spPr bwMode="auto">
          <a:xfrm>
            <a:off x="2791619" y="497840"/>
            <a:ext cx="6608763" cy="1346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2040" tIns="32040" rIns="32040" bIns="3204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9pPr>
          </a:lstStyle>
          <a:p>
            <a:pPr algn="ctr"/>
            <a:r>
              <a:rPr lang="en-US" sz="3600" dirty="0">
                <a:solidFill>
                  <a:srgbClr val="000000"/>
                </a:solidFill>
                <a:latin typeface="Gill Sans" charset="0"/>
              </a:rPr>
              <a:t>Be Yourself</a:t>
            </a:r>
            <a:br>
              <a:rPr lang="en-US" sz="2800" dirty="0">
                <a:solidFill>
                  <a:srgbClr val="000000"/>
                </a:solidFill>
                <a:latin typeface="Gill Sans" charset="0"/>
              </a:rPr>
            </a:br>
            <a:r>
              <a:rPr lang="en-US" sz="2600" dirty="0">
                <a:solidFill>
                  <a:srgbClr val="000000"/>
                </a:solidFill>
                <a:latin typeface="Gill Sans" charset="0"/>
              </a:rPr>
              <a:t>(and let your Dates be Dates)</a:t>
            </a:r>
          </a:p>
        </p:txBody>
      </p:sp>
      <p:sp>
        <p:nvSpPr>
          <p:cNvPr id="3" name="Text Box 2">
            <a:extLst>
              <a:ext uri="{FF2B5EF4-FFF2-40B4-BE49-F238E27FC236}">
                <a16:creationId xmlns:a16="http://schemas.microsoft.com/office/drawing/2014/main" id="{DC60553D-F19E-E5A6-4D55-DCF08B7B6AB4}"/>
              </a:ext>
            </a:extLst>
          </p:cNvPr>
          <p:cNvSpPr txBox="1">
            <a:spLocks noChangeArrowheads="1"/>
          </p:cNvSpPr>
          <p:nvPr/>
        </p:nvSpPr>
        <p:spPr bwMode="auto">
          <a:xfrm>
            <a:off x="2627313" y="2463164"/>
            <a:ext cx="6937375" cy="2374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9pPr>
          </a:lstStyle>
          <a:p>
            <a:pPr algn="ctr" eaLnBrk="1" hangingPunct="1"/>
            <a:r>
              <a:rPr lang="en-US" dirty="0">
                <a:solidFill>
                  <a:srgbClr val="000000"/>
                </a:solidFill>
                <a:latin typeface="Gill Sans" charset="0"/>
              </a:rPr>
              <a:t>Dates are not numbers</a:t>
            </a:r>
          </a:p>
          <a:p>
            <a:pPr algn="ctr" eaLnBrk="1" hangingPunct="1"/>
            <a:r>
              <a:rPr lang="en-US" dirty="0">
                <a:solidFill>
                  <a:srgbClr val="000000"/>
                </a:solidFill>
                <a:latin typeface="Gill Sans" charset="0"/>
              </a:rPr>
              <a:t>Dates are not strings</a:t>
            </a:r>
          </a:p>
          <a:p>
            <a:pPr algn="ctr" eaLnBrk="1" hangingPunct="1"/>
            <a:r>
              <a:rPr lang="en-US" dirty="0">
                <a:solidFill>
                  <a:srgbClr val="000000"/>
                </a:solidFill>
                <a:latin typeface="Gill Sans" charset="0"/>
              </a:rPr>
              <a:t>Dates do not have formats</a:t>
            </a:r>
          </a:p>
          <a:p>
            <a:pPr algn="ctr" eaLnBrk="1" hangingPunct="1"/>
            <a:r>
              <a:rPr lang="en-US" dirty="0">
                <a:solidFill>
                  <a:srgbClr val="000000"/>
                </a:solidFill>
                <a:latin typeface="Gill Sans" charset="0"/>
              </a:rPr>
              <a:t>Numbers and strings have formats</a:t>
            </a:r>
          </a:p>
        </p:txBody>
      </p:sp>
      <p:sp>
        <p:nvSpPr>
          <p:cNvPr id="4" name="AutoShape 3">
            <a:extLst>
              <a:ext uri="{FF2B5EF4-FFF2-40B4-BE49-F238E27FC236}">
                <a16:creationId xmlns:a16="http://schemas.microsoft.com/office/drawing/2014/main" id="{B2E9416E-1963-EDBD-5FEF-699317459698}"/>
              </a:ext>
            </a:extLst>
          </p:cNvPr>
          <p:cNvSpPr>
            <a:spLocks noChangeArrowheads="1"/>
          </p:cNvSpPr>
          <p:nvPr/>
        </p:nvSpPr>
        <p:spPr bwMode="auto">
          <a:xfrm>
            <a:off x="3791744" y="5755640"/>
            <a:ext cx="4608512" cy="641350"/>
          </a:xfrm>
          <a:prstGeom prst="roundRect">
            <a:avLst>
              <a:gd name="adj" fmla="val 37417"/>
            </a:avLst>
          </a:prstGeom>
          <a:solidFill>
            <a:srgbClr val="FF3333"/>
          </a:solidFill>
          <a:ln w="5472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a:tabLst>
                <a:tab pos="407988" algn="l"/>
                <a:tab pos="723900" algn="l"/>
                <a:tab pos="1447800" algn="l"/>
                <a:tab pos="2171700" algn="l"/>
                <a:tab pos="2895600" algn="l"/>
                <a:tab pos="3619500" algn="l"/>
                <a:tab pos="4343400" algn="l"/>
              </a:tabLst>
            </a:pPr>
            <a:r>
              <a:rPr lang="en-US" dirty="0">
                <a:solidFill>
                  <a:srgbClr val="FFFFFF"/>
                </a:solidFill>
              </a:rPr>
              <a:t>But, how can we see them?</a:t>
            </a:r>
          </a:p>
        </p:txBody>
      </p:sp>
      <p:cxnSp>
        <p:nvCxnSpPr>
          <p:cNvPr id="5" name="Straight Connector 4">
            <a:extLst>
              <a:ext uri="{FF2B5EF4-FFF2-40B4-BE49-F238E27FC236}">
                <a16:creationId xmlns:a16="http://schemas.microsoft.com/office/drawing/2014/main" id="{D4D9509E-394D-A4AE-11A8-B717E08E0171}"/>
              </a:ext>
            </a:extLst>
          </p:cNvPr>
          <p:cNvCxnSpPr/>
          <p:nvPr/>
        </p:nvCxnSpPr>
        <p:spPr>
          <a:xfrm>
            <a:off x="1524000" y="184404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5988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50" fill="hold"/>
                                        <p:tgtEl>
                                          <p:spTgt spid="4"/>
                                        </p:tgtEl>
                                        <p:attrNameLst>
                                          <p:attrName>ppt_x</p:attrName>
                                        </p:attrNameLst>
                                      </p:cBhvr>
                                      <p:tavLst>
                                        <p:tav tm="0">
                                          <p:val>
                                            <p:strVal val="#ppt_x"/>
                                          </p:val>
                                        </p:tav>
                                        <p:tav tm="100000">
                                          <p:val>
                                            <p:strVal val="#ppt_x"/>
                                          </p:val>
                                        </p:tav>
                                      </p:tavLst>
                                    </p:anim>
                                    <p:anim calcmode="lin" valueType="num">
                                      <p:cBhvr additive="base">
                                        <p:cTn id="8" dur="2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AFC61-466D-1345-9922-A51FA6077251}"/>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2868E5CF-01B2-B7A4-42B5-A7AB765AB571}"/>
              </a:ext>
            </a:extLst>
          </p:cNvPr>
          <p:cNvSpPr txBox="1">
            <a:spLocks noChangeArrowheads="1"/>
          </p:cNvSpPr>
          <p:nvPr/>
        </p:nvSpPr>
        <p:spPr bwMode="auto">
          <a:xfrm>
            <a:off x="1590675" y="544629"/>
            <a:ext cx="9010650" cy="1141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2040" tIns="32040" rIns="32040" bIns="3204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9pPr>
          </a:lstStyle>
          <a:p>
            <a:pPr algn="ctr"/>
            <a:r>
              <a:rPr lang="en-US" sz="2600" dirty="0">
                <a:solidFill>
                  <a:srgbClr val="000000"/>
                </a:solidFill>
                <a:latin typeface="Gill Sans" charset="0"/>
              </a:rPr>
              <a:t>Looking your best: Get a Trim</a:t>
            </a:r>
            <a:br>
              <a:rPr lang="en-US" sz="2600" dirty="0">
                <a:solidFill>
                  <a:srgbClr val="000000"/>
                </a:solidFill>
                <a:latin typeface="Gill Sans" charset="0"/>
              </a:rPr>
            </a:br>
            <a:r>
              <a:rPr lang="en-US" sz="2600" dirty="0" err="1">
                <a:solidFill>
                  <a:srgbClr val="000000"/>
                </a:solidFill>
                <a:latin typeface="Gill Sans" charset="0"/>
              </a:rPr>
              <a:t>TRUNCate</a:t>
            </a:r>
            <a:r>
              <a:rPr lang="en-US" sz="2600" dirty="0">
                <a:solidFill>
                  <a:srgbClr val="000000"/>
                </a:solidFill>
                <a:latin typeface="Gill Sans" charset="0"/>
              </a:rPr>
              <a:t> your dates</a:t>
            </a:r>
          </a:p>
        </p:txBody>
      </p:sp>
      <p:sp>
        <p:nvSpPr>
          <p:cNvPr id="3" name="Text Box 2">
            <a:extLst>
              <a:ext uri="{FF2B5EF4-FFF2-40B4-BE49-F238E27FC236}">
                <a16:creationId xmlns:a16="http://schemas.microsoft.com/office/drawing/2014/main" id="{4577232F-7FC9-71CA-1EB4-82562DE98719}"/>
              </a:ext>
            </a:extLst>
          </p:cNvPr>
          <p:cNvSpPr txBox="1">
            <a:spLocks noChangeArrowheads="1"/>
          </p:cNvSpPr>
          <p:nvPr/>
        </p:nvSpPr>
        <p:spPr bwMode="auto">
          <a:xfrm>
            <a:off x="2514600" y="2197217"/>
            <a:ext cx="65468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lstStyle>
            <a:lvl1pPr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9pPr>
          </a:lstStyle>
          <a:p>
            <a:pPr algn="ctr" eaLnBrk="1" hangingPunct="1"/>
            <a:r>
              <a:rPr lang="en-US">
                <a:solidFill>
                  <a:srgbClr val="000000"/>
                </a:solidFill>
                <a:latin typeface="Gill Sans" charset="0"/>
              </a:rPr>
              <a:t>Many of the TO_CHAR masks can be used as truncation guides.</a:t>
            </a:r>
          </a:p>
        </p:txBody>
      </p:sp>
      <p:sp>
        <p:nvSpPr>
          <p:cNvPr id="4" name="Text Box 3">
            <a:extLst>
              <a:ext uri="{FF2B5EF4-FFF2-40B4-BE49-F238E27FC236}">
                <a16:creationId xmlns:a16="http://schemas.microsoft.com/office/drawing/2014/main" id="{7D3CCFCB-580E-E9B8-A92B-368E2B1FB34A}"/>
              </a:ext>
            </a:extLst>
          </p:cNvPr>
          <p:cNvSpPr txBox="1">
            <a:spLocks noChangeArrowheads="1"/>
          </p:cNvSpPr>
          <p:nvPr/>
        </p:nvSpPr>
        <p:spPr bwMode="auto">
          <a:xfrm>
            <a:off x="2362200" y="2697279"/>
            <a:ext cx="4575175" cy="3922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1pPr>
            <a:lvl2pPr marL="742950" indent="-285750" eaLnBrk="0" hangingPunct="0">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2pPr>
            <a:lvl3pPr marL="1143000" indent="-228600" eaLnBrk="0" hangingPunct="0">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3pPr>
            <a:lvl4pPr marL="1600200" indent="-228600" eaLnBrk="0" hangingPunct="0">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4pPr>
            <a:lvl5pPr marL="2057400" indent="-228600" eaLnBrk="0" hangingPunct="0">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9pPr>
          </a:lstStyle>
          <a:p>
            <a:pPr eaLnBrk="1" hangingPunct="1">
              <a:spcBef>
                <a:spcPts val="288"/>
              </a:spcBef>
              <a:spcAft>
                <a:spcPts val="288"/>
              </a:spcAft>
            </a:pPr>
            <a:r>
              <a:rPr lang="en-US" sz="2000" dirty="0">
                <a:solidFill>
                  <a:srgbClr val="000000"/>
                </a:solidFill>
                <a:latin typeface="Gill Sans" charset="0"/>
              </a:rPr>
              <a:t>Century (cc):	</a:t>
            </a:r>
            <a:r>
              <a:rPr lang="en-US" sz="2000" u="sng" dirty="0">
                <a:solidFill>
                  <a:srgbClr val="000000"/>
                </a:solidFill>
                <a:latin typeface="Gill Sans" charset="0"/>
              </a:rPr>
              <a:t>2001-01-01 00:00:00</a:t>
            </a:r>
          </a:p>
          <a:p>
            <a:pPr eaLnBrk="1" hangingPunct="1">
              <a:spcBef>
                <a:spcPts val="288"/>
              </a:spcBef>
              <a:spcAft>
                <a:spcPts val="288"/>
              </a:spcAft>
            </a:pPr>
            <a:r>
              <a:rPr lang="en-US" sz="2000" dirty="0">
                <a:solidFill>
                  <a:srgbClr val="000000"/>
                </a:solidFill>
                <a:latin typeface="Gill Sans" charset="0"/>
              </a:rPr>
              <a:t>Year (</a:t>
            </a:r>
            <a:r>
              <a:rPr lang="en-US" sz="2000" dirty="0" err="1">
                <a:solidFill>
                  <a:srgbClr val="000000"/>
                </a:solidFill>
                <a:latin typeface="Gill Sans" charset="0"/>
              </a:rPr>
              <a:t>yyyy</a:t>
            </a:r>
            <a:r>
              <a:rPr lang="en-US" sz="2000" dirty="0">
                <a:solidFill>
                  <a:srgbClr val="000000"/>
                </a:solidFill>
                <a:latin typeface="Gill Sans" charset="0"/>
              </a:rPr>
              <a:t>):	20</a:t>
            </a:r>
            <a:r>
              <a:rPr lang="en-US" sz="2000" u="sng" dirty="0">
                <a:solidFill>
                  <a:srgbClr val="000000"/>
                </a:solidFill>
                <a:latin typeface="Gill Sans" charset="0"/>
              </a:rPr>
              <a:t>12-01-01 00:00:00</a:t>
            </a:r>
          </a:p>
          <a:p>
            <a:pPr eaLnBrk="1" hangingPunct="1">
              <a:spcBef>
                <a:spcPts val="288"/>
              </a:spcBef>
              <a:spcAft>
                <a:spcPts val="288"/>
              </a:spcAft>
            </a:pPr>
            <a:r>
              <a:rPr lang="en-US" sz="2000" dirty="0">
                <a:solidFill>
                  <a:srgbClr val="000000"/>
                </a:solidFill>
                <a:latin typeface="Gill Sans" charset="0"/>
              </a:rPr>
              <a:t>Quarter (q):	2012-</a:t>
            </a:r>
            <a:r>
              <a:rPr lang="en-US" sz="2000" u="sng" dirty="0">
                <a:solidFill>
                  <a:srgbClr val="000000"/>
                </a:solidFill>
                <a:latin typeface="Gill Sans" charset="0"/>
              </a:rPr>
              <a:t>04-01 00:00:00</a:t>
            </a:r>
          </a:p>
          <a:p>
            <a:pPr eaLnBrk="1" hangingPunct="1">
              <a:spcBef>
                <a:spcPts val="288"/>
              </a:spcBef>
              <a:spcAft>
                <a:spcPts val="288"/>
              </a:spcAft>
            </a:pPr>
            <a:r>
              <a:rPr lang="en-US" sz="2000" dirty="0">
                <a:solidFill>
                  <a:srgbClr val="000000"/>
                </a:solidFill>
                <a:latin typeface="Gill Sans" charset="0"/>
              </a:rPr>
              <a:t>Month (mm):	2012-</a:t>
            </a:r>
            <a:r>
              <a:rPr lang="en-US" sz="2000" u="sng" dirty="0">
                <a:solidFill>
                  <a:srgbClr val="000000"/>
                </a:solidFill>
                <a:latin typeface="Gill Sans" charset="0"/>
              </a:rPr>
              <a:t>04-01 00:00:00</a:t>
            </a:r>
          </a:p>
          <a:p>
            <a:pPr eaLnBrk="1" hangingPunct="1">
              <a:spcBef>
                <a:spcPts val="288"/>
              </a:spcBef>
              <a:spcAft>
                <a:spcPts val="288"/>
              </a:spcAft>
            </a:pPr>
            <a:r>
              <a:rPr lang="en-US" sz="2000" dirty="0">
                <a:solidFill>
                  <a:srgbClr val="000000"/>
                </a:solidFill>
                <a:latin typeface="Gill Sans" charset="0"/>
              </a:rPr>
              <a:t>Week(ww):	2012-04-</a:t>
            </a:r>
            <a:r>
              <a:rPr lang="en-US" sz="2000" u="sng" dirty="0">
                <a:solidFill>
                  <a:srgbClr val="000000"/>
                </a:solidFill>
                <a:latin typeface="Gill Sans" charset="0"/>
              </a:rPr>
              <a:t>22 00:00:00</a:t>
            </a:r>
          </a:p>
          <a:p>
            <a:pPr eaLnBrk="1" hangingPunct="1">
              <a:spcBef>
                <a:spcPts val="288"/>
              </a:spcBef>
              <a:spcAft>
                <a:spcPts val="288"/>
              </a:spcAft>
            </a:pPr>
            <a:r>
              <a:rPr lang="en-US" sz="2000" dirty="0">
                <a:solidFill>
                  <a:srgbClr val="000000"/>
                </a:solidFill>
                <a:latin typeface="Gill Sans" charset="0"/>
              </a:rPr>
              <a:t>Day (dd):		2012-04-</a:t>
            </a:r>
            <a:r>
              <a:rPr lang="en-US" sz="2000" u="sng" dirty="0">
                <a:solidFill>
                  <a:srgbClr val="000000"/>
                </a:solidFill>
                <a:latin typeface="Gill Sans" charset="0"/>
              </a:rPr>
              <a:t>24 00:00:00</a:t>
            </a:r>
          </a:p>
          <a:p>
            <a:pPr eaLnBrk="1" hangingPunct="1">
              <a:spcBef>
                <a:spcPts val="288"/>
              </a:spcBef>
              <a:spcAft>
                <a:spcPts val="288"/>
              </a:spcAft>
            </a:pPr>
            <a:r>
              <a:rPr lang="en-US" sz="2000" dirty="0">
                <a:solidFill>
                  <a:srgbClr val="000000"/>
                </a:solidFill>
                <a:latin typeface="Gill Sans" charset="0"/>
              </a:rPr>
              <a:t>Hour (</a:t>
            </a:r>
            <a:r>
              <a:rPr lang="en-US" sz="2000" dirty="0" err="1">
                <a:solidFill>
                  <a:srgbClr val="000000"/>
                </a:solidFill>
                <a:latin typeface="Gill Sans" charset="0"/>
              </a:rPr>
              <a:t>hh</a:t>
            </a:r>
            <a:r>
              <a:rPr lang="en-US" sz="2000" dirty="0">
                <a:solidFill>
                  <a:srgbClr val="000000"/>
                </a:solidFill>
                <a:latin typeface="Gill Sans" charset="0"/>
              </a:rPr>
              <a:t>):		2012-04-24 </a:t>
            </a:r>
            <a:r>
              <a:rPr lang="en-US" sz="2000" u="sng" dirty="0">
                <a:solidFill>
                  <a:srgbClr val="000000"/>
                </a:solidFill>
                <a:latin typeface="Gill Sans" charset="0"/>
              </a:rPr>
              <a:t>14:00:00</a:t>
            </a:r>
          </a:p>
          <a:p>
            <a:pPr eaLnBrk="1" hangingPunct="1">
              <a:spcBef>
                <a:spcPts val="288"/>
              </a:spcBef>
              <a:spcAft>
                <a:spcPts val="288"/>
              </a:spcAft>
            </a:pPr>
            <a:r>
              <a:rPr lang="en-US" sz="2000" dirty="0">
                <a:solidFill>
                  <a:srgbClr val="000000"/>
                </a:solidFill>
                <a:latin typeface="Gill Sans" charset="0"/>
              </a:rPr>
              <a:t>Minute (mi):	2012-04-24 14:</a:t>
            </a:r>
            <a:r>
              <a:rPr lang="en-US" sz="2000" u="sng" dirty="0">
                <a:solidFill>
                  <a:srgbClr val="000000"/>
                </a:solidFill>
                <a:latin typeface="Gill Sans" charset="0"/>
              </a:rPr>
              <a:t>11:00</a:t>
            </a:r>
          </a:p>
        </p:txBody>
      </p:sp>
      <p:sp>
        <p:nvSpPr>
          <p:cNvPr id="5" name="Text Box 4">
            <a:extLst>
              <a:ext uri="{FF2B5EF4-FFF2-40B4-BE49-F238E27FC236}">
                <a16:creationId xmlns:a16="http://schemas.microsoft.com/office/drawing/2014/main" id="{F68A9079-E199-2566-B619-B74B7232DE22}"/>
              </a:ext>
            </a:extLst>
          </p:cNvPr>
          <p:cNvSpPr txBox="1">
            <a:spLocks noChangeArrowheads="1"/>
          </p:cNvSpPr>
          <p:nvPr/>
        </p:nvSpPr>
        <p:spPr bwMode="auto">
          <a:xfrm>
            <a:off x="7273925" y="2883017"/>
            <a:ext cx="2625725"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Lst>
              <a:defRPr>
                <a:solidFill>
                  <a:schemeClr val="tx1"/>
                </a:solidFill>
                <a:latin typeface="Arial" charset="0"/>
                <a:cs typeface="Arial" charset="0"/>
              </a:defRPr>
            </a:lvl9pPr>
          </a:lstStyle>
          <a:p>
            <a:pPr eaLnBrk="1" hangingPunct="1"/>
            <a:r>
              <a:rPr lang="en-US">
                <a:solidFill>
                  <a:srgbClr val="000000"/>
                </a:solidFill>
                <a:latin typeface="Gill Sans" charset="0"/>
              </a:rPr>
              <a:t>ISO Year and Weeks are also supported</a:t>
            </a:r>
          </a:p>
        </p:txBody>
      </p:sp>
      <p:sp>
        <p:nvSpPr>
          <p:cNvPr id="6" name="Text Box 5">
            <a:extLst>
              <a:ext uri="{FF2B5EF4-FFF2-40B4-BE49-F238E27FC236}">
                <a16:creationId xmlns:a16="http://schemas.microsoft.com/office/drawing/2014/main" id="{5FF86E6E-32A8-CFE6-5AF6-C87AFBEC9581}"/>
              </a:ext>
            </a:extLst>
          </p:cNvPr>
          <p:cNvSpPr txBox="1">
            <a:spLocks noChangeArrowheads="1"/>
          </p:cNvSpPr>
          <p:nvPr/>
        </p:nvSpPr>
        <p:spPr bwMode="auto">
          <a:xfrm>
            <a:off x="7239000" y="4407017"/>
            <a:ext cx="2490788" cy="1624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Lst>
              <a:defRPr>
                <a:solidFill>
                  <a:schemeClr val="tx1"/>
                </a:solidFill>
                <a:latin typeface="Arial" charset="0"/>
                <a:cs typeface="Arial" charset="0"/>
              </a:defRPr>
            </a:lvl9pPr>
          </a:lstStyle>
          <a:p>
            <a:pPr eaLnBrk="1" hangingPunct="1"/>
            <a:r>
              <a:rPr lang="en-US">
                <a:solidFill>
                  <a:srgbClr val="000000"/>
                </a:solidFill>
                <a:latin typeface="Gill Sans" charset="0"/>
              </a:rPr>
              <a:t>Start of week will observe NLS settings and may also reflect start of year or month.</a:t>
            </a:r>
          </a:p>
        </p:txBody>
      </p:sp>
      <p:cxnSp>
        <p:nvCxnSpPr>
          <p:cNvPr id="7" name="Straight Connector 6">
            <a:extLst>
              <a:ext uri="{FF2B5EF4-FFF2-40B4-BE49-F238E27FC236}">
                <a16:creationId xmlns:a16="http://schemas.microsoft.com/office/drawing/2014/main" id="{D1C3AAF4-7E99-B62A-B3AC-BB872D78D658}"/>
              </a:ext>
            </a:extLst>
          </p:cNvPr>
          <p:cNvCxnSpPr/>
          <p:nvPr/>
        </p:nvCxnSpPr>
        <p:spPr>
          <a:xfrm>
            <a:off x="1524000" y="1713305"/>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6701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08C61-309E-93F2-61E1-7CC86C4564AF}"/>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81EDCB72-D2FD-D38D-46FE-BB2858DECB19}"/>
              </a:ext>
            </a:extLst>
          </p:cNvPr>
          <p:cNvSpPr txBox="1">
            <a:spLocks noChangeArrowheads="1"/>
          </p:cNvSpPr>
          <p:nvPr/>
        </p:nvSpPr>
        <p:spPr bwMode="auto">
          <a:xfrm>
            <a:off x="1862037" y="658528"/>
            <a:ext cx="9010650"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2040" tIns="32040" rIns="32040" bIns="3204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9pPr>
          </a:lstStyle>
          <a:p>
            <a:pPr algn="ctr"/>
            <a:r>
              <a:rPr lang="en-US" sz="2600" dirty="0">
                <a:solidFill>
                  <a:srgbClr val="000000"/>
                </a:solidFill>
                <a:latin typeface="Gill Sans" charset="0"/>
              </a:rPr>
              <a:t>Looking your best: Use TO_CHAR to dress your date</a:t>
            </a:r>
          </a:p>
        </p:txBody>
      </p:sp>
      <p:sp>
        <p:nvSpPr>
          <p:cNvPr id="3" name="Text Box 3">
            <a:extLst>
              <a:ext uri="{FF2B5EF4-FFF2-40B4-BE49-F238E27FC236}">
                <a16:creationId xmlns:a16="http://schemas.microsoft.com/office/drawing/2014/main" id="{97BE9586-AC53-8995-91C6-83999B3B9C4C}"/>
              </a:ext>
            </a:extLst>
          </p:cNvPr>
          <p:cNvSpPr txBox="1">
            <a:spLocks noChangeArrowheads="1"/>
          </p:cNvSpPr>
          <p:nvPr/>
        </p:nvSpPr>
        <p:spPr bwMode="auto">
          <a:xfrm>
            <a:off x="2412791" y="2402630"/>
            <a:ext cx="7735888" cy="1462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1pPr>
            <a:lvl2pPr marL="742950" indent="-285750" eaLnBrk="0" hangingPunct="0">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2pPr>
            <a:lvl3pPr marL="1143000" indent="-228600" eaLnBrk="0" hangingPunct="0">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3pPr>
            <a:lvl4pPr marL="1600200" indent="-228600" eaLnBrk="0" hangingPunct="0">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4pPr>
            <a:lvl5pPr marL="2057400" indent="-228600" eaLnBrk="0" hangingPunct="0">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182563" algn="l"/>
                <a:tab pos="1096963" algn="l"/>
                <a:tab pos="2011363" algn="l"/>
                <a:tab pos="2925763" algn="l"/>
                <a:tab pos="3840163" algn="l"/>
                <a:tab pos="4754563" algn="l"/>
                <a:tab pos="5668963" algn="l"/>
                <a:tab pos="6583363" algn="l"/>
                <a:tab pos="7497763" algn="l"/>
                <a:tab pos="8412163" algn="l"/>
                <a:tab pos="9326563" algn="l"/>
                <a:tab pos="10240963" algn="l"/>
              </a:tabLst>
              <a:defRPr>
                <a:solidFill>
                  <a:schemeClr val="tx1"/>
                </a:solidFill>
                <a:latin typeface="Arial" charset="0"/>
                <a:cs typeface="Arial" charset="0"/>
              </a:defRPr>
            </a:lvl9pPr>
          </a:lstStyle>
          <a:p>
            <a:pPr eaLnBrk="1" hangingPunct="1"/>
            <a:r>
              <a:rPr lang="en-US" b="1" dirty="0">
                <a:solidFill>
                  <a:srgbClr val="000000"/>
                </a:solidFill>
                <a:latin typeface="Courier New" pitchFamily="49" charset="0"/>
              </a:rPr>
              <a:t>SQL&gt; SELECT </a:t>
            </a:r>
            <a:r>
              <a:rPr lang="en-US" b="1" dirty="0" err="1">
                <a:solidFill>
                  <a:srgbClr val="000000"/>
                </a:solidFill>
                <a:latin typeface="Courier New" pitchFamily="49" charset="0"/>
              </a:rPr>
              <a:t>event_name</a:t>
            </a:r>
            <a:r>
              <a:rPr lang="en-US" b="1" dirty="0">
                <a:solidFill>
                  <a:srgbClr val="000000"/>
                </a:solidFill>
                <a:latin typeface="Courier New" pitchFamily="49" charset="0"/>
              </a:rPr>
              <a:t>,</a:t>
            </a:r>
          </a:p>
          <a:p>
            <a:pPr eaLnBrk="1" hangingPunct="1"/>
            <a:r>
              <a:rPr lang="en-US" b="1" dirty="0">
                <a:solidFill>
                  <a:srgbClr val="000000"/>
                </a:solidFill>
                <a:latin typeface="Courier New" pitchFamily="49" charset="0"/>
              </a:rPr>
              <a:t>  2  TO_CHAR(</a:t>
            </a:r>
            <a:r>
              <a:rPr lang="en-US" b="1" dirty="0" err="1">
                <a:solidFill>
                  <a:srgbClr val="000000"/>
                </a:solidFill>
                <a:latin typeface="Courier New" pitchFamily="49" charset="0"/>
              </a:rPr>
              <a:t>event_date</a:t>
            </a:r>
            <a:r>
              <a:rPr lang="en-US" b="1" dirty="0">
                <a:solidFill>
                  <a:srgbClr val="000000"/>
                </a:solidFill>
                <a:latin typeface="Courier New" pitchFamily="49" charset="0"/>
              </a:rPr>
              <a:t>,</a:t>
            </a:r>
          </a:p>
          <a:p>
            <a:pPr eaLnBrk="1" hangingPunct="1"/>
            <a:r>
              <a:rPr lang="en-US" b="1" dirty="0">
                <a:solidFill>
                  <a:srgbClr val="000000"/>
                </a:solidFill>
                <a:latin typeface="Courier New" pitchFamily="49" charset="0"/>
              </a:rPr>
              <a:t>       '</a:t>
            </a:r>
            <a:r>
              <a:rPr lang="en-US" b="1" dirty="0" err="1">
                <a:solidFill>
                  <a:srgbClr val="000000"/>
                </a:solidFill>
                <a:latin typeface="Courier New" pitchFamily="49" charset="0"/>
              </a:rPr>
              <a:t>syyyy</a:t>
            </a:r>
            <a:r>
              <a:rPr lang="en-US" b="1" dirty="0">
                <a:solidFill>
                  <a:srgbClr val="000000"/>
                </a:solidFill>
                <a:latin typeface="Courier New" pitchFamily="49" charset="0"/>
              </a:rPr>
              <a:t>-mm-dd hh24:mi:ss') </a:t>
            </a:r>
            <a:r>
              <a:rPr lang="en-US" b="1" dirty="0" err="1">
                <a:solidFill>
                  <a:srgbClr val="000000"/>
                </a:solidFill>
                <a:latin typeface="Courier New" pitchFamily="49" charset="0"/>
              </a:rPr>
              <a:t>event_date</a:t>
            </a:r>
            <a:endParaRPr lang="en-US" b="1" dirty="0">
              <a:solidFill>
                <a:srgbClr val="000000"/>
              </a:solidFill>
              <a:latin typeface="Courier New" pitchFamily="49" charset="0"/>
            </a:endParaRPr>
          </a:p>
          <a:p>
            <a:pPr eaLnBrk="1" hangingPunct="1"/>
            <a:r>
              <a:rPr lang="en-US" b="1" dirty="0">
                <a:solidFill>
                  <a:srgbClr val="000000"/>
                </a:solidFill>
                <a:latin typeface="Courier New" pitchFamily="49" charset="0"/>
              </a:rPr>
              <a:t>  3   FROM </a:t>
            </a:r>
            <a:r>
              <a:rPr lang="en-US" b="1" dirty="0" err="1">
                <a:solidFill>
                  <a:srgbClr val="000000"/>
                </a:solidFill>
                <a:latin typeface="Courier New" pitchFamily="49" charset="0"/>
              </a:rPr>
              <a:t>sample_dates</a:t>
            </a:r>
            <a:r>
              <a:rPr lang="en-US" b="1" dirty="0">
                <a:solidFill>
                  <a:srgbClr val="000000"/>
                </a:solidFill>
                <a:latin typeface="Courier New" pitchFamily="49" charset="0"/>
              </a:rPr>
              <a:t>;</a:t>
            </a:r>
          </a:p>
        </p:txBody>
      </p:sp>
      <p:sp>
        <p:nvSpPr>
          <p:cNvPr id="4" name="Text Box 4">
            <a:extLst>
              <a:ext uri="{FF2B5EF4-FFF2-40B4-BE49-F238E27FC236}">
                <a16:creationId xmlns:a16="http://schemas.microsoft.com/office/drawing/2014/main" id="{7094133A-67B3-FD79-649D-58E6D629A613}"/>
              </a:ext>
            </a:extLst>
          </p:cNvPr>
          <p:cNvSpPr txBox="1">
            <a:spLocks noChangeArrowheads="1"/>
          </p:cNvSpPr>
          <p:nvPr/>
        </p:nvSpPr>
        <p:spPr bwMode="auto">
          <a:xfrm>
            <a:off x="2824062" y="4078003"/>
            <a:ext cx="7086600" cy="2600325"/>
          </a:xfrm>
          <a:prstGeom prst="rect">
            <a:avLst/>
          </a:prstGeom>
          <a:ln/>
        </p:spPr>
        <p:style>
          <a:lnRef idx="2">
            <a:schemeClr val="accent3"/>
          </a:lnRef>
          <a:fillRef idx="1">
            <a:schemeClr val="lt1"/>
          </a:fillRef>
          <a:effectRef idx="0">
            <a:schemeClr val="accent3"/>
          </a:effectRef>
          <a:fontRef idx="minor">
            <a:schemeClr val="dk1"/>
          </a:fontRef>
        </p:style>
        <p:txBody>
          <a:bodyPr lIns="0" tIns="0" rIns="0" bIns="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Gill Sans" charset="0"/>
                <a:ea typeface="ヒラギノ角ゴ ProN W3" charset="0"/>
                <a:cs typeface="ヒラギノ角ゴ ProN W3"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Gill Sans" charset="0"/>
                <a:ea typeface="ヒラギノ角ゴ ProN W3" charset="0"/>
                <a:cs typeface="ヒラギノ角ゴ ProN W3"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Gill Sans" charset="0"/>
                <a:ea typeface="ヒラギノ角ゴ ProN W3" charset="0"/>
                <a:cs typeface="ヒラギノ角ゴ ProN W3"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Gill Sans" charset="0"/>
                <a:ea typeface="ヒラギノ角ゴ ProN W3" charset="0"/>
                <a:cs typeface="ヒラギノ角ゴ ProN W3"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Gill Sans" charset="0"/>
                <a:ea typeface="ヒラギノ角ゴ ProN W3" charset="0"/>
                <a:cs typeface="ヒラギノ角ゴ ProN W3" charset="0"/>
              </a:defRPr>
            </a:lvl5pPr>
            <a:lvl6pPr marL="2514600" indent="-228600" defTabSz="457200" fontAlgn="base">
              <a:spcBef>
                <a:spcPts val="3600"/>
              </a:spcBef>
              <a:spcAft>
                <a:spcPct val="0"/>
              </a:spcAft>
              <a:buClr>
                <a:srgbClr val="000000"/>
              </a:buClr>
              <a:buSzPct val="100000"/>
              <a:buFont typeface="Times New Roman" pitchFamily="16"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Gill Sans" charset="0"/>
                <a:ea typeface="ヒラギノ角ゴ ProN W3" charset="0"/>
                <a:cs typeface="ヒラギノ角ゴ ProN W3" charset="0"/>
              </a:defRPr>
            </a:lvl6pPr>
            <a:lvl7pPr marL="2971800" indent="-228600" defTabSz="457200" fontAlgn="base">
              <a:spcBef>
                <a:spcPts val="3600"/>
              </a:spcBef>
              <a:spcAft>
                <a:spcPct val="0"/>
              </a:spcAft>
              <a:buClr>
                <a:srgbClr val="000000"/>
              </a:buClr>
              <a:buSzPct val="100000"/>
              <a:buFont typeface="Times New Roman" pitchFamily="16"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Gill Sans" charset="0"/>
                <a:ea typeface="ヒラギノ角ゴ ProN W3" charset="0"/>
                <a:cs typeface="ヒラギノ角ゴ ProN W3" charset="0"/>
              </a:defRPr>
            </a:lvl7pPr>
            <a:lvl8pPr marL="3429000" indent="-228600" defTabSz="457200" fontAlgn="base">
              <a:spcBef>
                <a:spcPts val="3600"/>
              </a:spcBef>
              <a:spcAft>
                <a:spcPct val="0"/>
              </a:spcAft>
              <a:buClr>
                <a:srgbClr val="000000"/>
              </a:buClr>
              <a:buSzPct val="100000"/>
              <a:buFont typeface="Times New Roman" pitchFamily="16"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Gill Sans" charset="0"/>
                <a:ea typeface="ヒラギノ角ゴ ProN W3" charset="0"/>
                <a:cs typeface="ヒラギノ角ゴ ProN W3" charset="0"/>
              </a:defRPr>
            </a:lvl8pPr>
            <a:lvl9pPr marL="3886200" indent="-228600" defTabSz="457200" fontAlgn="base">
              <a:spcBef>
                <a:spcPts val="3600"/>
              </a:spcBef>
              <a:spcAft>
                <a:spcPct val="0"/>
              </a:spcAft>
              <a:buClr>
                <a:srgbClr val="000000"/>
              </a:buClr>
              <a:buSzPct val="100000"/>
              <a:buFont typeface="Times New Roman" pitchFamily="16"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Gill Sans" charset="0"/>
                <a:ea typeface="ヒラギノ角ゴ ProN W3" charset="0"/>
                <a:cs typeface="ヒラギノ角ゴ ProN W3" charset="0"/>
              </a:defRPr>
            </a:lvl9pPr>
          </a:lstStyle>
          <a:p>
            <a:pPr>
              <a:buFont typeface="Times New Roman" pitchFamily="16" charset="0"/>
              <a:buNone/>
              <a:defRPr/>
            </a:pPr>
            <a:r>
              <a:rPr lang="en-US" b="1" dirty="0">
                <a:latin typeface="Courier New" pitchFamily="49" charset="0"/>
              </a:rPr>
              <a:t>EVENT_NAME                 EVENT_DATE</a:t>
            </a:r>
          </a:p>
          <a:p>
            <a:pPr>
              <a:buFont typeface="Times New Roman" pitchFamily="16" charset="0"/>
              <a:buNone/>
              <a:defRPr/>
            </a:pPr>
            <a:r>
              <a:rPr lang="en-US" b="1" dirty="0">
                <a:latin typeface="Courier New" pitchFamily="49" charset="0"/>
              </a:rPr>
              <a:t>-------------------------- --------------------</a:t>
            </a:r>
          </a:p>
          <a:p>
            <a:pPr>
              <a:buFont typeface="Times New Roman" pitchFamily="16" charset="0"/>
              <a:buNone/>
              <a:defRPr/>
            </a:pPr>
            <a:r>
              <a:rPr lang="en-US" b="1" dirty="0">
                <a:latin typeface="Courier New" pitchFamily="49" charset="0"/>
              </a:rPr>
              <a:t>Oracle's beginning of time -4712-01-01 00:00:00</a:t>
            </a:r>
          </a:p>
          <a:p>
            <a:pPr>
              <a:buFont typeface="Times New Roman" pitchFamily="16" charset="0"/>
              <a:buNone/>
              <a:defRPr/>
            </a:pPr>
            <a:r>
              <a:rPr lang="en-US" b="1" dirty="0">
                <a:latin typeface="Courier New" pitchFamily="49" charset="0"/>
                <a:cs typeface="Courier New" pitchFamily="49" charset="0"/>
              </a:rPr>
              <a:t>This session                2026-06-17 15:40:00</a:t>
            </a:r>
          </a:p>
          <a:p>
            <a:pPr>
              <a:buFont typeface="Times New Roman" pitchFamily="16" charset="0"/>
              <a:buNone/>
              <a:defRPr/>
            </a:pPr>
            <a:r>
              <a:rPr lang="en-US" b="1" dirty="0">
                <a:latin typeface="Courier New" pitchFamily="49" charset="0"/>
              </a:rPr>
              <a:t>Magna </a:t>
            </a:r>
            <a:r>
              <a:rPr lang="en-US" b="1" dirty="0" err="1">
                <a:latin typeface="Courier New" pitchFamily="49" charset="0"/>
              </a:rPr>
              <a:t>Carta</a:t>
            </a:r>
            <a:r>
              <a:rPr lang="en-US" b="1" dirty="0">
                <a:latin typeface="Courier New" pitchFamily="49" charset="0"/>
              </a:rPr>
              <a:t>                 1215-06-15 00:00:00</a:t>
            </a:r>
          </a:p>
          <a:p>
            <a:pPr>
              <a:buFont typeface="Times New Roman" pitchFamily="16" charset="0"/>
              <a:buNone/>
              <a:defRPr/>
            </a:pPr>
            <a:r>
              <a:rPr lang="en-US" b="1" dirty="0">
                <a:latin typeface="Courier New" pitchFamily="49" charset="0"/>
              </a:rPr>
              <a:t>Battle of Thermopylae      -0480-08-07 00:00:00</a:t>
            </a:r>
          </a:p>
          <a:p>
            <a:pPr>
              <a:buFont typeface="Times New Roman" pitchFamily="16" charset="0"/>
              <a:buNone/>
              <a:defRPr/>
            </a:pPr>
            <a:r>
              <a:rPr lang="en-US" b="1" dirty="0">
                <a:latin typeface="Courier New" pitchFamily="49" charset="0"/>
              </a:rPr>
              <a:t>Apollo 11 Moon Landing      1969-07-20 20:17:39</a:t>
            </a:r>
          </a:p>
        </p:txBody>
      </p:sp>
      <p:sp>
        <p:nvSpPr>
          <p:cNvPr id="10" name="TextBox 9">
            <a:extLst>
              <a:ext uri="{FF2B5EF4-FFF2-40B4-BE49-F238E27FC236}">
                <a16:creationId xmlns:a16="http://schemas.microsoft.com/office/drawing/2014/main" id="{AC7688CE-B02B-A468-E151-754F9FB4B319}"/>
              </a:ext>
            </a:extLst>
          </p:cNvPr>
          <p:cNvSpPr txBox="1"/>
          <p:nvPr/>
        </p:nvSpPr>
        <p:spPr>
          <a:xfrm>
            <a:off x="6949975" y="1715920"/>
            <a:ext cx="2400300" cy="646331"/>
          </a:xfrm>
          <a:prstGeom prst="rect">
            <a:avLst/>
          </a:prstGeom>
          <a:solidFill>
            <a:schemeClr val="bg1">
              <a:lumMod val="75000"/>
            </a:schemeClr>
          </a:solidFill>
          <a:ln>
            <a:solidFill>
              <a:srgbClr val="C00000"/>
            </a:solidFill>
          </a:ln>
        </p:spPr>
        <p:style>
          <a:lnRef idx="2">
            <a:schemeClr val="accent4"/>
          </a:lnRef>
          <a:fillRef idx="1">
            <a:schemeClr val="lt1"/>
          </a:fillRef>
          <a:effectRef idx="0">
            <a:schemeClr val="accent4"/>
          </a:effectRef>
          <a:fontRef idx="minor">
            <a:schemeClr val="dk1"/>
          </a:fontRef>
        </p:style>
        <p:txBody>
          <a:bodyPr wrap="square">
            <a:spAutoFit/>
          </a:bodyPr>
          <a:lstStyle/>
          <a:p>
            <a:pPr>
              <a:buFont typeface="Times New Roman" pitchFamily="16" charset="0"/>
              <a:buNone/>
              <a:defRPr/>
            </a:pPr>
            <a:r>
              <a:rPr lang="en-US" dirty="0">
                <a:solidFill>
                  <a:schemeClr val="tx1"/>
                </a:solidFill>
              </a:rPr>
              <a:t>These dates have been </a:t>
            </a:r>
            <a:r>
              <a:rPr lang="en-US" dirty="0" err="1">
                <a:solidFill>
                  <a:schemeClr val="tx1"/>
                </a:solidFill>
              </a:rPr>
              <a:t>TRUNCated</a:t>
            </a:r>
            <a:r>
              <a:rPr lang="en-US" dirty="0">
                <a:solidFill>
                  <a:schemeClr val="tx1"/>
                </a:solidFill>
              </a:rPr>
              <a:t> to midnight</a:t>
            </a:r>
          </a:p>
        </p:txBody>
      </p:sp>
      <p:cxnSp>
        <p:nvCxnSpPr>
          <p:cNvPr id="11" name="Straight Arrow Connector 10">
            <a:extLst>
              <a:ext uri="{FF2B5EF4-FFF2-40B4-BE49-F238E27FC236}">
                <a16:creationId xmlns:a16="http://schemas.microsoft.com/office/drawing/2014/main" id="{09310CC6-5730-59C2-EA17-534B9764C4EF}"/>
              </a:ext>
            </a:extLst>
          </p:cNvPr>
          <p:cNvCxnSpPr>
            <a:cxnSpLocks noChangeShapeType="1"/>
          </p:cNvCxnSpPr>
          <p:nvPr/>
        </p:nvCxnSpPr>
        <p:spPr bwMode="auto">
          <a:xfrm flipH="1">
            <a:off x="8702575" y="4156346"/>
            <a:ext cx="1256501" cy="988409"/>
          </a:xfrm>
          <a:prstGeom prst="straightConnector1">
            <a:avLst/>
          </a:prstGeom>
          <a:noFill/>
          <a:ln w="2857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Box 11">
            <a:extLst>
              <a:ext uri="{FF2B5EF4-FFF2-40B4-BE49-F238E27FC236}">
                <a16:creationId xmlns:a16="http://schemas.microsoft.com/office/drawing/2014/main" id="{2230097B-BC37-BA03-7969-D5DF1A04E897}"/>
              </a:ext>
            </a:extLst>
          </p:cNvPr>
          <p:cNvSpPr txBox="1"/>
          <p:nvPr/>
        </p:nvSpPr>
        <p:spPr>
          <a:xfrm>
            <a:off x="8686064" y="3232421"/>
            <a:ext cx="2878138" cy="923925"/>
          </a:xfrm>
          <a:prstGeom prst="rect">
            <a:avLst/>
          </a:prstGeom>
          <a:solidFill>
            <a:schemeClr val="bg1">
              <a:lumMod val="75000"/>
            </a:schemeClr>
          </a:solidFill>
          <a:ln>
            <a:solidFill>
              <a:srgbClr val="C00000"/>
            </a:solidFill>
          </a:ln>
        </p:spPr>
        <p:style>
          <a:lnRef idx="2">
            <a:schemeClr val="accent4"/>
          </a:lnRef>
          <a:fillRef idx="1">
            <a:schemeClr val="lt1"/>
          </a:fillRef>
          <a:effectRef idx="0">
            <a:schemeClr val="accent4"/>
          </a:effectRef>
          <a:fontRef idx="minor">
            <a:schemeClr val="dk1"/>
          </a:fontRef>
        </p:style>
        <p:txBody>
          <a:bodyPr>
            <a:spAutoFit/>
          </a:bodyPr>
          <a:lstStyle/>
          <a:p>
            <a:pPr>
              <a:buFont typeface="Times New Roman" pitchFamily="16" charset="0"/>
              <a:buNone/>
              <a:defRPr/>
            </a:pPr>
            <a:r>
              <a:rPr lang="en-US" dirty="0">
                <a:solidFill>
                  <a:schemeClr val="tx1"/>
                </a:solidFill>
              </a:rPr>
              <a:t>The time portion of a date is always there, even if you don’t show it</a:t>
            </a:r>
          </a:p>
        </p:txBody>
      </p:sp>
      <p:cxnSp>
        <p:nvCxnSpPr>
          <p:cNvPr id="13" name="Straight Arrow Connector 12">
            <a:extLst>
              <a:ext uri="{FF2B5EF4-FFF2-40B4-BE49-F238E27FC236}">
                <a16:creationId xmlns:a16="http://schemas.microsoft.com/office/drawing/2014/main" id="{0FB400B4-8A31-F7A2-FE82-217E6D6AB74F}"/>
              </a:ext>
            </a:extLst>
          </p:cNvPr>
          <p:cNvCxnSpPr>
            <a:cxnSpLocks noChangeShapeType="1"/>
          </p:cNvCxnSpPr>
          <p:nvPr/>
        </p:nvCxnSpPr>
        <p:spPr bwMode="auto">
          <a:xfrm>
            <a:off x="8006461" y="2362251"/>
            <a:ext cx="696114" cy="2782504"/>
          </a:xfrm>
          <a:prstGeom prst="straightConnector1">
            <a:avLst/>
          </a:prstGeom>
          <a:noFill/>
          <a:ln w="2857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ounded Rectangle 12">
            <a:extLst>
              <a:ext uri="{FF2B5EF4-FFF2-40B4-BE49-F238E27FC236}">
                <a16:creationId xmlns:a16="http://schemas.microsoft.com/office/drawing/2014/main" id="{3B22B663-20F2-077E-1EFB-9E00135CA233}"/>
              </a:ext>
            </a:extLst>
          </p:cNvPr>
          <p:cNvSpPr/>
          <p:nvPr/>
        </p:nvSpPr>
        <p:spPr bwMode="auto">
          <a:xfrm>
            <a:off x="8054875" y="5089993"/>
            <a:ext cx="1295400" cy="687387"/>
          </a:xfrm>
          <a:prstGeom prst="roundRect">
            <a:avLst/>
          </a:prstGeom>
          <a:noFill/>
          <a:ln>
            <a:solidFill>
              <a:srgbClr val="C0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a:lstStyle/>
          <a:p>
            <a:pPr>
              <a:buFont typeface="Times New Roman" pitchFamily="16" charset="0"/>
              <a:buNone/>
              <a:defRPr/>
            </a:pPr>
            <a:endParaRPr lang="en-US">
              <a:solidFill>
                <a:schemeClr val="bg1"/>
              </a:solidFill>
            </a:endParaRPr>
          </a:p>
        </p:txBody>
      </p:sp>
      <p:cxnSp>
        <p:nvCxnSpPr>
          <p:cNvPr id="15" name="Straight Connector 14">
            <a:extLst>
              <a:ext uri="{FF2B5EF4-FFF2-40B4-BE49-F238E27FC236}">
                <a16:creationId xmlns:a16="http://schemas.microsoft.com/office/drawing/2014/main" id="{2F5F3FDC-968D-7687-9290-BC476886C701}"/>
              </a:ext>
            </a:extLst>
          </p:cNvPr>
          <p:cNvCxnSpPr/>
          <p:nvPr/>
        </p:nvCxnSpPr>
        <p:spPr>
          <a:xfrm>
            <a:off x="1795362" y="1496728"/>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1113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5081F-F02A-7307-5C73-8398EB385DF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2EAA9A-9338-6EA8-C6C2-6847ACDEF425}"/>
              </a:ext>
            </a:extLst>
          </p:cNvPr>
          <p:cNvSpPr txBox="1">
            <a:spLocks noChangeArrowheads="1"/>
          </p:cNvSpPr>
          <p:nvPr/>
        </p:nvSpPr>
        <p:spPr bwMode="auto">
          <a:xfrm>
            <a:off x="2286000" y="1003434"/>
            <a:ext cx="76200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600" dirty="0">
                <a:solidFill>
                  <a:srgbClr val="000000"/>
                </a:solidFill>
                <a:latin typeface="Gill Sans" charset="0"/>
              </a:rPr>
              <a:t>Using implicit conversion instead of TO_CHAR</a:t>
            </a:r>
          </a:p>
        </p:txBody>
      </p:sp>
      <p:sp>
        <p:nvSpPr>
          <p:cNvPr id="3" name="Rectangle 2">
            <a:extLst>
              <a:ext uri="{FF2B5EF4-FFF2-40B4-BE49-F238E27FC236}">
                <a16:creationId xmlns:a16="http://schemas.microsoft.com/office/drawing/2014/main" id="{07B5A782-D5EB-3EA7-5E5D-07DD6A170A54}"/>
              </a:ext>
            </a:extLst>
          </p:cNvPr>
          <p:cNvSpPr>
            <a:spLocks noChangeArrowheads="1"/>
          </p:cNvSpPr>
          <p:nvPr/>
        </p:nvSpPr>
        <p:spPr bwMode="auto">
          <a:xfrm>
            <a:off x="2019300" y="2375034"/>
            <a:ext cx="8153400"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000" dirty="0">
                <a:solidFill>
                  <a:srgbClr val="000000"/>
                </a:solidFill>
                <a:latin typeface="Courier New" pitchFamily="49" charset="0"/>
              </a:rPr>
              <a:t>SQL&gt; CREATE TABLE t2 </a:t>
            </a:r>
          </a:p>
          <a:p>
            <a:r>
              <a:rPr lang="en-US" sz="2000" dirty="0">
                <a:solidFill>
                  <a:srgbClr val="000000"/>
                </a:solidFill>
                <a:latin typeface="Courier New" pitchFamily="49" charset="0"/>
              </a:rPr>
              <a:t>(col1 VARCHAR2(10), col2 VARCHAR2(60), col3 DATE);</a:t>
            </a:r>
          </a:p>
          <a:p>
            <a:r>
              <a:rPr lang="en-US" sz="2000" dirty="0">
                <a:solidFill>
                  <a:srgbClr val="000000"/>
                </a:solidFill>
                <a:latin typeface="Courier New" pitchFamily="49" charset="0"/>
              </a:rPr>
              <a:t>Table created.</a:t>
            </a:r>
          </a:p>
          <a:p>
            <a:endParaRPr lang="en-US" sz="2000" dirty="0">
              <a:solidFill>
                <a:srgbClr val="000000"/>
              </a:solidFill>
              <a:latin typeface="Courier New" pitchFamily="49" charset="0"/>
            </a:endParaRPr>
          </a:p>
          <a:p>
            <a:r>
              <a:rPr lang="en-US" sz="2000" dirty="0">
                <a:solidFill>
                  <a:srgbClr val="000000"/>
                </a:solidFill>
                <a:latin typeface="Courier New" pitchFamily="49" charset="0"/>
              </a:rPr>
              <a:t>SQL&gt; INSERT INTO t2 VALUES</a:t>
            </a:r>
          </a:p>
          <a:p>
            <a:r>
              <a:rPr lang="en-US" sz="2000" dirty="0">
                <a:solidFill>
                  <a:srgbClr val="000000"/>
                </a:solidFill>
                <a:latin typeface="Courier New" pitchFamily="49" charset="0"/>
              </a:rPr>
              <a:t>('TEST1', 'This will be bad', '02-JAN-11 08');</a:t>
            </a:r>
          </a:p>
          <a:p>
            <a:r>
              <a:rPr lang="en-US" sz="2000" dirty="0">
                <a:solidFill>
                  <a:srgbClr val="000000"/>
                </a:solidFill>
                <a:latin typeface="Courier New" pitchFamily="49" charset="0"/>
              </a:rPr>
              <a:t>1 row created.</a:t>
            </a:r>
          </a:p>
          <a:p>
            <a:endParaRPr lang="en-US" sz="2000" dirty="0">
              <a:solidFill>
                <a:srgbClr val="000000"/>
              </a:solidFill>
              <a:latin typeface="Courier New" pitchFamily="49" charset="0"/>
            </a:endParaRPr>
          </a:p>
          <a:p>
            <a:r>
              <a:rPr lang="en-US" sz="2000" dirty="0">
                <a:solidFill>
                  <a:srgbClr val="000000"/>
                </a:solidFill>
                <a:latin typeface="Courier New" pitchFamily="49" charset="0"/>
              </a:rPr>
              <a:t>SQL&gt; INSERT INTO t2 VALUES</a:t>
            </a:r>
          </a:p>
          <a:p>
            <a:r>
              <a:rPr lang="en-US" sz="2000" dirty="0">
                <a:solidFill>
                  <a:srgbClr val="000000"/>
                </a:solidFill>
                <a:latin typeface="Courier New" pitchFamily="49" charset="0"/>
              </a:rPr>
              <a:t>('TEST2', 'This will be ok', SYSDATE);</a:t>
            </a:r>
          </a:p>
          <a:p>
            <a:r>
              <a:rPr lang="en-US" sz="2000" dirty="0">
                <a:solidFill>
                  <a:srgbClr val="000000"/>
                </a:solidFill>
                <a:latin typeface="Courier New" pitchFamily="49" charset="0"/>
              </a:rPr>
              <a:t>1 row created</a:t>
            </a:r>
            <a:r>
              <a:rPr lang="en-US" dirty="0">
                <a:solidFill>
                  <a:srgbClr val="000000"/>
                </a:solidFill>
                <a:latin typeface="Courier New" pitchFamily="49" charset="0"/>
              </a:rPr>
              <a:t>.</a:t>
            </a:r>
          </a:p>
        </p:txBody>
      </p:sp>
      <p:cxnSp>
        <p:nvCxnSpPr>
          <p:cNvPr id="4" name="Straight Connector 3">
            <a:extLst>
              <a:ext uri="{FF2B5EF4-FFF2-40B4-BE49-F238E27FC236}">
                <a16:creationId xmlns:a16="http://schemas.microsoft.com/office/drawing/2014/main" id="{B220022A-2EE1-5204-F7C3-1F007BCCDEED}"/>
              </a:ext>
            </a:extLst>
          </p:cNvPr>
          <p:cNvCxnSpPr/>
          <p:nvPr/>
        </p:nvCxnSpPr>
        <p:spPr>
          <a:xfrm>
            <a:off x="1524000" y="1765434"/>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620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31075-CC38-3801-CF5C-4B496AE529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CD198F-EF69-0C89-56F0-F15003E34E08}"/>
              </a:ext>
            </a:extLst>
          </p:cNvPr>
          <p:cNvSpPr txBox="1">
            <a:spLocks noChangeArrowheads="1"/>
          </p:cNvSpPr>
          <p:nvPr/>
        </p:nvSpPr>
        <p:spPr bwMode="auto">
          <a:xfrm>
            <a:off x="2173199" y="1098193"/>
            <a:ext cx="76200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600" dirty="0">
                <a:solidFill>
                  <a:srgbClr val="000000"/>
                </a:solidFill>
                <a:latin typeface="Gill Sans" charset="0"/>
              </a:rPr>
              <a:t>Using implicit conversion instead of TO_CHAR</a:t>
            </a:r>
          </a:p>
        </p:txBody>
      </p:sp>
      <p:sp>
        <p:nvSpPr>
          <p:cNvPr id="3" name="Rectangle 2">
            <a:extLst>
              <a:ext uri="{FF2B5EF4-FFF2-40B4-BE49-F238E27FC236}">
                <a16:creationId xmlns:a16="http://schemas.microsoft.com/office/drawing/2014/main" id="{B1EFDD6B-7228-202A-9475-F4EDA0C50AA3}"/>
              </a:ext>
            </a:extLst>
          </p:cNvPr>
          <p:cNvSpPr>
            <a:spLocks noChangeArrowheads="1"/>
          </p:cNvSpPr>
          <p:nvPr/>
        </p:nvSpPr>
        <p:spPr bwMode="auto">
          <a:xfrm>
            <a:off x="2233863" y="2586789"/>
            <a:ext cx="81534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solidFill>
                  <a:srgbClr val="000000"/>
                </a:solidFill>
                <a:latin typeface="Courier New" pitchFamily="49" charset="0"/>
              </a:rPr>
              <a:t>SQL&gt; select  * from t2;</a:t>
            </a:r>
          </a:p>
          <a:p>
            <a:r>
              <a:rPr lang="en-US">
                <a:solidFill>
                  <a:srgbClr val="000000"/>
                </a:solidFill>
                <a:latin typeface="Courier New" pitchFamily="49" charset="0"/>
              </a:rPr>
              <a:t>COL1       COL2                      COL3</a:t>
            </a:r>
          </a:p>
          <a:p>
            <a:r>
              <a:rPr lang="en-US">
                <a:solidFill>
                  <a:srgbClr val="000000"/>
                </a:solidFill>
                <a:latin typeface="Courier New" pitchFamily="49" charset="0"/>
              </a:rPr>
              <a:t>---------- ------------------------- -------------------</a:t>
            </a:r>
          </a:p>
          <a:p>
            <a:r>
              <a:rPr lang="en-US">
                <a:solidFill>
                  <a:srgbClr val="000000"/>
                </a:solidFill>
                <a:latin typeface="Courier New" pitchFamily="49" charset="0"/>
              </a:rPr>
              <a:t>TEST1      This will be bad          0002-01-11 08:00:00</a:t>
            </a:r>
          </a:p>
          <a:p>
            <a:r>
              <a:rPr lang="en-US">
                <a:solidFill>
                  <a:srgbClr val="000000"/>
                </a:solidFill>
                <a:latin typeface="Courier New" pitchFamily="49" charset="0"/>
              </a:rPr>
              <a:t>TEST2      This should be ok         2011-01-02 08:25:40</a:t>
            </a:r>
          </a:p>
          <a:p>
            <a:endParaRPr lang="en-US">
              <a:solidFill>
                <a:srgbClr val="000000"/>
              </a:solidFill>
              <a:latin typeface="Courier New" pitchFamily="49" charset="0"/>
            </a:endParaRPr>
          </a:p>
          <a:p>
            <a:r>
              <a:rPr lang="en-US">
                <a:solidFill>
                  <a:srgbClr val="000000"/>
                </a:solidFill>
                <a:latin typeface="Courier New" pitchFamily="49" charset="0"/>
              </a:rPr>
              <a:t>SQL&gt; show parameter nls_date_format</a:t>
            </a:r>
          </a:p>
          <a:p>
            <a:r>
              <a:rPr lang="en-US">
                <a:solidFill>
                  <a:srgbClr val="000000"/>
                </a:solidFill>
                <a:latin typeface="Courier New" pitchFamily="49" charset="0"/>
              </a:rPr>
              <a:t>NAME             TYPE        VALUE</a:t>
            </a:r>
          </a:p>
          <a:p>
            <a:r>
              <a:rPr lang="en-US">
                <a:solidFill>
                  <a:srgbClr val="000000"/>
                </a:solidFill>
                <a:latin typeface="Courier New" pitchFamily="49" charset="0"/>
              </a:rPr>
              <a:t>---------------- ----------- ---------------------</a:t>
            </a:r>
          </a:p>
          <a:p>
            <a:r>
              <a:rPr lang="en-US">
                <a:solidFill>
                  <a:srgbClr val="000000"/>
                </a:solidFill>
                <a:latin typeface="Courier New" pitchFamily="49" charset="0"/>
              </a:rPr>
              <a:t>nls_date_format  string      YYYY-MM-DD HH24:MI:SS</a:t>
            </a:r>
          </a:p>
        </p:txBody>
      </p:sp>
      <p:cxnSp>
        <p:nvCxnSpPr>
          <p:cNvPr id="4" name="Straight Connector 3">
            <a:extLst>
              <a:ext uri="{FF2B5EF4-FFF2-40B4-BE49-F238E27FC236}">
                <a16:creationId xmlns:a16="http://schemas.microsoft.com/office/drawing/2014/main" id="{549C298C-49F1-4C66-A49E-45023E8C7D77}"/>
              </a:ext>
            </a:extLst>
          </p:cNvPr>
          <p:cNvCxnSpPr/>
          <p:nvPr/>
        </p:nvCxnSpPr>
        <p:spPr>
          <a:xfrm>
            <a:off x="1384566" y="1824789"/>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9558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68B25-95F3-E8C8-07C1-6B59448932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BF9C692-2625-6E8B-A457-DD14C7A601D8}"/>
              </a:ext>
            </a:extLst>
          </p:cNvPr>
          <p:cNvSpPr txBox="1">
            <a:spLocks noChangeArrowheads="1"/>
          </p:cNvSpPr>
          <p:nvPr/>
        </p:nvSpPr>
        <p:spPr bwMode="auto">
          <a:xfrm>
            <a:off x="2286000" y="685803"/>
            <a:ext cx="76200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600" dirty="0">
                <a:solidFill>
                  <a:srgbClr val="000000"/>
                </a:solidFill>
                <a:latin typeface="Gill Sans" charset="0"/>
              </a:rPr>
              <a:t>Using implicit conversion instead of TO_CHAR</a:t>
            </a:r>
          </a:p>
        </p:txBody>
      </p:sp>
      <p:sp>
        <p:nvSpPr>
          <p:cNvPr id="3" name="Rectangle 2">
            <a:extLst>
              <a:ext uri="{FF2B5EF4-FFF2-40B4-BE49-F238E27FC236}">
                <a16:creationId xmlns:a16="http://schemas.microsoft.com/office/drawing/2014/main" id="{2B53F85B-8F74-9CEC-978E-819704FCCA4F}"/>
              </a:ext>
            </a:extLst>
          </p:cNvPr>
          <p:cNvSpPr>
            <a:spLocks noChangeArrowheads="1"/>
          </p:cNvSpPr>
          <p:nvPr/>
        </p:nvSpPr>
        <p:spPr bwMode="auto">
          <a:xfrm>
            <a:off x="2316956" y="2192154"/>
            <a:ext cx="81534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dirty="0">
                <a:solidFill>
                  <a:srgbClr val="000000"/>
                </a:solidFill>
                <a:latin typeface="Courier New" pitchFamily="49" charset="0"/>
              </a:rPr>
              <a:t>SQL&gt; select </a:t>
            </a:r>
          </a:p>
          <a:p>
            <a:r>
              <a:rPr lang="en-US" dirty="0">
                <a:solidFill>
                  <a:srgbClr val="000000"/>
                </a:solidFill>
                <a:latin typeface="Courier New" pitchFamily="49" charset="0"/>
              </a:rPr>
              <a:t>        </a:t>
            </a:r>
            <a:r>
              <a:rPr lang="en-US" dirty="0" err="1">
                <a:solidFill>
                  <a:srgbClr val="000000"/>
                </a:solidFill>
                <a:latin typeface="Courier New" pitchFamily="49" charset="0"/>
              </a:rPr>
              <a:t>to_char</a:t>
            </a:r>
            <a:r>
              <a:rPr lang="en-US" dirty="0">
                <a:solidFill>
                  <a:srgbClr val="000000"/>
                </a:solidFill>
                <a:latin typeface="Courier New" pitchFamily="49" charset="0"/>
              </a:rPr>
              <a:t>(</a:t>
            </a:r>
            <a:r>
              <a:rPr lang="en-US" dirty="0" err="1">
                <a:solidFill>
                  <a:srgbClr val="000000"/>
                </a:solidFill>
                <a:latin typeface="Courier New" pitchFamily="49" charset="0"/>
              </a:rPr>
              <a:t>sysdate</a:t>
            </a:r>
            <a:r>
              <a:rPr lang="en-US" dirty="0">
                <a:solidFill>
                  <a:srgbClr val="000000"/>
                </a:solidFill>
                <a:latin typeface="Courier New" pitchFamily="49" charset="0"/>
              </a:rPr>
              <a:t>,'</a:t>
            </a:r>
            <a:r>
              <a:rPr lang="en-US" dirty="0" err="1">
                <a:solidFill>
                  <a:srgbClr val="000000"/>
                </a:solidFill>
                <a:latin typeface="Courier New" pitchFamily="49" charset="0"/>
              </a:rPr>
              <a:t>yyyy</a:t>
            </a:r>
            <a:r>
              <a:rPr lang="en-US" dirty="0">
                <a:solidFill>
                  <a:srgbClr val="000000"/>
                </a:solidFill>
                <a:latin typeface="Courier New" pitchFamily="49" charset="0"/>
              </a:rPr>
              <a:t>-mm-dd hh24:mi:ss'),</a:t>
            </a:r>
          </a:p>
          <a:p>
            <a:r>
              <a:rPr lang="en-US" dirty="0">
                <a:solidFill>
                  <a:srgbClr val="000000"/>
                </a:solidFill>
                <a:latin typeface="Courier New" pitchFamily="49" charset="0"/>
              </a:rPr>
              <a:t>        </a:t>
            </a:r>
            <a:r>
              <a:rPr lang="en-US" dirty="0" err="1">
                <a:solidFill>
                  <a:srgbClr val="000000"/>
                </a:solidFill>
                <a:latin typeface="Courier New" pitchFamily="49" charset="0"/>
              </a:rPr>
              <a:t>sysdate</a:t>
            </a:r>
            <a:r>
              <a:rPr lang="en-US" dirty="0">
                <a:solidFill>
                  <a:srgbClr val="000000"/>
                </a:solidFill>
                <a:latin typeface="Courier New" pitchFamily="49" charset="0"/>
              </a:rPr>
              <a:t> </a:t>
            </a:r>
          </a:p>
          <a:p>
            <a:r>
              <a:rPr lang="en-US" dirty="0">
                <a:solidFill>
                  <a:srgbClr val="000000"/>
                </a:solidFill>
                <a:latin typeface="Courier New" pitchFamily="49" charset="0"/>
              </a:rPr>
              <a:t>     from dual;</a:t>
            </a:r>
          </a:p>
          <a:p>
            <a:endParaRPr lang="en-US" dirty="0">
              <a:solidFill>
                <a:srgbClr val="000000"/>
              </a:solidFill>
              <a:latin typeface="Courier New" pitchFamily="49" charset="0"/>
            </a:endParaRPr>
          </a:p>
          <a:p>
            <a:endParaRPr lang="en-US" dirty="0">
              <a:solidFill>
                <a:srgbClr val="000000"/>
              </a:solidFill>
              <a:latin typeface="Courier New" pitchFamily="49" charset="0"/>
            </a:endParaRPr>
          </a:p>
          <a:p>
            <a:endParaRPr lang="en-US" dirty="0">
              <a:solidFill>
                <a:srgbClr val="000000"/>
              </a:solidFill>
              <a:latin typeface="Courier New" pitchFamily="49" charset="0"/>
            </a:endParaRPr>
          </a:p>
        </p:txBody>
      </p:sp>
      <p:sp>
        <p:nvSpPr>
          <p:cNvPr id="4" name="TextBox 3">
            <a:extLst>
              <a:ext uri="{FF2B5EF4-FFF2-40B4-BE49-F238E27FC236}">
                <a16:creationId xmlns:a16="http://schemas.microsoft.com/office/drawing/2014/main" id="{964C5263-31A0-DF79-2CCA-10E6748CADB8}"/>
              </a:ext>
            </a:extLst>
          </p:cNvPr>
          <p:cNvSpPr txBox="1">
            <a:spLocks noChangeArrowheads="1"/>
          </p:cNvSpPr>
          <p:nvPr/>
        </p:nvSpPr>
        <p:spPr bwMode="auto">
          <a:xfrm>
            <a:off x="2350294" y="4687704"/>
            <a:ext cx="7491153"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solidFill>
                  <a:srgbClr val="000000"/>
                </a:solidFill>
                <a:latin typeface="Courier New" pitchFamily="49" charset="0"/>
              </a:rPr>
              <a:t>SQL&gt; select value from </a:t>
            </a:r>
            <a:r>
              <a:rPr lang="en-US" dirty="0" err="1">
                <a:solidFill>
                  <a:srgbClr val="000000"/>
                </a:solidFill>
                <a:latin typeface="Courier New" pitchFamily="49" charset="0"/>
              </a:rPr>
              <a:t>v$nls_parameters</a:t>
            </a:r>
            <a:r>
              <a:rPr lang="en-US" dirty="0">
                <a:solidFill>
                  <a:srgbClr val="000000"/>
                </a:solidFill>
                <a:latin typeface="Courier New" pitchFamily="49" charset="0"/>
              </a:rPr>
              <a:t> </a:t>
            </a:r>
          </a:p>
          <a:p>
            <a:pPr eaLnBrk="1" hangingPunct="1"/>
            <a:r>
              <a:rPr lang="en-US" dirty="0">
                <a:solidFill>
                  <a:srgbClr val="000000"/>
                </a:solidFill>
                <a:latin typeface="Courier New" pitchFamily="49" charset="0"/>
              </a:rPr>
              <a:t>   where parameter = 'NLS_DATE_FORMAT';</a:t>
            </a:r>
          </a:p>
          <a:p>
            <a:pPr eaLnBrk="1" hangingPunct="1"/>
            <a:endParaRPr lang="en-US" dirty="0">
              <a:solidFill>
                <a:srgbClr val="000000"/>
              </a:solidFill>
              <a:latin typeface="Courier New" pitchFamily="49" charset="0"/>
            </a:endParaRPr>
          </a:p>
          <a:p>
            <a:pPr eaLnBrk="1" hangingPunct="1"/>
            <a:r>
              <a:rPr lang="en-US" dirty="0">
                <a:solidFill>
                  <a:srgbClr val="000000"/>
                </a:solidFill>
                <a:latin typeface="Courier New" pitchFamily="49" charset="0"/>
              </a:rPr>
              <a:t>VALUE</a:t>
            </a:r>
          </a:p>
          <a:p>
            <a:pPr eaLnBrk="1" hangingPunct="1"/>
            <a:r>
              <a:rPr lang="en-US" dirty="0">
                <a:solidFill>
                  <a:srgbClr val="000000"/>
                </a:solidFill>
                <a:latin typeface="Courier New" pitchFamily="49" charset="0"/>
              </a:rPr>
              <a:t>-----------------------------------------------------</a:t>
            </a:r>
          </a:p>
          <a:p>
            <a:pPr eaLnBrk="1" hangingPunct="1"/>
            <a:r>
              <a:rPr lang="en-US" dirty="0">
                <a:solidFill>
                  <a:srgbClr val="000000"/>
                </a:solidFill>
                <a:latin typeface="Courier New" pitchFamily="49" charset="0"/>
              </a:rPr>
              <a:t>"2000-01-23 12:34:56"</a:t>
            </a:r>
            <a:endParaRPr lang="en-US" dirty="0"/>
          </a:p>
        </p:txBody>
      </p:sp>
      <p:sp>
        <p:nvSpPr>
          <p:cNvPr id="5" name="TextBox 4">
            <a:extLst>
              <a:ext uri="{FF2B5EF4-FFF2-40B4-BE49-F238E27FC236}">
                <a16:creationId xmlns:a16="http://schemas.microsoft.com/office/drawing/2014/main" id="{8AE0745E-EF76-629D-60A0-97F122504BE1}"/>
              </a:ext>
            </a:extLst>
          </p:cNvPr>
          <p:cNvSpPr txBox="1">
            <a:spLocks noChangeArrowheads="1"/>
          </p:cNvSpPr>
          <p:nvPr/>
        </p:nvSpPr>
        <p:spPr bwMode="auto">
          <a:xfrm>
            <a:off x="2366169" y="3487554"/>
            <a:ext cx="76200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solidFill>
                  <a:srgbClr val="000000"/>
                </a:solidFill>
                <a:latin typeface="Courier New" pitchFamily="49" charset="0"/>
              </a:rPr>
              <a:t>TO_CHAR(SYSDATE,'YY SYSDATE</a:t>
            </a:r>
          </a:p>
          <a:p>
            <a:pPr eaLnBrk="1" hangingPunct="1"/>
            <a:r>
              <a:rPr lang="en-US" dirty="0">
                <a:solidFill>
                  <a:srgbClr val="000000"/>
                </a:solidFill>
                <a:latin typeface="Courier New" pitchFamily="49" charset="0"/>
              </a:rPr>
              <a:t>------------------- -------------------</a:t>
            </a:r>
          </a:p>
          <a:p>
            <a:pPr eaLnBrk="1" hangingPunct="1"/>
            <a:r>
              <a:rPr lang="en-US" dirty="0">
                <a:solidFill>
                  <a:srgbClr val="000000"/>
                </a:solidFill>
                <a:latin typeface="Courier New" pitchFamily="49" charset="0"/>
              </a:rPr>
              <a:t>2026-05-25 10:46:15 2000-01-23 12:34:56</a:t>
            </a:r>
            <a:endParaRPr lang="en-US" dirty="0"/>
          </a:p>
        </p:txBody>
      </p:sp>
      <p:cxnSp>
        <p:nvCxnSpPr>
          <p:cNvPr id="6" name="Straight Connector 5">
            <a:extLst>
              <a:ext uri="{FF2B5EF4-FFF2-40B4-BE49-F238E27FC236}">
                <a16:creationId xmlns:a16="http://schemas.microsoft.com/office/drawing/2014/main" id="{24CDD146-9948-D0C7-CA79-AA05F89A81ED}"/>
              </a:ext>
            </a:extLst>
          </p:cNvPr>
          <p:cNvCxnSpPr/>
          <p:nvPr/>
        </p:nvCxnSpPr>
        <p:spPr>
          <a:xfrm>
            <a:off x="1491333" y="1430154"/>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507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160D2-ED11-9CAE-2828-A715EB64F2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83FC09-54A5-5E33-75FF-58F62367690A}"/>
              </a:ext>
            </a:extLst>
          </p:cNvPr>
          <p:cNvSpPr txBox="1">
            <a:spLocks noChangeArrowheads="1"/>
          </p:cNvSpPr>
          <p:nvPr/>
        </p:nvSpPr>
        <p:spPr bwMode="auto">
          <a:xfrm>
            <a:off x="2286000" y="908586"/>
            <a:ext cx="76200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600" dirty="0">
                <a:solidFill>
                  <a:srgbClr val="000000"/>
                </a:solidFill>
                <a:latin typeface="Gill Sans" charset="0"/>
              </a:rPr>
              <a:t>Using implicit conversion instead of TO_CHAR</a:t>
            </a:r>
          </a:p>
        </p:txBody>
      </p:sp>
      <p:sp>
        <p:nvSpPr>
          <p:cNvPr id="3" name="Rectangle 2">
            <a:extLst>
              <a:ext uri="{FF2B5EF4-FFF2-40B4-BE49-F238E27FC236}">
                <a16:creationId xmlns:a16="http://schemas.microsoft.com/office/drawing/2014/main" id="{2E76FCD8-5B53-EC5F-5E5C-2CDFDA62A063}"/>
              </a:ext>
            </a:extLst>
          </p:cNvPr>
          <p:cNvSpPr>
            <a:spLocks noChangeArrowheads="1"/>
          </p:cNvSpPr>
          <p:nvPr/>
        </p:nvSpPr>
        <p:spPr bwMode="auto">
          <a:xfrm>
            <a:off x="2346664" y="2413535"/>
            <a:ext cx="8153400"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dirty="0">
                <a:solidFill>
                  <a:srgbClr val="000000"/>
                </a:solidFill>
                <a:latin typeface="Courier New" pitchFamily="49" charset="0"/>
              </a:rPr>
              <a:t>SQL&gt; alter session set </a:t>
            </a:r>
          </a:p>
          <a:p>
            <a:r>
              <a:rPr lang="en-US" dirty="0">
                <a:solidFill>
                  <a:srgbClr val="000000"/>
                </a:solidFill>
                <a:latin typeface="Courier New" pitchFamily="49" charset="0"/>
              </a:rPr>
              <a:t>   </a:t>
            </a:r>
            <a:r>
              <a:rPr lang="en-US" dirty="0" err="1">
                <a:solidFill>
                  <a:srgbClr val="000000"/>
                </a:solidFill>
                <a:latin typeface="Courier New" pitchFamily="49" charset="0"/>
              </a:rPr>
              <a:t>nls_date_format</a:t>
            </a:r>
            <a:r>
              <a:rPr lang="en-US" dirty="0">
                <a:solidFill>
                  <a:srgbClr val="000000"/>
                </a:solidFill>
                <a:latin typeface="Courier New" pitchFamily="49" charset="0"/>
              </a:rPr>
              <a:t>='"I </a:t>
            </a:r>
            <a:r>
              <a:rPr lang="en-US" dirty="0" err="1">
                <a:solidFill>
                  <a:srgbClr val="000000"/>
                </a:solidFill>
                <a:latin typeface="Courier New" pitchFamily="49" charset="0"/>
              </a:rPr>
              <a:t>don''t</a:t>
            </a:r>
            <a:r>
              <a:rPr lang="en-US" dirty="0">
                <a:solidFill>
                  <a:srgbClr val="000000"/>
                </a:solidFill>
                <a:latin typeface="Courier New" pitchFamily="49" charset="0"/>
              </a:rPr>
              <a:t> trust NLS_DATE_FORMAT"';</a:t>
            </a:r>
          </a:p>
          <a:p>
            <a:endParaRPr lang="en-US" dirty="0">
              <a:solidFill>
                <a:srgbClr val="000000"/>
              </a:solidFill>
              <a:latin typeface="Courier New" pitchFamily="49" charset="0"/>
            </a:endParaRPr>
          </a:p>
          <a:p>
            <a:r>
              <a:rPr lang="en-US" dirty="0">
                <a:solidFill>
                  <a:srgbClr val="000000"/>
                </a:solidFill>
                <a:latin typeface="Courier New" pitchFamily="49" charset="0"/>
              </a:rPr>
              <a:t>Session altered.</a:t>
            </a:r>
          </a:p>
          <a:p>
            <a:endParaRPr lang="en-US" dirty="0">
              <a:solidFill>
                <a:srgbClr val="000000"/>
              </a:solidFill>
              <a:latin typeface="Courier New" pitchFamily="49" charset="0"/>
            </a:endParaRPr>
          </a:p>
          <a:p>
            <a:r>
              <a:rPr lang="en-US" dirty="0">
                <a:solidFill>
                  <a:srgbClr val="000000"/>
                </a:solidFill>
                <a:latin typeface="Courier New" pitchFamily="49" charset="0"/>
              </a:rPr>
              <a:t>SQL&gt; select </a:t>
            </a:r>
          </a:p>
          <a:p>
            <a:r>
              <a:rPr lang="en-US" dirty="0">
                <a:solidFill>
                  <a:srgbClr val="000000"/>
                </a:solidFill>
                <a:latin typeface="Courier New" pitchFamily="49" charset="0"/>
              </a:rPr>
              <a:t>        </a:t>
            </a:r>
            <a:r>
              <a:rPr lang="en-US" dirty="0" err="1">
                <a:solidFill>
                  <a:srgbClr val="000000"/>
                </a:solidFill>
                <a:latin typeface="Courier New" pitchFamily="49" charset="0"/>
              </a:rPr>
              <a:t>to_char</a:t>
            </a:r>
            <a:r>
              <a:rPr lang="en-US" dirty="0">
                <a:solidFill>
                  <a:srgbClr val="000000"/>
                </a:solidFill>
                <a:latin typeface="Courier New" pitchFamily="49" charset="0"/>
              </a:rPr>
              <a:t>(</a:t>
            </a:r>
            <a:r>
              <a:rPr lang="en-US" dirty="0" err="1">
                <a:solidFill>
                  <a:srgbClr val="000000"/>
                </a:solidFill>
                <a:latin typeface="Courier New" pitchFamily="49" charset="0"/>
              </a:rPr>
              <a:t>sysdate</a:t>
            </a:r>
            <a:r>
              <a:rPr lang="en-US" dirty="0">
                <a:solidFill>
                  <a:srgbClr val="000000"/>
                </a:solidFill>
                <a:latin typeface="Courier New" pitchFamily="49" charset="0"/>
              </a:rPr>
              <a:t>,'</a:t>
            </a:r>
            <a:r>
              <a:rPr lang="en-US" dirty="0" err="1">
                <a:solidFill>
                  <a:srgbClr val="000000"/>
                </a:solidFill>
                <a:latin typeface="Courier New" pitchFamily="49" charset="0"/>
              </a:rPr>
              <a:t>yyyy</a:t>
            </a:r>
            <a:r>
              <a:rPr lang="en-US" dirty="0">
                <a:solidFill>
                  <a:srgbClr val="000000"/>
                </a:solidFill>
                <a:latin typeface="Courier New" pitchFamily="49" charset="0"/>
              </a:rPr>
              <a:t>-mm-dd hh24:mi:ss'), </a:t>
            </a:r>
          </a:p>
          <a:p>
            <a:r>
              <a:rPr lang="en-US" dirty="0">
                <a:solidFill>
                  <a:srgbClr val="000000"/>
                </a:solidFill>
                <a:latin typeface="Courier New" pitchFamily="49" charset="0"/>
              </a:rPr>
              <a:t>        </a:t>
            </a:r>
            <a:r>
              <a:rPr lang="en-US" dirty="0" err="1">
                <a:solidFill>
                  <a:srgbClr val="000000"/>
                </a:solidFill>
                <a:latin typeface="Courier New" pitchFamily="49" charset="0"/>
              </a:rPr>
              <a:t>sysdate</a:t>
            </a:r>
            <a:endParaRPr lang="en-US" dirty="0">
              <a:solidFill>
                <a:srgbClr val="000000"/>
              </a:solidFill>
              <a:latin typeface="Courier New" pitchFamily="49" charset="0"/>
            </a:endParaRPr>
          </a:p>
          <a:p>
            <a:r>
              <a:rPr lang="en-US" dirty="0">
                <a:solidFill>
                  <a:srgbClr val="000000"/>
                </a:solidFill>
                <a:latin typeface="Courier New" pitchFamily="49" charset="0"/>
              </a:rPr>
              <a:t>     from dual;</a:t>
            </a:r>
          </a:p>
          <a:p>
            <a:endParaRPr lang="en-US" dirty="0">
              <a:solidFill>
                <a:srgbClr val="000000"/>
              </a:solidFill>
              <a:latin typeface="Courier New" pitchFamily="49" charset="0"/>
            </a:endParaRPr>
          </a:p>
          <a:p>
            <a:r>
              <a:rPr lang="en-US" dirty="0">
                <a:solidFill>
                  <a:srgbClr val="000000"/>
                </a:solidFill>
                <a:latin typeface="Courier New" pitchFamily="49" charset="0"/>
              </a:rPr>
              <a:t>TO_CHAR(SYSDATE,'YY SYSDATE</a:t>
            </a:r>
          </a:p>
          <a:p>
            <a:r>
              <a:rPr lang="en-US" dirty="0">
                <a:solidFill>
                  <a:srgbClr val="000000"/>
                </a:solidFill>
                <a:latin typeface="Courier New" pitchFamily="49" charset="0"/>
              </a:rPr>
              <a:t>------------------- --------------------------</a:t>
            </a:r>
          </a:p>
          <a:p>
            <a:r>
              <a:rPr lang="en-US" dirty="0">
                <a:solidFill>
                  <a:srgbClr val="000000"/>
                </a:solidFill>
                <a:latin typeface="Courier New" pitchFamily="49" charset="0"/>
              </a:rPr>
              <a:t>2026-05-30 13:09:32 I don't trust NLS_DATE_FORMAT</a:t>
            </a:r>
          </a:p>
        </p:txBody>
      </p:sp>
      <p:cxnSp>
        <p:nvCxnSpPr>
          <p:cNvPr id="4" name="Straight Connector 3">
            <a:extLst>
              <a:ext uri="{FF2B5EF4-FFF2-40B4-BE49-F238E27FC236}">
                <a16:creationId xmlns:a16="http://schemas.microsoft.com/office/drawing/2014/main" id="{C075D1C0-6F1E-EAA4-67D9-60696B46CF2D}"/>
              </a:ext>
            </a:extLst>
          </p:cNvPr>
          <p:cNvCxnSpPr/>
          <p:nvPr/>
        </p:nvCxnSpPr>
        <p:spPr>
          <a:xfrm>
            <a:off x="1524000" y="1727735"/>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8189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160D2-ED11-9CAE-2828-A715EB64F2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83FC09-54A5-5E33-75FF-58F62367690A}"/>
              </a:ext>
            </a:extLst>
          </p:cNvPr>
          <p:cNvSpPr txBox="1">
            <a:spLocks noChangeArrowheads="1"/>
          </p:cNvSpPr>
          <p:nvPr/>
        </p:nvSpPr>
        <p:spPr bwMode="auto">
          <a:xfrm>
            <a:off x="2286000" y="908586"/>
            <a:ext cx="76200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600" dirty="0">
                <a:solidFill>
                  <a:srgbClr val="000000"/>
                </a:solidFill>
                <a:latin typeface="Gill Sans" charset="0"/>
              </a:rPr>
              <a:t>What if you have a bad date?</a:t>
            </a:r>
          </a:p>
        </p:txBody>
      </p:sp>
      <p:sp>
        <p:nvSpPr>
          <p:cNvPr id="3" name="Rectangle 2">
            <a:extLst>
              <a:ext uri="{FF2B5EF4-FFF2-40B4-BE49-F238E27FC236}">
                <a16:creationId xmlns:a16="http://schemas.microsoft.com/office/drawing/2014/main" id="{2E76FCD8-5B53-EC5F-5E5C-2CDFDA62A063}"/>
              </a:ext>
            </a:extLst>
          </p:cNvPr>
          <p:cNvSpPr>
            <a:spLocks noChangeArrowheads="1"/>
          </p:cNvSpPr>
          <p:nvPr/>
        </p:nvSpPr>
        <p:spPr bwMode="auto">
          <a:xfrm>
            <a:off x="1017037" y="2413535"/>
            <a:ext cx="1049693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dirty="0">
                <a:solidFill>
                  <a:srgbClr val="000000"/>
                </a:solidFill>
                <a:latin typeface="Courier New" pitchFamily="49" charset="0"/>
              </a:rPr>
              <a:t>SQL&gt; select </a:t>
            </a:r>
            <a:r>
              <a:rPr lang="en-US" dirty="0" err="1">
                <a:solidFill>
                  <a:srgbClr val="000000"/>
                </a:solidFill>
                <a:latin typeface="Courier New" pitchFamily="49" charset="0"/>
              </a:rPr>
              <a:t>to_date</a:t>
            </a:r>
            <a:r>
              <a:rPr lang="en-US" dirty="0">
                <a:solidFill>
                  <a:srgbClr val="000000"/>
                </a:solidFill>
                <a:latin typeface="Courier New" pitchFamily="49" charset="0"/>
              </a:rPr>
              <a:t>('9999-99-99','yyyy-mm-dd') from dual;</a:t>
            </a:r>
          </a:p>
          <a:p>
            <a:r>
              <a:rPr lang="en-US" dirty="0">
                <a:solidFill>
                  <a:srgbClr val="000000"/>
                </a:solidFill>
                <a:latin typeface="Courier New" pitchFamily="49" charset="0"/>
              </a:rPr>
              <a:t>select </a:t>
            </a:r>
            <a:r>
              <a:rPr lang="en-US" dirty="0" err="1">
                <a:solidFill>
                  <a:srgbClr val="000000"/>
                </a:solidFill>
                <a:latin typeface="Courier New" pitchFamily="49" charset="0"/>
              </a:rPr>
              <a:t>to_date</a:t>
            </a:r>
            <a:r>
              <a:rPr lang="en-US" dirty="0">
                <a:solidFill>
                  <a:srgbClr val="000000"/>
                </a:solidFill>
                <a:latin typeface="Courier New" pitchFamily="49" charset="0"/>
              </a:rPr>
              <a:t>('9999-99-99','yyyy-mm-dd') from dual</a:t>
            </a:r>
          </a:p>
          <a:p>
            <a:r>
              <a:rPr lang="en-US" dirty="0">
                <a:solidFill>
                  <a:srgbClr val="000000"/>
                </a:solidFill>
                <a:latin typeface="Courier New" pitchFamily="49" charset="0"/>
              </a:rPr>
              <a:t>               *</a:t>
            </a:r>
          </a:p>
          <a:p>
            <a:r>
              <a:rPr lang="en-US" dirty="0">
                <a:solidFill>
                  <a:srgbClr val="000000"/>
                </a:solidFill>
                <a:latin typeface="Courier New" pitchFamily="49" charset="0"/>
              </a:rPr>
              <a:t>ERROR at line 1:</a:t>
            </a:r>
          </a:p>
          <a:p>
            <a:r>
              <a:rPr lang="en-US" dirty="0">
                <a:solidFill>
                  <a:srgbClr val="000000"/>
                </a:solidFill>
                <a:latin typeface="Courier New" pitchFamily="49" charset="0"/>
              </a:rPr>
              <a:t>ORA-01843: An invalid month was specified.</a:t>
            </a:r>
          </a:p>
        </p:txBody>
      </p:sp>
      <p:cxnSp>
        <p:nvCxnSpPr>
          <p:cNvPr id="4" name="Straight Connector 3">
            <a:extLst>
              <a:ext uri="{FF2B5EF4-FFF2-40B4-BE49-F238E27FC236}">
                <a16:creationId xmlns:a16="http://schemas.microsoft.com/office/drawing/2014/main" id="{C075D1C0-6F1E-EAA4-67D9-60696B46CF2D}"/>
              </a:ext>
            </a:extLst>
          </p:cNvPr>
          <p:cNvCxnSpPr/>
          <p:nvPr/>
        </p:nvCxnSpPr>
        <p:spPr>
          <a:xfrm>
            <a:off x="1524000" y="1727735"/>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C86D477-624D-AB03-0239-3464A8C63E0D}"/>
              </a:ext>
            </a:extLst>
          </p:cNvPr>
          <p:cNvSpPr txBox="1"/>
          <p:nvPr/>
        </p:nvSpPr>
        <p:spPr>
          <a:xfrm>
            <a:off x="849086" y="4133461"/>
            <a:ext cx="11019453" cy="2308324"/>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SQL&gt; SELECT TO_DATE('9999-99-99' </a:t>
            </a:r>
          </a:p>
          <a:p>
            <a:r>
              <a:rPr lang="en-US" dirty="0">
                <a:latin typeface="Courier New" panose="02070309020205020404" pitchFamily="49" charset="0"/>
                <a:cs typeface="Courier New" panose="02070309020205020404" pitchFamily="49" charset="0"/>
              </a:rPr>
              <a:t>       DEFAULT '2000-01-01' ON CONVERSION ERROR,</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yyyy</a:t>
            </a:r>
            <a:r>
              <a:rPr lang="en-US" dirty="0">
                <a:latin typeface="Courier New" panose="02070309020205020404" pitchFamily="49" charset="0"/>
                <a:cs typeface="Courier New" panose="02070309020205020404" pitchFamily="49" charset="0"/>
              </a:rPr>
              <a:t>-mm-dd') </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default_date</a:t>
            </a:r>
            <a:r>
              <a:rPr lang="en-US" dirty="0">
                <a:latin typeface="Courier New" panose="02070309020205020404" pitchFamily="49" charset="0"/>
                <a:cs typeface="Courier New" panose="02070309020205020404" pitchFamily="49" charset="0"/>
              </a:rPr>
              <a:t> FROM DUAL;</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DEFAULT_DATE</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2000-01-01 00:00:00</a:t>
            </a:r>
          </a:p>
        </p:txBody>
      </p:sp>
    </p:spTree>
    <p:extLst>
      <p:ext uri="{BB962C8B-B14F-4D97-AF65-F5344CB8AC3E}">
        <p14:creationId xmlns:p14="http://schemas.microsoft.com/office/powerpoint/2010/main" val="401597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160D2-ED11-9CAE-2828-A715EB64F2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83FC09-54A5-5E33-75FF-58F62367690A}"/>
              </a:ext>
            </a:extLst>
          </p:cNvPr>
          <p:cNvSpPr txBox="1">
            <a:spLocks noChangeArrowheads="1"/>
          </p:cNvSpPr>
          <p:nvPr/>
        </p:nvSpPr>
        <p:spPr bwMode="auto">
          <a:xfrm>
            <a:off x="2286000" y="908586"/>
            <a:ext cx="76200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600" dirty="0">
                <a:solidFill>
                  <a:srgbClr val="000000"/>
                </a:solidFill>
                <a:latin typeface="Gill Sans" charset="0"/>
              </a:rPr>
              <a:t>Can I check ahead of time if I will have a bad date?</a:t>
            </a:r>
          </a:p>
        </p:txBody>
      </p:sp>
      <p:sp>
        <p:nvSpPr>
          <p:cNvPr id="3" name="Rectangle 2">
            <a:extLst>
              <a:ext uri="{FF2B5EF4-FFF2-40B4-BE49-F238E27FC236}">
                <a16:creationId xmlns:a16="http://schemas.microsoft.com/office/drawing/2014/main" id="{2E76FCD8-5B53-EC5F-5E5C-2CDFDA62A063}"/>
              </a:ext>
            </a:extLst>
          </p:cNvPr>
          <p:cNvSpPr>
            <a:spLocks noChangeArrowheads="1"/>
          </p:cNvSpPr>
          <p:nvPr/>
        </p:nvSpPr>
        <p:spPr bwMode="auto">
          <a:xfrm>
            <a:off x="531845" y="2413535"/>
            <a:ext cx="10982131"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dirty="0">
                <a:solidFill>
                  <a:srgbClr val="000000"/>
                </a:solidFill>
                <a:latin typeface="Courier New" pitchFamily="49" charset="0"/>
              </a:rPr>
              <a:t>SQL&gt; SELECT </a:t>
            </a:r>
            <a:r>
              <a:rPr lang="en-US" dirty="0" err="1">
                <a:solidFill>
                  <a:srgbClr val="000000"/>
                </a:solidFill>
                <a:latin typeface="Courier New" pitchFamily="49" charset="0"/>
              </a:rPr>
              <a:t>validate_conversion</a:t>
            </a:r>
            <a:r>
              <a:rPr lang="en-US" dirty="0">
                <a:solidFill>
                  <a:srgbClr val="000000"/>
                </a:solidFill>
                <a:latin typeface="Courier New" pitchFamily="49" charset="0"/>
              </a:rPr>
              <a:t>('9999-99-99' AS DATE, '</a:t>
            </a:r>
            <a:r>
              <a:rPr lang="en-US" dirty="0" err="1">
                <a:solidFill>
                  <a:srgbClr val="000000"/>
                </a:solidFill>
                <a:latin typeface="Courier New" pitchFamily="49" charset="0"/>
              </a:rPr>
              <a:t>yyyy</a:t>
            </a:r>
            <a:r>
              <a:rPr lang="en-US" dirty="0">
                <a:solidFill>
                  <a:srgbClr val="000000"/>
                </a:solidFill>
                <a:latin typeface="Courier New" pitchFamily="49" charset="0"/>
              </a:rPr>
              <a:t>-mm-dd') </a:t>
            </a:r>
            <a:r>
              <a:rPr lang="en-US" dirty="0" err="1">
                <a:solidFill>
                  <a:srgbClr val="000000"/>
                </a:solidFill>
                <a:latin typeface="Courier New" pitchFamily="49" charset="0"/>
              </a:rPr>
              <a:t>bad_date</a:t>
            </a:r>
            <a:r>
              <a:rPr lang="en-US" dirty="0">
                <a:solidFill>
                  <a:srgbClr val="000000"/>
                </a:solidFill>
                <a:latin typeface="Courier New" pitchFamily="49" charset="0"/>
              </a:rPr>
              <a:t>,</a:t>
            </a:r>
          </a:p>
          <a:p>
            <a:r>
              <a:rPr lang="en-US" dirty="0">
                <a:solidFill>
                  <a:srgbClr val="000000"/>
                </a:solidFill>
                <a:latin typeface="Courier New" pitchFamily="49" charset="0"/>
              </a:rPr>
              <a:t>  2         </a:t>
            </a:r>
            <a:r>
              <a:rPr lang="en-US" dirty="0" err="1">
                <a:solidFill>
                  <a:srgbClr val="000000"/>
                </a:solidFill>
                <a:latin typeface="Courier New" pitchFamily="49" charset="0"/>
              </a:rPr>
              <a:t>validate_conversion</a:t>
            </a:r>
            <a:r>
              <a:rPr lang="en-US" dirty="0">
                <a:solidFill>
                  <a:srgbClr val="000000"/>
                </a:solidFill>
                <a:latin typeface="Courier New" pitchFamily="49" charset="0"/>
              </a:rPr>
              <a:t>('2026-06-17' AS DATE, '</a:t>
            </a:r>
            <a:r>
              <a:rPr lang="en-US" dirty="0" err="1">
                <a:solidFill>
                  <a:srgbClr val="000000"/>
                </a:solidFill>
                <a:latin typeface="Courier New" pitchFamily="49" charset="0"/>
              </a:rPr>
              <a:t>yyyy</a:t>
            </a:r>
            <a:r>
              <a:rPr lang="en-US" dirty="0">
                <a:solidFill>
                  <a:srgbClr val="000000"/>
                </a:solidFill>
                <a:latin typeface="Courier New" pitchFamily="49" charset="0"/>
              </a:rPr>
              <a:t>-mm-dd') </a:t>
            </a:r>
            <a:r>
              <a:rPr lang="en-US" dirty="0" err="1">
                <a:solidFill>
                  <a:srgbClr val="000000"/>
                </a:solidFill>
                <a:latin typeface="Courier New" pitchFamily="49" charset="0"/>
              </a:rPr>
              <a:t>good_date</a:t>
            </a:r>
            <a:endParaRPr lang="en-US" dirty="0">
              <a:solidFill>
                <a:srgbClr val="000000"/>
              </a:solidFill>
              <a:latin typeface="Courier New" pitchFamily="49" charset="0"/>
            </a:endParaRPr>
          </a:p>
          <a:p>
            <a:r>
              <a:rPr lang="en-US" dirty="0">
                <a:solidFill>
                  <a:srgbClr val="000000"/>
                </a:solidFill>
                <a:latin typeface="Courier New" pitchFamily="49" charset="0"/>
              </a:rPr>
              <a:t>  3    FROM DUAL;</a:t>
            </a:r>
          </a:p>
          <a:p>
            <a:endParaRPr lang="en-US" dirty="0">
              <a:solidFill>
                <a:srgbClr val="000000"/>
              </a:solidFill>
              <a:latin typeface="Courier New" pitchFamily="49" charset="0"/>
            </a:endParaRPr>
          </a:p>
          <a:p>
            <a:r>
              <a:rPr lang="en-US" dirty="0">
                <a:solidFill>
                  <a:srgbClr val="000000"/>
                </a:solidFill>
                <a:latin typeface="Courier New" pitchFamily="49" charset="0"/>
              </a:rPr>
              <a:t>  BAD_DATE  GOOD_DATE</a:t>
            </a:r>
          </a:p>
          <a:p>
            <a:r>
              <a:rPr lang="en-US" dirty="0">
                <a:solidFill>
                  <a:srgbClr val="000000"/>
                </a:solidFill>
                <a:latin typeface="Courier New" pitchFamily="49" charset="0"/>
              </a:rPr>
              <a:t>---------- ----------</a:t>
            </a:r>
          </a:p>
          <a:p>
            <a:r>
              <a:rPr lang="en-US" dirty="0">
                <a:solidFill>
                  <a:srgbClr val="000000"/>
                </a:solidFill>
                <a:latin typeface="Courier New" pitchFamily="49" charset="0"/>
              </a:rPr>
              <a:t>         0          1</a:t>
            </a:r>
          </a:p>
        </p:txBody>
      </p:sp>
      <p:cxnSp>
        <p:nvCxnSpPr>
          <p:cNvPr id="4" name="Straight Connector 3">
            <a:extLst>
              <a:ext uri="{FF2B5EF4-FFF2-40B4-BE49-F238E27FC236}">
                <a16:creationId xmlns:a16="http://schemas.microsoft.com/office/drawing/2014/main" id="{C075D1C0-6F1E-EAA4-67D9-60696B46CF2D}"/>
              </a:ext>
            </a:extLst>
          </p:cNvPr>
          <p:cNvCxnSpPr/>
          <p:nvPr/>
        </p:nvCxnSpPr>
        <p:spPr>
          <a:xfrm>
            <a:off x="1524000" y="1727735"/>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1187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DC92D-F03A-198C-B109-2D5AA5676DC3}"/>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E7F10271-00B7-B5FA-C7F5-818920663A26}"/>
              </a:ext>
            </a:extLst>
          </p:cNvPr>
          <p:cNvSpPr txBox="1">
            <a:spLocks noChangeArrowheads="1"/>
          </p:cNvSpPr>
          <p:nvPr/>
        </p:nvSpPr>
        <p:spPr bwMode="auto">
          <a:xfrm>
            <a:off x="2717006" y="728078"/>
            <a:ext cx="6757987"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9pPr>
          </a:lstStyle>
          <a:p>
            <a:pPr algn="ctr" eaLnBrk="1" hangingPunct="1"/>
            <a:r>
              <a:rPr lang="en-US" sz="2400" dirty="0">
                <a:solidFill>
                  <a:srgbClr val="000000"/>
                </a:solidFill>
                <a:latin typeface="Gill Sans" charset="0"/>
              </a:rPr>
              <a:t>What does a date look like without conversion?</a:t>
            </a:r>
          </a:p>
        </p:txBody>
      </p:sp>
      <p:sp>
        <p:nvSpPr>
          <p:cNvPr id="3" name="Text Box 2">
            <a:extLst>
              <a:ext uri="{FF2B5EF4-FFF2-40B4-BE49-F238E27FC236}">
                <a16:creationId xmlns:a16="http://schemas.microsoft.com/office/drawing/2014/main" id="{A023842B-1D4F-A924-19FA-547F1DA0785C}"/>
              </a:ext>
            </a:extLst>
          </p:cNvPr>
          <p:cNvSpPr txBox="1">
            <a:spLocks noChangeArrowheads="1"/>
          </p:cNvSpPr>
          <p:nvPr/>
        </p:nvSpPr>
        <p:spPr bwMode="auto">
          <a:xfrm>
            <a:off x="2505414" y="2309228"/>
            <a:ext cx="47498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9pPr>
          </a:lstStyle>
          <a:p>
            <a:pPr eaLnBrk="1" hangingPunct="1"/>
            <a:r>
              <a:rPr lang="en-US" sz="2000">
                <a:solidFill>
                  <a:srgbClr val="000000"/>
                </a:solidFill>
                <a:latin typeface="Gill Sans" charset="0"/>
              </a:rPr>
              <a:t>Most of the time it's not particularly helpful to know the internal structure of your date.</a:t>
            </a:r>
          </a:p>
        </p:txBody>
      </p:sp>
      <p:pic>
        <p:nvPicPr>
          <p:cNvPr id="4" name="Picture 3">
            <a:extLst>
              <a:ext uri="{FF2B5EF4-FFF2-40B4-BE49-F238E27FC236}">
                <a16:creationId xmlns:a16="http://schemas.microsoft.com/office/drawing/2014/main" id="{9D90BAB5-C679-208F-2815-152865A22B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2064" y="2153653"/>
            <a:ext cx="2619375"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4">
            <a:extLst>
              <a:ext uri="{FF2B5EF4-FFF2-40B4-BE49-F238E27FC236}">
                <a16:creationId xmlns:a16="http://schemas.microsoft.com/office/drawing/2014/main" id="{AD60B7B1-1A56-DA36-67C4-CCEDDE8638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989" y="2226678"/>
            <a:ext cx="2043113" cy="38925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 Box 5">
            <a:extLst>
              <a:ext uri="{FF2B5EF4-FFF2-40B4-BE49-F238E27FC236}">
                <a16:creationId xmlns:a16="http://schemas.microsoft.com/office/drawing/2014/main" id="{C868B8D9-A211-9FE6-D856-DF30B9EC010D}"/>
              </a:ext>
            </a:extLst>
          </p:cNvPr>
          <p:cNvSpPr txBox="1">
            <a:spLocks noChangeArrowheads="1"/>
          </p:cNvSpPr>
          <p:nvPr/>
        </p:nvSpPr>
        <p:spPr bwMode="auto">
          <a:xfrm>
            <a:off x="2511764" y="3677653"/>
            <a:ext cx="4273550" cy="2741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 pos="36195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 pos="36195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 pos="36195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 pos="36195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 pos="36195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 pos="36195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 pos="36195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 pos="36195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 pos="3619500" algn="l"/>
              </a:tabLst>
              <a:defRPr>
                <a:solidFill>
                  <a:schemeClr val="tx1"/>
                </a:solidFill>
                <a:latin typeface="Arial" charset="0"/>
                <a:cs typeface="Arial" charset="0"/>
              </a:defRPr>
            </a:lvl9pPr>
          </a:lstStyle>
          <a:p>
            <a:pPr eaLnBrk="1" hangingPunct="1"/>
            <a:r>
              <a:rPr lang="en-US" dirty="0">
                <a:solidFill>
                  <a:srgbClr val="000000"/>
                </a:solidFill>
                <a:latin typeface="Gill Sans" charset="0"/>
              </a:rPr>
              <a:t>select </a:t>
            </a:r>
            <a:r>
              <a:rPr lang="en-US" dirty="0" err="1">
                <a:solidFill>
                  <a:srgbClr val="000000"/>
                </a:solidFill>
                <a:latin typeface="Gill Sans" charset="0"/>
              </a:rPr>
              <a:t>to_char</a:t>
            </a:r>
            <a:r>
              <a:rPr lang="en-US" dirty="0">
                <a:solidFill>
                  <a:srgbClr val="000000"/>
                </a:solidFill>
                <a:latin typeface="Gill Sans" charset="0"/>
              </a:rPr>
              <a:t>(</a:t>
            </a:r>
            <a:r>
              <a:rPr lang="en-US" dirty="0" err="1">
                <a:solidFill>
                  <a:srgbClr val="000000"/>
                </a:solidFill>
                <a:latin typeface="Gill Sans" charset="0"/>
              </a:rPr>
              <a:t>event_date</a:t>
            </a:r>
            <a:r>
              <a:rPr lang="en-US" dirty="0">
                <a:solidFill>
                  <a:srgbClr val="000000"/>
                </a:solidFill>
                <a:latin typeface="Gill Sans" charset="0"/>
              </a:rPr>
              <a:t>,</a:t>
            </a:r>
          </a:p>
          <a:p>
            <a:pPr eaLnBrk="1" hangingPunct="1"/>
            <a:r>
              <a:rPr lang="en-US" dirty="0">
                <a:solidFill>
                  <a:srgbClr val="000000"/>
                </a:solidFill>
                <a:latin typeface="Gill Sans" charset="0"/>
              </a:rPr>
              <a:t>			'</a:t>
            </a:r>
            <a:r>
              <a:rPr lang="en-US" dirty="0" err="1">
                <a:solidFill>
                  <a:srgbClr val="000000"/>
                </a:solidFill>
                <a:latin typeface="Gill Sans" charset="0"/>
              </a:rPr>
              <a:t>syyyy</a:t>
            </a:r>
            <a:r>
              <a:rPr lang="en-US" dirty="0">
                <a:solidFill>
                  <a:srgbClr val="000000"/>
                </a:solidFill>
                <a:latin typeface="Gill Sans" charset="0"/>
              </a:rPr>
              <a:t>-mm-dd hh24:mi:ss'			) </a:t>
            </a:r>
            <a:r>
              <a:rPr lang="en-US" dirty="0" err="1">
                <a:solidFill>
                  <a:srgbClr val="000000"/>
                </a:solidFill>
                <a:latin typeface="Gill Sans" charset="0"/>
              </a:rPr>
              <a:t>event_date</a:t>
            </a:r>
            <a:r>
              <a:rPr lang="en-US" dirty="0">
                <a:solidFill>
                  <a:srgbClr val="000000"/>
                </a:solidFill>
                <a:latin typeface="Gill Sans" charset="0"/>
              </a:rPr>
              <a:t>, 			dump(</a:t>
            </a:r>
            <a:r>
              <a:rPr lang="en-US" dirty="0" err="1">
                <a:solidFill>
                  <a:srgbClr val="000000"/>
                </a:solidFill>
                <a:latin typeface="Gill Sans" charset="0"/>
              </a:rPr>
              <a:t>event_date</a:t>
            </a:r>
            <a:r>
              <a:rPr lang="en-US" dirty="0">
                <a:solidFill>
                  <a:srgbClr val="000000"/>
                </a:solidFill>
                <a:latin typeface="Gill Sans" charset="0"/>
              </a:rPr>
              <a:t>) structure </a:t>
            </a:r>
          </a:p>
          <a:p>
            <a:pPr eaLnBrk="1" hangingPunct="1"/>
            <a:r>
              <a:rPr lang="en-US" dirty="0">
                <a:solidFill>
                  <a:srgbClr val="000000"/>
                </a:solidFill>
                <a:latin typeface="Gill Sans" charset="0"/>
              </a:rPr>
              <a:t>from </a:t>
            </a:r>
            <a:r>
              <a:rPr lang="en-US" dirty="0" err="1">
                <a:solidFill>
                  <a:srgbClr val="000000"/>
                </a:solidFill>
                <a:latin typeface="Gill Sans" charset="0"/>
              </a:rPr>
              <a:t>sample_dates</a:t>
            </a:r>
            <a:r>
              <a:rPr lang="en-US" dirty="0">
                <a:solidFill>
                  <a:srgbClr val="000000"/>
                </a:solidFill>
                <a:latin typeface="Gill Sans" charset="0"/>
              </a:rPr>
              <a:t>;</a:t>
            </a:r>
          </a:p>
        </p:txBody>
      </p:sp>
      <p:cxnSp>
        <p:nvCxnSpPr>
          <p:cNvPr id="7" name="Straight Connector 6">
            <a:extLst>
              <a:ext uri="{FF2B5EF4-FFF2-40B4-BE49-F238E27FC236}">
                <a16:creationId xmlns:a16="http://schemas.microsoft.com/office/drawing/2014/main" id="{A3263AAE-684F-33BF-B2D9-9998EBE794A7}"/>
              </a:ext>
            </a:extLst>
          </p:cNvPr>
          <p:cNvCxnSpPr/>
          <p:nvPr/>
        </p:nvCxnSpPr>
        <p:spPr>
          <a:xfrm>
            <a:off x="1524000" y="1391653"/>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2166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additive="repl">
                                        <p:cTn id="6" dur="1" fill="hold">
                                          <p:stCondLst>
                                            <p:cond delay="0"/>
                                          </p:stCondLst>
                                        </p:cTn>
                                        <p:tgtEl>
                                          <p:spTgt spid="3"/>
                                        </p:tgtEl>
                                        <p:attrNameLst>
                                          <p:attrName>style.visibility</p:attrName>
                                        </p:attrNameLst>
                                      </p:cBhvr>
                                      <p:to>
                                        <p:strVal val="visible"/>
                                      </p:to>
                                    </p:set>
                                    <p:anim calcmode="lin" valueType="num">
                                      <p:cBhvr additive="repl">
                                        <p:cTn id="7" dur="500" fill="hold"/>
                                        <p:tgtEl>
                                          <p:spTgt spid="3"/>
                                        </p:tgtEl>
                                        <p:attrNameLst>
                                          <p:attrName>ppt_x</p:attrName>
                                        </p:attrNameLst>
                                      </p:cBhvr>
                                      <p:tavLst>
                                        <p:tav tm="100000">
                                          <p:val>
                                            <p:strVal val="#ppt_x"/>
                                          </p:val>
                                        </p:tav>
                                        <p:tav>
                                          <p:val>
                                            <p:strVal val="#ppt_x"/>
                                          </p:val>
                                        </p:tav>
                                      </p:tavLst>
                                    </p:anim>
                                    <p:anim calcmode="lin" valueType="num">
                                      <p:cBhvr additive="repl">
                                        <p:cTn id="8" dur="500" fill="hold"/>
                                        <p:tgtEl>
                                          <p:spTgt spid="3"/>
                                        </p:tgtEl>
                                        <p:attrNameLst>
                                          <p:attrName>ppt_y</p:attrName>
                                        </p:attrNameLst>
                                      </p:cBhvr>
                                      <p:tavLst>
                                        <p:tav tm="100000">
                                          <p:val>
                                            <p:strVal val="1+#ppt_h/2"/>
                                          </p:val>
                                        </p:tav>
                                        <p:tav>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additive="repl">
                                        <p:cTn id="12" dur="1" fill="hold">
                                          <p:stCondLst>
                                            <p:cond delay="0"/>
                                          </p:stCondLst>
                                        </p:cTn>
                                        <p:tgtEl>
                                          <p:spTgt spid="4"/>
                                        </p:tgtEl>
                                        <p:attrNameLst>
                                          <p:attrName>style.visibility</p:attrName>
                                        </p:attrNameLst>
                                      </p:cBhvr>
                                      <p:to>
                                        <p:strVal val="visible"/>
                                      </p:to>
                                    </p:set>
                                    <p:animEffect transition="in" filter="blinds(horizontal)">
                                      <p:cBhvr additive="repl">
                                        <p:cTn id="13" dur="25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xit" presetSubtype="10" fill="hold" nodeType="clickEffect">
                                  <p:stCondLst>
                                    <p:cond delay="0"/>
                                  </p:stCondLst>
                                  <p:childTnLst>
                                    <p:animEffect transition="out" filter="blinds(horizontal)">
                                      <p:cBhvr additive="repl">
                                        <p:cTn id="17" dur="250"/>
                                        <p:tgtEl>
                                          <p:spTgt spid="4"/>
                                        </p:tgtEl>
                                      </p:cBhvr>
                                    </p:animEffect>
                                    <p:set>
                                      <p:cBhvr additive="repl">
                                        <p:cTn id="18" dur="1" fill="hold">
                                          <p:stCondLst>
                                            <p:cond delay="0"/>
                                          </p:stCondLst>
                                        </p:cTn>
                                        <p:tgtEl>
                                          <p:spTgt spid="4"/>
                                        </p:tgtEl>
                                        <p:attrNameLst>
                                          <p:attrName>style.visibility</p:attrName>
                                        </p:attrNameLst>
                                      </p:cBhvr>
                                      <p:to>
                                        <p:strVal val="hidden"/>
                                      </p:to>
                                    </p:set>
                                  </p:childTnLst>
                                </p:cTn>
                              </p:par>
                              <p:par>
                                <p:cTn id="19" presetID="3" presetClass="entr" presetSubtype="10" fill="hold" nodeType="withEffect">
                                  <p:stCondLst>
                                    <p:cond delay="0"/>
                                  </p:stCondLst>
                                  <p:childTnLst>
                                    <p:set>
                                      <p:cBhvr additive="repl">
                                        <p:cTn id="20" dur="1" fill="hold">
                                          <p:stCondLst>
                                            <p:cond delay="0"/>
                                          </p:stCondLst>
                                        </p:cTn>
                                        <p:tgtEl>
                                          <p:spTgt spid="5"/>
                                        </p:tgtEl>
                                        <p:attrNameLst>
                                          <p:attrName>style.visibility</p:attrName>
                                        </p:attrNameLst>
                                      </p:cBhvr>
                                      <p:to>
                                        <p:strVal val="visible"/>
                                      </p:to>
                                    </p:set>
                                    <p:animEffect transition="in" filter="blinds(horizontal)">
                                      <p:cBhvr additive="repl">
                                        <p:cTn id="21" dur="25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additive="repl">
                                        <p:cTn id="25" dur="1" fill="hold">
                                          <p:stCondLst>
                                            <p:cond delay="0"/>
                                          </p:stCondLst>
                                        </p:cTn>
                                        <p:tgtEl>
                                          <p:spTgt spid="6"/>
                                        </p:tgtEl>
                                        <p:attrNameLst>
                                          <p:attrName>style.visibility</p:attrName>
                                        </p:attrNameLst>
                                      </p:cBhvr>
                                      <p:to>
                                        <p:strVal val="visible"/>
                                      </p:to>
                                    </p:set>
                                    <p:anim calcmode="lin" valueType="num">
                                      <p:cBhvr additive="repl">
                                        <p:cTn id="26" dur="500" fill="hold"/>
                                        <p:tgtEl>
                                          <p:spTgt spid="6"/>
                                        </p:tgtEl>
                                        <p:attrNameLst>
                                          <p:attrName>ppt_x</p:attrName>
                                        </p:attrNameLst>
                                      </p:cBhvr>
                                      <p:tavLst>
                                        <p:tav tm="100000">
                                          <p:val>
                                            <p:strVal val="#ppt_x"/>
                                          </p:val>
                                        </p:tav>
                                        <p:tav>
                                          <p:val>
                                            <p:strVal val="#ppt_x"/>
                                          </p:val>
                                        </p:tav>
                                      </p:tavLst>
                                    </p:anim>
                                    <p:anim calcmode="lin" valueType="num">
                                      <p:cBhvr additive="repl">
                                        <p:cTn id="27" dur="500" fill="hold"/>
                                        <p:tgtEl>
                                          <p:spTgt spid="6"/>
                                        </p:tgtEl>
                                        <p:attrNameLst>
                                          <p:attrName>ppt_y</p:attrName>
                                        </p:attrNameLst>
                                      </p:cBhvr>
                                      <p:tavLst>
                                        <p:tav tm="100000">
                                          <p:val>
                                            <p:strVal val="1+#ppt_h/2"/>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D1F9-B21B-8330-A096-3525C091032B}"/>
            </a:ext>
          </a:extLst>
        </p:cNvPr>
        <p:cNvGrpSpPr/>
        <p:nvPr/>
      </p:nvGrpSpPr>
      <p:grpSpPr>
        <a:xfrm>
          <a:off x="0" y="0"/>
          <a:ext cx="0" cy="0"/>
          <a:chOff x="0" y="0"/>
          <a:chExt cx="0" cy="0"/>
        </a:xfrm>
      </p:grpSpPr>
      <p:sp>
        <p:nvSpPr>
          <p:cNvPr id="5" name="Text Box 2">
            <a:extLst>
              <a:ext uri="{FF2B5EF4-FFF2-40B4-BE49-F238E27FC236}">
                <a16:creationId xmlns:a16="http://schemas.microsoft.com/office/drawing/2014/main" id="{F2899F40-6780-2F84-C532-C2A7B9AA2DBA}"/>
              </a:ext>
            </a:extLst>
          </p:cNvPr>
          <p:cNvSpPr txBox="1">
            <a:spLocks noChangeArrowheads="1"/>
          </p:cNvSpPr>
          <p:nvPr/>
        </p:nvSpPr>
        <p:spPr bwMode="auto">
          <a:xfrm>
            <a:off x="2147236" y="2384458"/>
            <a:ext cx="7924800" cy="371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2176" rIns="0" bIns="0"/>
          <a:lstStyle>
            <a:lvl1pPr eaLnBrk="0" hangingPunc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charset="0"/>
                <a:cs typeface="Arial" charset="0"/>
              </a:defRPr>
            </a:lvl1pPr>
            <a:lvl2pPr marL="742950" indent="-285750" eaLnBrk="0" hangingPunc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charset="0"/>
                <a:cs typeface="Arial" charset="0"/>
              </a:defRPr>
            </a:lvl2pPr>
            <a:lvl3pPr marL="1143000" indent="-228600" eaLnBrk="0" hangingPunc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charset="0"/>
                <a:cs typeface="Arial" charset="0"/>
              </a:defRPr>
            </a:lvl3pPr>
            <a:lvl4pPr marL="1600200" indent="-228600" eaLnBrk="0" hangingPunc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charset="0"/>
                <a:cs typeface="Arial" charset="0"/>
              </a:defRPr>
            </a:lvl4pPr>
            <a:lvl5pPr marL="2057400" indent="-228600" eaLnBrk="0" hangingPunc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charset="0"/>
                <a:cs typeface="Arial" charset="0"/>
              </a:defRPr>
            </a:lvl9pPr>
          </a:lstStyle>
          <a:p>
            <a:pPr eaLnBrk="1">
              <a:lnSpc>
                <a:spcPct val="89000"/>
              </a:lnSpc>
              <a:spcAft>
                <a:spcPts val="1425"/>
              </a:spcAft>
            </a:pPr>
            <a:r>
              <a:rPr lang="en-US" sz="1600" dirty="0">
                <a:solidFill>
                  <a:srgbClr val="000000"/>
                </a:solidFill>
                <a:latin typeface="Courier New" pitchFamily="49" charset="0"/>
                <a:ea typeface="ヒラギノ角ゴ ProN W3" charset="0"/>
                <a:cs typeface="Arial Unicode MS" charset="0"/>
              </a:rPr>
              <a:t>EVENT_DATE                STRUCTURE</a:t>
            </a:r>
          </a:p>
          <a:p>
            <a:pPr eaLnBrk="1">
              <a:lnSpc>
                <a:spcPct val="89000"/>
              </a:lnSpc>
              <a:spcAft>
                <a:spcPts val="1425"/>
              </a:spcAft>
            </a:pPr>
            <a:r>
              <a:rPr lang="en-US" sz="1600" dirty="0">
                <a:solidFill>
                  <a:srgbClr val="000000"/>
                </a:solidFill>
                <a:latin typeface="Courier New" pitchFamily="49" charset="0"/>
                <a:ea typeface="ヒラギノ角ゴ ProN W3" charset="0"/>
                <a:cs typeface="Arial Unicode MS" charset="0"/>
              </a:rPr>
              <a:t>---------------------------------------------------------------</a:t>
            </a:r>
          </a:p>
          <a:p>
            <a:pPr eaLnBrk="1">
              <a:lnSpc>
                <a:spcPct val="89000"/>
              </a:lnSpc>
              <a:spcAft>
                <a:spcPts val="1425"/>
              </a:spcAft>
            </a:pPr>
            <a:r>
              <a:rPr lang="en-US" sz="1600" dirty="0">
                <a:solidFill>
                  <a:srgbClr val="000000"/>
                </a:solidFill>
                <a:latin typeface="Courier New" pitchFamily="49" charset="0"/>
                <a:ea typeface="ヒラギノ角ゴ ProN W3" charset="0"/>
                <a:cs typeface="Arial Unicode MS" charset="0"/>
              </a:rPr>
              <a:t>-4712-01-01 00:00:00      </a:t>
            </a:r>
            <a:r>
              <a:rPr lang="en-US" sz="1600" dirty="0" err="1">
                <a:solidFill>
                  <a:srgbClr val="000000"/>
                </a:solidFill>
                <a:latin typeface="Courier New" pitchFamily="49" charset="0"/>
                <a:ea typeface="ヒラギノ角ゴ ProN W3" charset="0"/>
                <a:cs typeface="Arial Unicode MS" charset="0"/>
              </a:rPr>
              <a:t>Typ</a:t>
            </a:r>
            <a:r>
              <a:rPr lang="en-US" sz="1600" dirty="0">
                <a:solidFill>
                  <a:srgbClr val="000000"/>
                </a:solidFill>
                <a:latin typeface="Courier New" pitchFamily="49" charset="0"/>
                <a:ea typeface="ヒラギノ角ゴ ProN W3" charset="0"/>
                <a:cs typeface="Arial Unicode MS" charset="0"/>
              </a:rPr>
              <a:t>=12 Len=7: 53,88,1,1,1,1,1</a:t>
            </a:r>
          </a:p>
          <a:p>
            <a:pPr eaLnBrk="1">
              <a:lnSpc>
                <a:spcPct val="89000"/>
              </a:lnSpc>
              <a:spcAft>
                <a:spcPts val="1425"/>
              </a:spcAft>
            </a:pPr>
            <a:r>
              <a:rPr lang="en-US" sz="1600" dirty="0">
                <a:solidFill>
                  <a:srgbClr val="000000"/>
                </a:solidFill>
                <a:latin typeface="Courier New" pitchFamily="49" charset="0"/>
                <a:ea typeface="ヒラギノ角ゴ ProN W3" charset="0"/>
                <a:cs typeface="Arial Unicode MS" charset="0"/>
              </a:rPr>
              <a:t> 2026-06-17 15:40:00      </a:t>
            </a:r>
            <a:r>
              <a:rPr lang="en-US" sz="1600" dirty="0" err="1">
                <a:solidFill>
                  <a:srgbClr val="000000"/>
                </a:solidFill>
                <a:latin typeface="Courier New" pitchFamily="49" charset="0"/>
                <a:ea typeface="ヒラギノ角ゴ ProN W3" charset="0"/>
                <a:cs typeface="Arial Unicode MS" charset="0"/>
              </a:rPr>
              <a:t>Typ</a:t>
            </a:r>
            <a:r>
              <a:rPr lang="en-US" sz="1600" dirty="0">
                <a:solidFill>
                  <a:srgbClr val="000000"/>
                </a:solidFill>
                <a:latin typeface="Courier New" pitchFamily="49" charset="0"/>
                <a:ea typeface="ヒラギノ角ゴ ProN W3" charset="0"/>
                <a:cs typeface="Arial Unicode MS" charset="0"/>
              </a:rPr>
              <a:t>=12 Len=7: 120,126,6,17,16,41,1</a:t>
            </a:r>
          </a:p>
          <a:p>
            <a:pPr eaLnBrk="1">
              <a:lnSpc>
                <a:spcPct val="89000"/>
              </a:lnSpc>
              <a:spcAft>
                <a:spcPts val="1425"/>
              </a:spcAft>
            </a:pPr>
            <a:r>
              <a:rPr lang="en-US" sz="1600" dirty="0">
                <a:solidFill>
                  <a:srgbClr val="000000"/>
                </a:solidFill>
                <a:latin typeface="Courier New" pitchFamily="49" charset="0"/>
                <a:ea typeface="ヒラギノ角ゴ ProN W3" charset="0"/>
                <a:cs typeface="Arial Unicode MS" charset="0"/>
              </a:rPr>
              <a:t> 1215-06-15 00:00:00      </a:t>
            </a:r>
            <a:r>
              <a:rPr lang="en-US" sz="1600" dirty="0" err="1">
                <a:solidFill>
                  <a:srgbClr val="000000"/>
                </a:solidFill>
                <a:latin typeface="Courier New" pitchFamily="49" charset="0"/>
                <a:ea typeface="ヒラギノ角ゴ ProN W3" charset="0"/>
                <a:cs typeface="Arial Unicode MS" charset="0"/>
              </a:rPr>
              <a:t>Typ</a:t>
            </a:r>
            <a:r>
              <a:rPr lang="en-US" sz="1600" dirty="0">
                <a:solidFill>
                  <a:srgbClr val="000000"/>
                </a:solidFill>
                <a:latin typeface="Courier New" pitchFamily="49" charset="0"/>
                <a:ea typeface="ヒラギノ角ゴ ProN W3" charset="0"/>
                <a:cs typeface="Arial Unicode MS" charset="0"/>
              </a:rPr>
              <a:t>=12 Len=7: 112,115,6,15,1,1,1</a:t>
            </a:r>
          </a:p>
          <a:p>
            <a:pPr eaLnBrk="1">
              <a:lnSpc>
                <a:spcPct val="89000"/>
              </a:lnSpc>
              <a:spcAft>
                <a:spcPts val="1425"/>
              </a:spcAft>
            </a:pPr>
            <a:r>
              <a:rPr lang="en-US" sz="1600" dirty="0">
                <a:solidFill>
                  <a:srgbClr val="000000"/>
                </a:solidFill>
                <a:latin typeface="Courier New" pitchFamily="49" charset="0"/>
                <a:ea typeface="ヒラギノ角ゴ ProN W3" charset="0"/>
                <a:cs typeface="Arial Unicode MS" charset="0"/>
              </a:rPr>
              <a:t>-0480-08-07 00:00:00      </a:t>
            </a:r>
            <a:r>
              <a:rPr lang="en-US" sz="1600" dirty="0" err="1">
                <a:solidFill>
                  <a:srgbClr val="000000"/>
                </a:solidFill>
                <a:latin typeface="Courier New" pitchFamily="49" charset="0"/>
                <a:ea typeface="ヒラギノ角ゴ ProN W3" charset="0"/>
                <a:cs typeface="Arial Unicode MS" charset="0"/>
              </a:rPr>
              <a:t>Typ</a:t>
            </a:r>
            <a:r>
              <a:rPr lang="en-US" sz="1600" dirty="0">
                <a:solidFill>
                  <a:srgbClr val="000000"/>
                </a:solidFill>
                <a:latin typeface="Courier New" pitchFamily="49" charset="0"/>
                <a:ea typeface="ヒラギノ角ゴ ProN W3" charset="0"/>
                <a:cs typeface="Arial Unicode MS" charset="0"/>
              </a:rPr>
              <a:t>=12 Len=7: 96,20,8,7,1,1,1</a:t>
            </a:r>
          </a:p>
          <a:p>
            <a:pPr eaLnBrk="1">
              <a:lnSpc>
                <a:spcPct val="89000"/>
              </a:lnSpc>
              <a:spcAft>
                <a:spcPts val="1425"/>
              </a:spcAft>
            </a:pPr>
            <a:r>
              <a:rPr lang="en-US" sz="1600" dirty="0">
                <a:solidFill>
                  <a:srgbClr val="000000"/>
                </a:solidFill>
                <a:latin typeface="Courier New" pitchFamily="49" charset="0"/>
                <a:ea typeface="ヒラギノ角ゴ ProN W3" charset="0"/>
                <a:cs typeface="Arial Unicode MS" charset="0"/>
              </a:rPr>
              <a:t> 1969-07-20 20:17:39      </a:t>
            </a:r>
            <a:r>
              <a:rPr lang="en-US" sz="1600" dirty="0" err="1">
                <a:solidFill>
                  <a:srgbClr val="000000"/>
                </a:solidFill>
                <a:latin typeface="Courier New" pitchFamily="49" charset="0"/>
                <a:ea typeface="ヒラギノ角ゴ ProN W3" charset="0"/>
                <a:cs typeface="Arial Unicode MS" charset="0"/>
              </a:rPr>
              <a:t>Typ</a:t>
            </a:r>
            <a:r>
              <a:rPr lang="en-US" sz="1600" dirty="0">
                <a:solidFill>
                  <a:srgbClr val="000000"/>
                </a:solidFill>
                <a:latin typeface="Courier New" pitchFamily="49" charset="0"/>
                <a:ea typeface="ヒラギノ角ゴ ProN W3" charset="0"/>
                <a:cs typeface="Arial Unicode MS" charset="0"/>
              </a:rPr>
              <a:t>=12 Len=7: 119,169,7,20,21,18,40</a:t>
            </a:r>
          </a:p>
          <a:p>
            <a:pPr eaLnBrk="1">
              <a:lnSpc>
                <a:spcPct val="89000"/>
              </a:lnSpc>
              <a:spcAft>
                <a:spcPts val="1425"/>
              </a:spcAft>
            </a:pPr>
            <a:r>
              <a:rPr lang="en-US" sz="1600" dirty="0">
                <a:solidFill>
                  <a:srgbClr val="000000"/>
                </a:solidFill>
                <a:latin typeface="Courier New" pitchFamily="49" charset="0"/>
                <a:ea typeface="ヒラギノ角ゴ ProN W3" charset="0"/>
                <a:cs typeface="Arial Unicode MS" charset="0"/>
              </a:rPr>
              <a:t> 9999-12-31 23:59:59      </a:t>
            </a:r>
            <a:r>
              <a:rPr lang="en-US" sz="1600" dirty="0" err="1">
                <a:solidFill>
                  <a:srgbClr val="000000"/>
                </a:solidFill>
                <a:latin typeface="Courier New" pitchFamily="49" charset="0"/>
                <a:ea typeface="ヒラギノ角ゴ ProN W3" charset="0"/>
                <a:cs typeface="Arial Unicode MS" charset="0"/>
              </a:rPr>
              <a:t>Typ</a:t>
            </a:r>
            <a:r>
              <a:rPr lang="en-US" sz="1600" dirty="0">
                <a:solidFill>
                  <a:srgbClr val="000000"/>
                </a:solidFill>
                <a:latin typeface="Courier New" pitchFamily="49" charset="0"/>
                <a:ea typeface="ヒラギノ角ゴ ProN W3" charset="0"/>
                <a:cs typeface="Arial Unicode MS" charset="0"/>
              </a:rPr>
              <a:t>=12 Len=7: 199,199,12,31,24,60,60</a:t>
            </a:r>
          </a:p>
        </p:txBody>
      </p:sp>
      <p:cxnSp>
        <p:nvCxnSpPr>
          <p:cNvPr id="3" name="Straight Connector 2">
            <a:extLst>
              <a:ext uri="{FF2B5EF4-FFF2-40B4-BE49-F238E27FC236}">
                <a16:creationId xmlns:a16="http://schemas.microsoft.com/office/drawing/2014/main" id="{BF04679C-4DF0-DCC1-7DF1-DB8C6E3C01B4}"/>
              </a:ext>
            </a:extLst>
          </p:cNvPr>
          <p:cNvCxnSpPr/>
          <p:nvPr/>
        </p:nvCxnSpPr>
        <p:spPr>
          <a:xfrm>
            <a:off x="1324572" y="2060608"/>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
        <p:nvSpPr>
          <p:cNvPr id="4" name="Text Box 1">
            <a:extLst>
              <a:ext uri="{FF2B5EF4-FFF2-40B4-BE49-F238E27FC236}">
                <a16:creationId xmlns:a16="http://schemas.microsoft.com/office/drawing/2014/main" id="{BEA7D9D5-AEDA-8E90-6EC1-DE4B475D411F}"/>
              </a:ext>
            </a:extLst>
          </p:cNvPr>
          <p:cNvSpPr txBox="1">
            <a:spLocks noChangeArrowheads="1"/>
          </p:cNvSpPr>
          <p:nvPr/>
        </p:nvSpPr>
        <p:spPr bwMode="auto">
          <a:xfrm>
            <a:off x="2833035" y="765208"/>
            <a:ext cx="6126163"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2040" tIns="32040" rIns="32040" bIns="3204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cs typeface="Arial" charset="0"/>
              </a:defRPr>
            </a:lvl9pPr>
          </a:lstStyle>
          <a:p>
            <a:pPr algn="ctr"/>
            <a:r>
              <a:rPr lang="en-US" sz="2400" dirty="0">
                <a:solidFill>
                  <a:srgbClr val="000000"/>
                </a:solidFill>
                <a:latin typeface="Gill Sans" charset="0"/>
              </a:rPr>
              <a:t>What your Date looks like inside</a:t>
            </a:r>
          </a:p>
        </p:txBody>
      </p:sp>
      <p:sp>
        <p:nvSpPr>
          <p:cNvPr id="6" name="Oval 3">
            <a:extLst>
              <a:ext uri="{FF2B5EF4-FFF2-40B4-BE49-F238E27FC236}">
                <a16:creationId xmlns:a16="http://schemas.microsoft.com/office/drawing/2014/main" id="{BD5FD682-343F-0FE0-FA2C-1E87CE9CD2FF}"/>
              </a:ext>
            </a:extLst>
          </p:cNvPr>
          <p:cNvSpPr>
            <a:spLocks noChangeArrowheads="1"/>
          </p:cNvSpPr>
          <p:nvPr/>
        </p:nvSpPr>
        <p:spPr bwMode="auto">
          <a:xfrm>
            <a:off x="6922436" y="3508408"/>
            <a:ext cx="554038" cy="512763"/>
          </a:xfrm>
          <a:prstGeom prst="ellipse">
            <a:avLst/>
          </a:prstGeom>
          <a:noFill/>
          <a:ln w="54720">
            <a:solidFill>
              <a:srgbClr val="C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 name="Oval 6">
            <a:extLst>
              <a:ext uri="{FF2B5EF4-FFF2-40B4-BE49-F238E27FC236}">
                <a16:creationId xmlns:a16="http://schemas.microsoft.com/office/drawing/2014/main" id="{AC92059D-4D11-1B7C-AA6D-985BAC0D4B96}"/>
              </a:ext>
            </a:extLst>
          </p:cNvPr>
          <p:cNvSpPr>
            <a:spLocks/>
          </p:cNvSpPr>
          <p:nvPr/>
        </p:nvSpPr>
        <p:spPr bwMode="auto">
          <a:xfrm>
            <a:off x="7371699" y="3462371"/>
            <a:ext cx="695325" cy="560387"/>
          </a:xfrm>
          <a:prstGeom prst="ellipse">
            <a:avLst/>
          </a:prstGeom>
          <a:noFill/>
          <a:ln w="54720">
            <a:solidFill>
              <a:srgbClr val="C00000"/>
            </a:solidFill>
            <a:round/>
            <a:headEnd type="triangle" w="med"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 name="Oval 7">
            <a:extLst>
              <a:ext uri="{FF2B5EF4-FFF2-40B4-BE49-F238E27FC236}">
                <a16:creationId xmlns:a16="http://schemas.microsoft.com/office/drawing/2014/main" id="{9FFD91D6-DB3B-99E4-670B-FF0CEBA2D496}"/>
              </a:ext>
            </a:extLst>
          </p:cNvPr>
          <p:cNvSpPr>
            <a:spLocks noChangeArrowheads="1"/>
          </p:cNvSpPr>
          <p:nvPr/>
        </p:nvSpPr>
        <p:spPr bwMode="auto">
          <a:xfrm>
            <a:off x="7836836" y="3479833"/>
            <a:ext cx="458788" cy="511175"/>
          </a:xfrm>
          <a:prstGeom prst="ellipse">
            <a:avLst/>
          </a:prstGeom>
          <a:noFill/>
          <a:ln w="54720">
            <a:solidFill>
              <a:srgbClr val="C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Oval 10">
            <a:extLst>
              <a:ext uri="{FF2B5EF4-FFF2-40B4-BE49-F238E27FC236}">
                <a16:creationId xmlns:a16="http://schemas.microsoft.com/office/drawing/2014/main" id="{85F7EC9A-CC93-E715-2BBD-8E3F5A476CA7}"/>
              </a:ext>
            </a:extLst>
          </p:cNvPr>
          <p:cNvSpPr>
            <a:spLocks noChangeArrowheads="1"/>
          </p:cNvSpPr>
          <p:nvPr/>
        </p:nvSpPr>
        <p:spPr bwMode="auto">
          <a:xfrm>
            <a:off x="8133699" y="3492533"/>
            <a:ext cx="438150" cy="476250"/>
          </a:xfrm>
          <a:prstGeom prst="ellipse">
            <a:avLst/>
          </a:prstGeom>
          <a:noFill/>
          <a:ln w="54720">
            <a:solidFill>
              <a:srgbClr val="C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 name="Oval 11">
            <a:extLst>
              <a:ext uri="{FF2B5EF4-FFF2-40B4-BE49-F238E27FC236}">
                <a16:creationId xmlns:a16="http://schemas.microsoft.com/office/drawing/2014/main" id="{73D918F5-81B1-5284-4FF1-514DDBBC4B26}"/>
              </a:ext>
            </a:extLst>
          </p:cNvPr>
          <p:cNvSpPr>
            <a:spLocks noChangeArrowheads="1"/>
          </p:cNvSpPr>
          <p:nvPr/>
        </p:nvSpPr>
        <p:spPr bwMode="auto">
          <a:xfrm>
            <a:off x="8471836" y="3479833"/>
            <a:ext cx="1168400" cy="541338"/>
          </a:xfrm>
          <a:prstGeom prst="ellipse">
            <a:avLst/>
          </a:prstGeom>
          <a:noFill/>
          <a:ln w="54720">
            <a:solidFill>
              <a:srgbClr val="C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TextBox 10">
            <a:extLst>
              <a:ext uri="{FF2B5EF4-FFF2-40B4-BE49-F238E27FC236}">
                <a16:creationId xmlns:a16="http://schemas.microsoft.com/office/drawing/2014/main" id="{B0C65C6F-3837-C2FF-1EAE-B1944B82D50E}"/>
              </a:ext>
            </a:extLst>
          </p:cNvPr>
          <p:cNvSpPr txBox="1"/>
          <p:nvPr/>
        </p:nvSpPr>
        <p:spPr>
          <a:xfrm>
            <a:off x="4151966" y="652496"/>
            <a:ext cx="2833687" cy="1200150"/>
          </a:xfrm>
          <a:prstGeom prst="rect">
            <a:avLst/>
          </a:prstGeom>
          <a:solidFill>
            <a:schemeClr val="bg1">
              <a:lumMod val="75000"/>
            </a:schemeClr>
          </a:solidFill>
          <a:ln>
            <a:solidFill>
              <a:srgbClr val="C00000"/>
            </a:solidFill>
          </a:ln>
        </p:spPr>
        <p:style>
          <a:lnRef idx="2">
            <a:schemeClr val="dk1"/>
          </a:lnRef>
          <a:fillRef idx="1">
            <a:schemeClr val="lt1"/>
          </a:fillRef>
          <a:effectRef idx="0">
            <a:schemeClr val="dk1"/>
          </a:effectRef>
          <a:fontRef idx="minor">
            <a:schemeClr val="dk1"/>
          </a:fontRef>
        </p:style>
        <p:txBody>
          <a:bodyPr>
            <a:spAutoFit/>
          </a:bodyPr>
          <a:lstStyle/>
          <a:p>
            <a:pPr>
              <a:buFont typeface="Times New Roman" pitchFamily="16" charset="0"/>
              <a:buNone/>
              <a:defRPr/>
            </a:pPr>
            <a:r>
              <a:rPr lang="en-US" dirty="0">
                <a:solidFill>
                  <a:schemeClr val="tx1"/>
                </a:solidFill>
              </a:rPr>
              <a:t>The fourth byte stores the day of the month without modification.</a:t>
            </a:r>
          </a:p>
          <a:p>
            <a:pPr algn="ctr">
              <a:buFont typeface="Times New Roman" pitchFamily="16" charset="0"/>
              <a:buNone/>
              <a:defRPr/>
            </a:pPr>
            <a:r>
              <a:rPr lang="en-US" dirty="0">
                <a:solidFill>
                  <a:schemeClr val="tx1"/>
                </a:solidFill>
              </a:rPr>
              <a:t>17 means 17</a:t>
            </a:r>
          </a:p>
        </p:txBody>
      </p:sp>
      <p:sp>
        <p:nvSpPr>
          <p:cNvPr id="12" name="TextBox 11">
            <a:extLst>
              <a:ext uri="{FF2B5EF4-FFF2-40B4-BE49-F238E27FC236}">
                <a16:creationId xmlns:a16="http://schemas.microsoft.com/office/drawing/2014/main" id="{328DDD8B-27A8-A822-835F-1A86BD62B5E3}"/>
              </a:ext>
            </a:extLst>
          </p:cNvPr>
          <p:cNvSpPr txBox="1"/>
          <p:nvPr/>
        </p:nvSpPr>
        <p:spPr>
          <a:xfrm>
            <a:off x="1624949" y="1460533"/>
            <a:ext cx="3581400" cy="923925"/>
          </a:xfrm>
          <a:prstGeom prst="rect">
            <a:avLst/>
          </a:prstGeom>
          <a:solidFill>
            <a:schemeClr val="bg1">
              <a:lumMod val="75000"/>
            </a:schemeClr>
          </a:solidFill>
          <a:ln>
            <a:solidFill>
              <a:srgbClr val="C00000"/>
            </a:solidFill>
          </a:ln>
        </p:spPr>
        <p:style>
          <a:lnRef idx="2">
            <a:schemeClr val="dk1"/>
          </a:lnRef>
          <a:fillRef idx="1">
            <a:schemeClr val="lt1"/>
          </a:fillRef>
          <a:effectRef idx="0">
            <a:schemeClr val="dk1"/>
          </a:effectRef>
          <a:fontRef idx="minor">
            <a:schemeClr val="dk1"/>
          </a:fontRef>
        </p:style>
        <p:txBody>
          <a:bodyPr>
            <a:spAutoFit/>
          </a:bodyPr>
          <a:lstStyle/>
          <a:p>
            <a:pPr>
              <a:buFont typeface="Times New Roman" pitchFamily="16" charset="0"/>
              <a:buNone/>
              <a:defRPr/>
            </a:pPr>
            <a:r>
              <a:rPr lang="en-US" dirty="0">
                <a:solidFill>
                  <a:schemeClr val="tx1"/>
                </a:solidFill>
              </a:rPr>
              <a:t>The second byte stores the year with a delta of +100.</a:t>
            </a:r>
          </a:p>
          <a:p>
            <a:pPr algn="ctr">
              <a:buFont typeface="Times New Roman" pitchFamily="16" charset="0"/>
              <a:buNone/>
              <a:defRPr/>
            </a:pPr>
            <a:r>
              <a:rPr lang="en-US" dirty="0">
                <a:solidFill>
                  <a:schemeClr val="tx1"/>
                </a:solidFill>
              </a:rPr>
              <a:t>126 means 126 – 100 = 26</a:t>
            </a:r>
          </a:p>
        </p:txBody>
      </p:sp>
      <p:sp>
        <p:nvSpPr>
          <p:cNvPr id="13" name="TextBox 12">
            <a:extLst>
              <a:ext uri="{FF2B5EF4-FFF2-40B4-BE49-F238E27FC236}">
                <a16:creationId xmlns:a16="http://schemas.microsoft.com/office/drawing/2014/main" id="{950A0421-AA0B-A76B-B8A9-1675B3A4D1A3}"/>
              </a:ext>
            </a:extLst>
          </p:cNvPr>
          <p:cNvSpPr txBox="1"/>
          <p:nvPr/>
        </p:nvSpPr>
        <p:spPr>
          <a:xfrm>
            <a:off x="2264711" y="4395821"/>
            <a:ext cx="3124200" cy="923925"/>
          </a:xfrm>
          <a:prstGeom prst="rect">
            <a:avLst/>
          </a:prstGeom>
          <a:solidFill>
            <a:schemeClr val="bg1">
              <a:lumMod val="75000"/>
            </a:schemeClr>
          </a:solidFill>
          <a:ln>
            <a:solidFill>
              <a:srgbClr val="C00000"/>
            </a:solidFill>
          </a:ln>
        </p:spPr>
        <p:style>
          <a:lnRef idx="2">
            <a:schemeClr val="dk1"/>
          </a:lnRef>
          <a:fillRef idx="1">
            <a:schemeClr val="lt1"/>
          </a:fillRef>
          <a:effectRef idx="0">
            <a:schemeClr val="dk1"/>
          </a:effectRef>
          <a:fontRef idx="minor">
            <a:schemeClr val="dk1"/>
          </a:fontRef>
        </p:style>
        <p:txBody>
          <a:bodyPr>
            <a:spAutoFit/>
          </a:bodyPr>
          <a:lstStyle/>
          <a:p>
            <a:pPr>
              <a:buFont typeface="Times New Roman" pitchFamily="16" charset="0"/>
              <a:buNone/>
              <a:defRPr/>
            </a:pPr>
            <a:r>
              <a:rPr lang="en-US" dirty="0">
                <a:solidFill>
                  <a:schemeClr val="tx1"/>
                </a:solidFill>
              </a:rPr>
              <a:t>The first byte stores the century with a delta of +100.</a:t>
            </a:r>
          </a:p>
          <a:p>
            <a:pPr algn="ctr">
              <a:buFont typeface="Times New Roman" pitchFamily="16" charset="0"/>
              <a:buNone/>
              <a:defRPr/>
            </a:pPr>
            <a:r>
              <a:rPr lang="en-US" dirty="0">
                <a:solidFill>
                  <a:schemeClr val="tx1"/>
                </a:solidFill>
              </a:rPr>
              <a:t>120 means 120-100=20</a:t>
            </a:r>
          </a:p>
        </p:txBody>
      </p:sp>
      <p:sp>
        <p:nvSpPr>
          <p:cNvPr id="14" name="TextBox 13">
            <a:extLst>
              <a:ext uri="{FF2B5EF4-FFF2-40B4-BE49-F238E27FC236}">
                <a16:creationId xmlns:a16="http://schemas.microsoft.com/office/drawing/2014/main" id="{DB3934DD-12E8-7D67-4E69-436128ED7229}"/>
              </a:ext>
            </a:extLst>
          </p:cNvPr>
          <p:cNvSpPr txBox="1"/>
          <p:nvPr/>
        </p:nvSpPr>
        <p:spPr>
          <a:xfrm>
            <a:off x="3945874" y="5637246"/>
            <a:ext cx="4329112" cy="923925"/>
          </a:xfrm>
          <a:prstGeom prst="rect">
            <a:avLst/>
          </a:prstGeom>
          <a:solidFill>
            <a:schemeClr val="bg1">
              <a:lumMod val="75000"/>
            </a:schemeClr>
          </a:solidFill>
          <a:ln>
            <a:solidFill>
              <a:srgbClr val="C00000"/>
            </a:solidFill>
          </a:ln>
        </p:spPr>
        <p:style>
          <a:lnRef idx="2">
            <a:schemeClr val="dk1"/>
          </a:lnRef>
          <a:fillRef idx="1">
            <a:schemeClr val="lt1"/>
          </a:fillRef>
          <a:effectRef idx="0">
            <a:schemeClr val="dk1"/>
          </a:effectRef>
          <a:fontRef idx="minor">
            <a:schemeClr val="dk1"/>
          </a:fontRef>
        </p:style>
        <p:txBody>
          <a:bodyPr>
            <a:spAutoFit/>
          </a:bodyPr>
          <a:lstStyle/>
          <a:p>
            <a:pPr>
              <a:buFont typeface="Times New Roman" pitchFamily="16" charset="0"/>
              <a:buNone/>
              <a:defRPr/>
            </a:pPr>
            <a:r>
              <a:rPr lang="en-US" dirty="0">
                <a:solidFill>
                  <a:schemeClr val="tx1"/>
                </a:solidFill>
              </a:rPr>
              <a:t>The last 3 bytes store hours, minutes and seconds with a delta of +1 on each.</a:t>
            </a:r>
          </a:p>
          <a:p>
            <a:pPr algn="ctr">
              <a:buFont typeface="Times New Roman" pitchFamily="16" charset="0"/>
              <a:buNone/>
              <a:defRPr/>
            </a:pPr>
            <a:r>
              <a:rPr lang="en-US" dirty="0">
                <a:solidFill>
                  <a:schemeClr val="tx1"/>
                </a:solidFill>
              </a:rPr>
              <a:t>16, 41, 1 = 15:40:00 (or 3:40pm)</a:t>
            </a:r>
          </a:p>
        </p:txBody>
      </p:sp>
      <p:sp>
        <p:nvSpPr>
          <p:cNvPr id="15" name="TextBox 14">
            <a:extLst>
              <a:ext uri="{FF2B5EF4-FFF2-40B4-BE49-F238E27FC236}">
                <a16:creationId xmlns:a16="http://schemas.microsoft.com/office/drawing/2014/main" id="{B5E4763F-4681-2BC2-164F-BA4FB8764916}"/>
              </a:ext>
            </a:extLst>
          </p:cNvPr>
          <p:cNvSpPr txBox="1"/>
          <p:nvPr/>
        </p:nvSpPr>
        <p:spPr>
          <a:xfrm>
            <a:off x="1787668" y="3854484"/>
            <a:ext cx="2971800" cy="922337"/>
          </a:xfrm>
          <a:prstGeom prst="rect">
            <a:avLst/>
          </a:prstGeom>
          <a:solidFill>
            <a:schemeClr val="bg1">
              <a:lumMod val="75000"/>
            </a:schemeClr>
          </a:solidFill>
          <a:ln>
            <a:solidFill>
              <a:srgbClr val="C00000"/>
            </a:solidFill>
          </a:ln>
        </p:spPr>
        <p:style>
          <a:lnRef idx="2">
            <a:schemeClr val="dk1"/>
          </a:lnRef>
          <a:fillRef idx="1">
            <a:schemeClr val="lt1"/>
          </a:fillRef>
          <a:effectRef idx="0">
            <a:schemeClr val="dk1"/>
          </a:effectRef>
          <a:fontRef idx="minor">
            <a:schemeClr val="dk1"/>
          </a:fontRef>
        </p:style>
        <p:txBody>
          <a:bodyPr>
            <a:spAutoFit/>
          </a:bodyPr>
          <a:lstStyle/>
          <a:p>
            <a:pPr>
              <a:buFont typeface="Times New Roman" pitchFamily="16" charset="0"/>
              <a:buNone/>
              <a:defRPr/>
            </a:pPr>
            <a:r>
              <a:rPr lang="en-US" dirty="0">
                <a:solidFill>
                  <a:schemeClr val="tx1"/>
                </a:solidFill>
              </a:rPr>
              <a:t>The third byte stores the month without modification.</a:t>
            </a:r>
          </a:p>
          <a:p>
            <a:pPr algn="ctr">
              <a:buFont typeface="Times New Roman" pitchFamily="16" charset="0"/>
              <a:buNone/>
              <a:defRPr/>
            </a:pPr>
            <a:r>
              <a:rPr lang="en-US" dirty="0">
                <a:solidFill>
                  <a:schemeClr val="tx1"/>
                </a:solidFill>
              </a:rPr>
              <a:t>6 means 6, i.e. June</a:t>
            </a:r>
          </a:p>
        </p:txBody>
      </p:sp>
    </p:spTree>
    <p:extLst>
      <p:ext uri="{BB962C8B-B14F-4D97-AF65-F5344CB8AC3E}">
        <p14:creationId xmlns:p14="http://schemas.microsoft.com/office/powerpoint/2010/main" val="3354649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grpId="0" nodeType="clickEffect">
                                  <p:stCondLst>
                                    <p:cond delay="0"/>
                                  </p:stCondLst>
                                  <p:childTnLst>
                                    <p:set>
                                      <p:cBhvr additive="repl">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fill="hold" grpId="1" nodeType="clickEffect">
                                  <p:stCondLst>
                                    <p:cond delay="0"/>
                                  </p:stCondLst>
                                  <p:childTnLst>
                                    <p:set>
                                      <p:cBhvr additive="repl">
                                        <p:cTn id="12" dur="1" fill="hold">
                                          <p:stCondLst>
                                            <p:cond delay="0"/>
                                          </p:stCondLst>
                                        </p:cTn>
                                        <p:tgtEl>
                                          <p:spTgt spid="6"/>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13"/>
                                        </p:tgtEl>
                                        <p:attrNameLst>
                                          <p:attrName>style.visibility</p:attrName>
                                        </p:attrNameLst>
                                      </p:cBhvr>
                                      <p:to>
                                        <p:strVal val="hidden"/>
                                      </p:to>
                                    </p:set>
                                  </p:childTnLst>
                                </p:cTn>
                              </p:par>
                              <p:par>
                                <p:cTn id="15" presetID="1" presetClass="entr" fill="hold" grpId="0" nodeType="withEffect">
                                  <p:stCondLst>
                                    <p:cond delay="0"/>
                                  </p:stCondLst>
                                  <p:childTnLst>
                                    <p:set>
                                      <p:cBhvr additive="repl">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fill="hold" grpId="1" nodeType="clickEffect">
                                  <p:stCondLst>
                                    <p:cond delay="0"/>
                                  </p:stCondLst>
                                  <p:childTnLst>
                                    <p:set>
                                      <p:cBhvr additive="repl">
                                        <p:cTn id="22" dur="1" fill="hold">
                                          <p:stCondLst>
                                            <p:cond delay="0"/>
                                          </p:stCondLst>
                                        </p:cTn>
                                        <p:tgtEl>
                                          <p:spTgt spid="7"/>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2"/>
                                        </p:tgtEl>
                                        <p:attrNameLst>
                                          <p:attrName>style.visibility</p:attrName>
                                        </p:attrNameLst>
                                      </p:cBhvr>
                                      <p:to>
                                        <p:strVal val="hidden"/>
                                      </p:to>
                                    </p:set>
                                  </p:childTnLst>
                                </p:cTn>
                              </p:par>
                              <p:par>
                                <p:cTn id="25" presetID="1" presetClass="entr" fill="hold" grpId="0" nodeType="withEffect">
                                  <p:stCondLst>
                                    <p:cond delay="0"/>
                                  </p:stCondLst>
                                  <p:childTnLst>
                                    <p:set>
                                      <p:cBhvr additive="repl">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fill="hold" grpId="1" nodeType="clickEffect">
                                  <p:stCondLst>
                                    <p:cond delay="0"/>
                                  </p:stCondLst>
                                  <p:childTnLst>
                                    <p:set>
                                      <p:cBhvr additive="repl">
                                        <p:cTn id="32" dur="1" fill="hold">
                                          <p:stCondLst>
                                            <p:cond delay="0"/>
                                          </p:stCondLst>
                                        </p:cTn>
                                        <p:tgtEl>
                                          <p:spTgt spid="8"/>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ntr" fill="hold" grpId="0" nodeType="withEffect">
                                  <p:stCondLst>
                                    <p:cond delay="0"/>
                                  </p:stCondLst>
                                  <p:childTnLst>
                                    <p:set>
                                      <p:cBhvr additive="repl">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fill="hold" grpId="1" nodeType="clickEffect">
                                  <p:stCondLst>
                                    <p:cond delay="0"/>
                                  </p:stCondLst>
                                  <p:childTnLst>
                                    <p:set>
                                      <p:cBhvr additive="repl">
                                        <p:cTn id="42" dur="1" fill="hold">
                                          <p:stCondLst>
                                            <p:cond delay="0"/>
                                          </p:stCondLst>
                                        </p:cTn>
                                        <p:tgtEl>
                                          <p:spTgt spid="9"/>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11"/>
                                        </p:tgtEl>
                                        <p:attrNameLst>
                                          <p:attrName>style.visibility</p:attrName>
                                        </p:attrNameLst>
                                      </p:cBhvr>
                                      <p:to>
                                        <p:strVal val="hidden"/>
                                      </p:to>
                                    </p:set>
                                  </p:childTnLst>
                                </p:cTn>
                              </p:par>
                              <p:par>
                                <p:cTn id="45" presetID="1" presetClass="entr" fill="hold" grpId="0" nodeType="withEffect">
                                  <p:stCondLst>
                                    <p:cond delay="0"/>
                                  </p:stCondLst>
                                  <p:childTnLst>
                                    <p:set>
                                      <p:cBhvr additive="repl">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10" grpId="0" animBg="1"/>
      <p:bldP spid="11" grpId="0" animBg="1"/>
      <p:bldP spid="11" grpId="1" animBg="1"/>
      <p:bldP spid="12" grpId="0" animBg="1"/>
      <p:bldP spid="12" grpId="1" animBg="1"/>
      <p:bldP spid="13" grpId="0" animBg="1"/>
      <p:bldP spid="13" grpId="1" animBg="1"/>
      <p:bldP spid="14" grpId="0" animBg="1"/>
      <p:bldP spid="15" grpId="0" animBg="1"/>
      <p:bldP spid="15"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70482-FE1F-CB8A-D3F3-C22287592550}"/>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34887981-7C52-C983-4E04-24D080CAAE5A}"/>
              </a:ext>
            </a:extLst>
          </p:cNvPr>
          <p:cNvSpPr txBox="1">
            <a:spLocks noChangeArrowheads="1"/>
          </p:cNvSpPr>
          <p:nvPr/>
        </p:nvSpPr>
        <p:spPr bwMode="auto">
          <a:xfrm>
            <a:off x="2883568" y="1362810"/>
            <a:ext cx="7162800"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9pPr>
          </a:lstStyle>
          <a:p>
            <a:pPr eaLnBrk="1" hangingPunct="1"/>
            <a:r>
              <a:rPr lang="en-US" sz="2800">
                <a:solidFill>
                  <a:srgbClr val="000000"/>
                </a:solidFill>
                <a:latin typeface="Gill Sans" charset="0"/>
              </a:rPr>
              <a:t>Sometimes your Date isn't what you need</a:t>
            </a:r>
          </a:p>
        </p:txBody>
      </p:sp>
      <p:sp>
        <p:nvSpPr>
          <p:cNvPr id="3" name="Text Box 2">
            <a:extLst>
              <a:ext uri="{FF2B5EF4-FFF2-40B4-BE49-F238E27FC236}">
                <a16:creationId xmlns:a16="http://schemas.microsoft.com/office/drawing/2014/main" id="{97DB076F-C1E2-531C-37E6-EA975F49DE69}"/>
              </a:ext>
            </a:extLst>
          </p:cNvPr>
          <p:cNvSpPr txBox="1">
            <a:spLocks noChangeArrowheads="1"/>
          </p:cNvSpPr>
          <p:nvPr/>
        </p:nvSpPr>
        <p:spPr bwMode="auto">
          <a:xfrm>
            <a:off x="3948781" y="2389923"/>
            <a:ext cx="503237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 pos="3619500" algn="l"/>
                <a:tab pos="4343400" algn="l"/>
              </a:tabLst>
              <a:defRPr>
                <a:solidFill>
                  <a:schemeClr val="tx1"/>
                </a:solidFill>
                <a:latin typeface="Arial" charset="0"/>
                <a:cs typeface="Arial" charset="0"/>
              </a:defRPr>
            </a:lvl9pPr>
          </a:lstStyle>
          <a:p>
            <a:pPr eaLnBrk="1" hangingPunct="1"/>
            <a:r>
              <a:rPr lang="en-US">
                <a:solidFill>
                  <a:srgbClr val="000000"/>
                </a:solidFill>
                <a:latin typeface="Gill Sans" charset="0"/>
              </a:rPr>
              <a:t>What you really need is a Timestamp</a:t>
            </a:r>
          </a:p>
        </p:txBody>
      </p:sp>
      <p:sp>
        <p:nvSpPr>
          <p:cNvPr id="4" name="Text Box 3">
            <a:extLst>
              <a:ext uri="{FF2B5EF4-FFF2-40B4-BE49-F238E27FC236}">
                <a16:creationId xmlns:a16="http://schemas.microsoft.com/office/drawing/2014/main" id="{62A27789-DF14-2678-044B-9305AD0FC6A4}"/>
              </a:ext>
            </a:extLst>
          </p:cNvPr>
          <p:cNvSpPr txBox="1">
            <a:spLocks noChangeArrowheads="1"/>
          </p:cNvSpPr>
          <p:nvPr/>
        </p:nvSpPr>
        <p:spPr bwMode="auto">
          <a:xfrm>
            <a:off x="2566068" y="3085248"/>
            <a:ext cx="7362825" cy="2252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182563" eaLnBrk="0" hangingPunct="0">
              <a:tabLst>
                <a:tab pos="590550" algn="l"/>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charset="0"/>
                <a:cs typeface="Arial" charset="0"/>
              </a:defRPr>
            </a:lvl1pPr>
            <a:lvl2pPr marL="742950" indent="-285750" eaLnBrk="0" hangingPunct="0">
              <a:tabLst>
                <a:tab pos="590550" algn="l"/>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charset="0"/>
                <a:cs typeface="Arial" charset="0"/>
              </a:defRPr>
            </a:lvl2pPr>
            <a:lvl3pPr marL="1143000" indent="-228600" eaLnBrk="0" hangingPunct="0">
              <a:tabLst>
                <a:tab pos="590550" algn="l"/>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charset="0"/>
                <a:cs typeface="Arial" charset="0"/>
              </a:defRPr>
            </a:lvl3pPr>
            <a:lvl4pPr marL="1600200" indent="-228600" eaLnBrk="0" hangingPunct="0">
              <a:tabLst>
                <a:tab pos="590550" algn="l"/>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charset="0"/>
                <a:cs typeface="Arial" charset="0"/>
              </a:defRPr>
            </a:lvl4pPr>
            <a:lvl5pPr marL="2057400" indent="-228600" eaLnBrk="0" hangingPunct="0">
              <a:tabLst>
                <a:tab pos="590550" algn="l"/>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590550" algn="l"/>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590550" algn="l"/>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590550" algn="l"/>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590550" algn="l"/>
                <a:tab pos="723900" algn="l"/>
                <a:tab pos="1447800" algn="l"/>
                <a:tab pos="2171700" algn="l"/>
                <a:tab pos="2895600" algn="l"/>
                <a:tab pos="3619500" algn="l"/>
                <a:tab pos="4343400" algn="l"/>
                <a:tab pos="5067300" algn="l"/>
                <a:tab pos="5791200" algn="l"/>
                <a:tab pos="6515100" algn="l"/>
                <a:tab pos="7239000" algn="l"/>
              </a:tabLst>
              <a:defRPr>
                <a:solidFill>
                  <a:schemeClr val="tx1"/>
                </a:solidFill>
                <a:latin typeface="Arial" charset="0"/>
                <a:cs typeface="Arial" charset="0"/>
              </a:defRPr>
            </a:lvl9pPr>
          </a:lstStyle>
          <a:p>
            <a:pPr eaLnBrk="1" hangingPunct="1">
              <a:spcBef>
                <a:spcPts val="1288"/>
              </a:spcBef>
              <a:spcAft>
                <a:spcPts val="575"/>
              </a:spcAft>
              <a:buSzPct val="45000"/>
              <a:buFont typeface="Wingdings" charset="2"/>
              <a:buChar char=""/>
            </a:pPr>
            <a:r>
              <a:rPr lang="en-US" sz="2000">
                <a:solidFill>
                  <a:srgbClr val="000000"/>
                </a:solidFill>
                <a:latin typeface="Gill Sans" charset="0"/>
              </a:rPr>
              <a:t>Nanosecond granularity – most system clocks can only report microseconds though.</a:t>
            </a:r>
          </a:p>
          <a:p>
            <a:pPr eaLnBrk="1" hangingPunct="1">
              <a:spcBef>
                <a:spcPts val="1288"/>
              </a:spcBef>
              <a:spcAft>
                <a:spcPts val="575"/>
              </a:spcAft>
              <a:buSzPct val="45000"/>
              <a:buFont typeface="Wingdings" charset="2"/>
              <a:buChar char=""/>
            </a:pPr>
            <a:r>
              <a:rPr lang="en-US" sz="2000">
                <a:solidFill>
                  <a:srgbClr val="000000"/>
                </a:solidFill>
                <a:latin typeface="Gill Sans" charset="0"/>
              </a:rPr>
              <a:t>Timezone included with date/time value</a:t>
            </a:r>
          </a:p>
          <a:p>
            <a:pPr eaLnBrk="1" hangingPunct="1">
              <a:spcBef>
                <a:spcPts val="1288"/>
              </a:spcBef>
              <a:spcAft>
                <a:spcPts val="575"/>
              </a:spcAft>
              <a:buSzPct val="45000"/>
              <a:buFont typeface="Wingdings" charset="2"/>
              <a:buChar char=""/>
            </a:pPr>
            <a:r>
              <a:rPr lang="en-US" sz="2000">
                <a:solidFill>
                  <a:srgbClr val="000000"/>
                </a:solidFill>
                <a:latin typeface="Gill Sans" charset="0"/>
              </a:rPr>
              <a:t>Localized times and timezone conversion</a:t>
            </a:r>
          </a:p>
        </p:txBody>
      </p:sp>
      <p:cxnSp>
        <p:nvCxnSpPr>
          <p:cNvPr id="5" name="Straight Connector 4">
            <a:extLst>
              <a:ext uri="{FF2B5EF4-FFF2-40B4-BE49-F238E27FC236}">
                <a16:creationId xmlns:a16="http://schemas.microsoft.com/office/drawing/2014/main" id="{809E4005-A740-EF9A-54E4-34E07F49965E}"/>
              </a:ext>
            </a:extLst>
          </p:cNvPr>
          <p:cNvCxnSpPr/>
          <p:nvPr/>
        </p:nvCxnSpPr>
        <p:spPr>
          <a:xfrm>
            <a:off x="1603704" y="2127985"/>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424AE1D-DF07-1051-BBA4-F6EBB4F61389}"/>
              </a:ext>
            </a:extLst>
          </p:cNvPr>
          <p:cNvSpPr txBox="1"/>
          <p:nvPr/>
        </p:nvSpPr>
        <p:spPr>
          <a:xfrm>
            <a:off x="2802294" y="5014744"/>
            <a:ext cx="6587412" cy="646331"/>
          </a:xfrm>
          <a:prstGeom prst="rect">
            <a:avLst/>
          </a:prstGeom>
          <a:noFill/>
        </p:spPr>
        <p:txBody>
          <a:bodyPr wrap="square" rtlCol="0">
            <a:spAutoFit/>
          </a:bodyPr>
          <a:lstStyle/>
          <a:p>
            <a:r>
              <a:rPr lang="en-US" dirty="0"/>
              <a:t>26ai introduces PDB-level SYSDATE/SYSTIMESTAMP</a:t>
            </a:r>
            <a:br>
              <a:rPr lang="en-US" dirty="0"/>
            </a:br>
            <a:r>
              <a:rPr lang="en-US" dirty="0"/>
              <a:t>TIME_AT_DBTIMEZONE</a:t>
            </a:r>
          </a:p>
        </p:txBody>
      </p:sp>
      <p:sp>
        <p:nvSpPr>
          <p:cNvPr id="7" name="Rectangle 1">
            <a:extLst>
              <a:ext uri="{FF2B5EF4-FFF2-40B4-BE49-F238E27FC236}">
                <a16:creationId xmlns:a16="http://schemas.microsoft.com/office/drawing/2014/main" id="{23C40073-6EE0-0A02-CD63-6187C215A00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panose="020B0604020202020204" pitchFamily="34" charset="-128"/>
              </a:rPr>
              <a:t>TIME_AT_DBTIMEZONE</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4940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1"/>
          <p:cNvSpPr txBox="1">
            <a:spLocks noChangeArrowheads="1"/>
          </p:cNvSpPr>
          <p:nvPr/>
        </p:nvSpPr>
        <p:spPr bwMode="auto">
          <a:xfrm>
            <a:off x="2420939" y="2209801"/>
            <a:ext cx="8243887" cy="5280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9pPr>
          </a:lstStyle>
          <a:p>
            <a:pPr eaLnBrk="1" hangingPunct="1"/>
            <a:r>
              <a:rPr lang="en-US">
                <a:solidFill>
                  <a:srgbClr val="000000"/>
                </a:solidFill>
                <a:latin typeface="Gill Sans" charset="0"/>
              </a:rPr>
              <a:t>Timestamps, unlike Dates, can be declared to have time zone information stored along with them.  This is helpful in applications with global data.</a:t>
            </a:r>
          </a:p>
          <a:p>
            <a:pPr eaLnBrk="1" hangingPunct="1"/>
            <a:endParaRPr lang="en-US">
              <a:solidFill>
                <a:srgbClr val="000000"/>
              </a:solidFill>
              <a:latin typeface="Gill Sans" charset="0"/>
            </a:endParaRPr>
          </a:p>
          <a:p>
            <a:pPr eaLnBrk="1" hangingPunct="1"/>
            <a:r>
              <a:rPr lang="en-US">
                <a:solidFill>
                  <a:srgbClr val="000000"/>
                </a:solidFill>
                <a:latin typeface="Gill Sans" charset="0"/>
              </a:rPr>
              <a:t>For example:</a:t>
            </a:r>
          </a:p>
          <a:p>
            <a:pPr eaLnBrk="1" hangingPunct="1"/>
            <a:r>
              <a:rPr lang="en-US">
                <a:solidFill>
                  <a:srgbClr val="000000"/>
                </a:solidFill>
                <a:latin typeface="Gill Sans" charset="0"/>
              </a:rPr>
              <a:t>	“2:30pm” occurs </a:t>
            </a:r>
            <a:r>
              <a:rPr lang="en-US" b="1">
                <a:solidFill>
                  <a:srgbClr val="000000"/>
                </a:solidFill>
                <a:latin typeface="Gill Sans" charset="0"/>
              </a:rPr>
              <a:t>39 times</a:t>
            </a:r>
            <a:r>
              <a:rPr lang="en-US">
                <a:solidFill>
                  <a:srgbClr val="000000"/>
                </a:solidFill>
                <a:latin typeface="Gill Sans" charset="0"/>
              </a:rPr>
              <a:t> during any given day!  </a:t>
            </a:r>
          </a:p>
          <a:p>
            <a:pPr eaLnBrk="1" hangingPunct="1"/>
            <a:r>
              <a:rPr lang="en-US">
                <a:solidFill>
                  <a:srgbClr val="000000"/>
                </a:solidFill>
                <a:latin typeface="Gill Sans" charset="0"/>
              </a:rPr>
              <a:t>	“2:30pm -04:00” occurs only once each day.</a:t>
            </a:r>
          </a:p>
        </p:txBody>
      </p:sp>
      <p:sp>
        <p:nvSpPr>
          <p:cNvPr id="15363" name="Text Box 2"/>
          <p:cNvSpPr txBox="1">
            <a:spLocks noChangeArrowheads="1"/>
          </p:cNvSpPr>
          <p:nvPr/>
        </p:nvSpPr>
        <p:spPr bwMode="auto">
          <a:xfrm>
            <a:off x="2438401" y="977900"/>
            <a:ext cx="8328025"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9pPr>
          </a:lstStyle>
          <a:p>
            <a:pPr eaLnBrk="1" hangingPunct="1"/>
            <a:r>
              <a:rPr lang="en-US" sz="2600">
                <a:solidFill>
                  <a:srgbClr val="000000"/>
                </a:solidFill>
                <a:latin typeface="Gill Sans" charset="0"/>
              </a:rPr>
              <a:t>Getting to know your date: From where does it come?</a:t>
            </a:r>
          </a:p>
        </p:txBody>
      </p:sp>
      <p:cxnSp>
        <p:nvCxnSpPr>
          <p:cNvPr id="4" name="Straight Connector 3"/>
          <p:cNvCxnSpPr/>
          <p:nvPr/>
        </p:nvCxnSpPr>
        <p:spPr>
          <a:xfrm>
            <a:off x="1539536" y="17526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5690749"/>
      </p:ext>
    </p:extLst>
  </p:cSld>
  <p:clrMapOvr>
    <a:masterClrMapping/>
  </p:clrMapOvr>
  <p:transition spd="med">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1"/>
          <p:cNvSpPr txBox="1">
            <a:spLocks noChangeArrowheads="1"/>
          </p:cNvSpPr>
          <p:nvPr/>
        </p:nvSpPr>
        <p:spPr bwMode="auto">
          <a:xfrm>
            <a:off x="1947524" y="533400"/>
            <a:ext cx="8328025"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9pPr>
          </a:lstStyle>
          <a:p>
            <a:pPr algn="ctr" eaLnBrk="1" hangingPunct="1"/>
            <a:r>
              <a:rPr lang="en-US" sz="2600" dirty="0">
                <a:solidFill>
                  <a:srgbClr val="000000"/>
                </a:solidFill>
                <a:latin typeface="Gill Sans" charset="0"/>
              </a:rPr>
              <a:t>Getting to know your date: From where does it come?</a:t>
            </a:r>
          </a:p>
        </p:txBody>
      </p:sp>
      <p:sp>
        <p:nvSpPr>
          <p:cNvPr id="16387" name="Text Box 2"/>
          <p:cNvSpPr txBox="1">
            <a:spLocks noChangeArrowheads="1"/>
          </p:cNvSpPr>
          <p:nvPr/>
        </p:nvSpPr>
        <p:spPr bwMode="auto">
          <a:xfrm>
            <a:off x="2427289" y="2819401"/>
            <a:ext cx="8243887" cy="365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 pos="7239000" algn="l"/>
                <a:tab pos="7962900" algn="l"/>
              </a:tabLst>
              <a:defRPr>
                <a:solidFill>
                  <a:schemeClr val="tx1"/>
                </a:solidFill>
                <a:latin typeface="Arial" charset="0"/>
                <a:cs typeface="Arial" charset="0"/>
              </a:defRPr>
            </a:lvl9pPr>
          </a:lstStyle>
          <a:p>
            <a:pPr eaLnBrk="1" hangingPunct="1"/>
            <a:r>
              <a:rPr lang="en-US">
                <a:solidFill>
                  <a:srgbClr val="000000"/>
                </a:solidFill>
                <a:latin typeface="Gill Sans" charset="0"/>
              </a:rPr>
              <a:t>Timestamp with time zone  - Like a Date except an offset (hours:minutes from UTC/GMT) is stored with it.</a:t>
            </a:r>
          </a:p>
          <a:p>
            <a:pPr eaLnBrk="1" hangingPunct="1"/>
            <a:endParaRPr lang="en-US">
              <a:solidFill>
                <a:srgbClr val="000000"/>
              </a:solidFill>
              <a:latin typeface="Gill Sans" charset="0"/>
            </a:endParaRPr>
          </a:p>
          <a:p>
            <a:pPr eaLnBrk="1" hangingPunct="1"/>
            <a:r>
              <a:rPr lang="en-US">
                <a:solidFill>
                  <a:srgbClr val="000000"/>
                </a:solidFill>
                <a:latin typeface="Gill Sans" charset="0"/>
              </a:rPr>
              <a:t>vs </a:t>
            </a:r>
          </a:p>
          <a:p>
            <a:pPr eaLnBrk="1" hangingPunct="1"/>
            <a:endParaRPr lang="en-US">
              <a:solidFill>
                <a:srgbClr val="000000"/>
              </a:solidFill>
              <a:latin typeface="Gill Sans" charset="0"/>
            </a:endParaRPr>
          </a:p>
          <a:p>
            <a:pPr eaLnBrk="1" hangingPunct="1"/>
            <a:r>
              <a:rPr lang="en-US">
                <a:solidFill>
                  <a:srgbClr val="000000"/>
                </a:solidFill>
                <a:latin typeface="Gill Sans" charset="0"/>
              </a:rPr>
              <a:t>Timestamp with local time zone – Like a Date but all values are stored internally as the DBTIMEZONE and are converted to/from sessiontimezone as needed.</a:t>
            </a:r>
          </a:p>
        </p:txBody>
      </p:sp>
      <p:sp>
        <p:nvSpPr>
          <p:cNvPr id="16388" name="Text Box 3"/>
          <p:cNvSpPr txBox="1">
            <a:spLocks noChangeArrowheads="1"/>
          </p:cNvSpPr>
          <p:nvPr/>
        </p:nvSpPr>
        <p:spPr bwMode="auto">
          <a:xfrm>
            <a:off x="2558710" y="1878675"/>
            <a:ext cx="710565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 pos="3619500" algn="l"/>
                <a:tab pos="4343400" algn="l"/>
                <a:tab pos="5067300" algn="l"/>
                <a:tab pos="5791200" algn="l"/>
                <a:tab pos="6515100" algn="l"/>
              </a:tabLst>
              <a:defRPr>
                <a:solidFill>
                  <a:schemeClr val="tx1"/>
                </a:solidFill>
                <a:latin typeface="Arial" charset="0"/>
                <a:cs typeface="Arial" charset="0"/>
              </a:defRPr>
            </a:lvl9pPr>
          </a:lstStyle>
          <a:p>
            <a:pPr algn="ctr" eaLnBrk="1" hangingPunct="1"/>
            <a:r>
              <a:rPr lang="en-US" sz="2000" dirty="0">
                <a:solidFill>
                  <a:srgbClr val="000000"/>
                </a:solidFill>
                <a:latin typeface="Gill Sans" charset="0"/>
              </a:rPr>
              <a:t>Two timestamp types are available to support time zones</a:t>
            </a:r>
          </a:p>
        </p:txBody>
      </p:sp>
      <p:cxnSp>
        <p:nvCxnSpPr>
          <p:cNvPr id="5" name="Straight Connector 4"/>
          <p:cNvCxnSpPr/>
          <p:nvPr/>
        </p:nvCxnSpPr>
        <p:spPr>
          <a:xfrm>
            <a:off x="1539536" y="12954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825772"/>
      </p:ext>
    </p:extLst>
  </p:cSld>
  <p:clrMapOvr>
    <a:masterClrMapping/>
  </p:clrMapOvr>
  <p:transition spd="med">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1"/>
          <p:cNvSpPr txBox="1">
            <a:spLocks noChangeArrowheads="1"/>
          </p:cNvSpPr>
          <p:nvPr/>
        </p:nvSpPr>
        <p:spPr bwMode="auto">
          <a:xfrm>
            <a:off x="1627188" y="901700"/>
            <a:ext cx="8970962" cy="132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p>
        </p:txBody>
      </p:sp>
      <p:sp>
        <p:nvSpPr>
          <p:cNvPr id="17411" name="Text Box 2"/>
          <p:cNvSpPr txBox="1">
            <a:spLocks noChangeArrowheads="1"/>
          </p:cNvSpPr>
          <p:nvPr/>
        </p:nvSpPr>
        <p:spPr bwMode="auto">
          <a:xfrm>
            <a:off x="1595438" y="882651"/>
            <a:ext cx="8996362" cy="1168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p>
        </p:txBody>
      </p:sp>
      <p:sp>
        <p:nvSpPr>
          <p:cNvPr id="25604" name="TextBox 1"/>
          <p:cNvSpPr txBox="1">
            <a:spLocks noChangeArrowheads="1"/>
          </p:cNvSpPr>
          <p:nvPr/>
        </p:nvSpPr>
        <p:spPr bwMode="auto">
          <a:xfrm>
            <a:off x="1747838" y="1984376"/>
            <a:ext cx="9398698"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defRPr/>
            </a:pPr>
            <a:r>
              <a:rPr lang="en-US" sz="1500" dirty="0">
                <a:latin typeface="Courier New" pitchFamily="49" charset="0"/>
                <a:cs typeface="Courier New" pitchFamily="49" charset="0"/>
              </a:rPr>
              <a:t>SQL&gt;alter session set </a:t>
            </a:r>
            <a:r>
              <a:rPr lang="en-US" sz="1500" dirty="0" err="1">
                <a:latin typeface="Courier New" pitchFamily="49" charset="0"/>
                <a:cs typeface="Courier New" pitchFamily="49" charset="0"/>
              </a:rPr>
              <a:t>nls_date_format</a:t>
            </a:r>
            <a:r>
              <a:rPr lang="en-US" sz="1500" dirty="0">
                <a:latin typeface="Courier New" pitchFamily="49" charset="0"/>
                <a:cs typeface="Courier New" pitchFamily="49" charset="0"/>
              </a:rPr>
              <a:t>='</a:t>
            </a:r>
            <a:r>
              <a:rPr lang="en-US" sz="1500" dirty="0" err="1">
                <a:latin typeface="Courier New" pitchFamily="49" charset="0"/>
                <a:cs typeface="Courier New" pitchFamily="49" charset="0"/>
              </a:rPr>
              <a:t>yyyy</a:t>
            </a:r>
            <a:r>
              <a:rPr lang="en-US" sz="1500" dirty="0">
                <a:latin typeface="Courier New" pitchFamily="49" charset="0"/>
                <a:cs typeface="Courier New" pitchFamily="49" charset="0"/>
              </a:rPr>
              <a:t>-mm-</a:t>
            </a:r>
            <a:r>
              <a:rPr lang="en-US" sz="1500" dirty="0" err="1">
                <a:latin typeface="Courier New" pitchFamily="49" charset="0"/>
                <a:cs typeface="Courier New" pitchFamily="49" charset="0"/>
              </a:rPr>
              <a:t>dd</a:t>
            </a:r>
            <a:r>
              <a:rPr lang="en-US" sz="1500" dirty="0">
                <a:latin typeface="Courier New" pitchFamily="49" charset="0"/>
                <a:cs typeface="Courier New" pitchFamily="49" charset="0"/>
              </a:rPr>
              <a:t> hh24:mi:ss';</a:t>
            </a:r>
          </a:p>
          <a:p>
            <a:pPr>
              <a:defRPr/>
            </a:pPr>
            <a:r>
              <a:rPr lang="en-US" sz="1500" dirty="0">
                <a:latin typeface="Courier New" pitchFamily="49" charset="0"/>
                <a:cs typeface="Courier New" pitchFamily="49" charset="0"/>
              </a:rPr>
              <a:t>SQL&gt;alter session set </a:t>
            </a:r>
            <a:r>
              <a:rPr lang="en-US" sz="1500" dirty="0" err="1">
                <a:latin typeface="Courier New" pitchFamily="49" charset="0"/>
                <a:cs typeface="Courier New" pitchFamily="49" charset="0"/>
              </a:rPr>
              <a:t>nls_timestamp_tz_format</a:t>
            </a:r>
            <a:r>
              <a:rPr lang="en-US" sz="1500" dirty="0">
                <a:latin typeface="Courier New" pitchFamily="49" charset="0"/>
                <a:cs typeface="Courier New" pitchFamily="49" charset="0"/>
              </a:rPr>
              <a:t>='</a:t>
            </a:r>
            <a:r>
              <a:rPr lang="en-US" sz="1500" dirty="0" err="1">
                <a:latin typeface="Courier New" pitchFamily="49" charset="0"/>
                <a:cs typeface="Courier New" pitchFamily="49" charset="0"/>
              </a:rPr>
              <a:t>yyyy</a:t>
            </a:r>
            <a:r>
              <a:rPr lang="en-US" sz="1500" dirty="0">
                <a:latin typeface="Courier New" pitchFamily="49" charset="0"/>
                <a:cs typeface="Courier New" pitchFamily="49" charset="0"/>
              </a:rPr>
              <a:t>-mm-</a:t>
            </a:r>
            <a:r>
              <a:rPr lang="en-US" sz="1500" dirty="0" err="1">
                <a:latin typeface="Courier New" pitchFamily="49" charset="0"/>
                <a:cs typeface="Courier New" pitchFamily="49" charset="0"/>
              </a:rPr>
              <a:t>dd</a:t>
            </a:r>
            <a:r>
              <a:rPr lang="en-US" sz="1500" dirty="0">
                <a:latin typeface="Courier New" pitchFamily="49" charset="0"/>
                <a:cs typeface="Courier New" pitchFamily="49" charset="0"/>
              </a:rPr>
              <a:t> hh24:mi:ss </a:t>
            </a:r>
            <a:r>
              <a:rPr lang="en-US" sz="1500" dirty="0" err="1">
                <a:latin typeface="Courier New" pitchFamily="49" charset="0"/>
                <a:cs typeface="Courier New" pitchFamily="49" charset="0"/>
              </a:rPr>
              <a:t>tzh:tzm</a:t>
            </a:r>
            <a:r>
              <a:rPr lang="en-US" sz="1500" dirty="0">
                <a:latin typeface="Courier New" pitchFamily="49" charset="0"/>
                <a:cs typeface="Courier New" pitchFamily="49" charset="0"/>
              </a:rPr>
              <a:t>';</a:t>
            </a:r>
          </a:p>
          <a:p>
            <a:pPr>
              <a:defRPr/>
            </a:pPr>
            <a:r>
              <a:rPr lang="en-US" sz="1500" dirty="0">
                <a:latin typeface="Courier New" pitchFamily="49" charset="0"/>
                <a:cs typeface="Courier New" pitchFamily="49" charset="0"/>
              </a:rPr>
              <a:t>SQL&gt; SELECT SYSDATE, NEW_TIME(SYSDATE, 'GMT', 'PDT') GMT_PDT, </a:t>
            </a:r>
          </a:p>
          <a:p>
            <a:pPr marL="342900" indent="-342900">
              <a:buFontTx/>
              <a:buAutoNum type="arabicPlain" startAt="2"/>
              <a:defRPr/>
            </a:pPr>
            <a:r>
              <a:rPr lang="en-US" sz="1500" dirty="0">
                <a:latin typeface="Courier New" pitchFamily="49" charset="0"/>
                <a:cs typeface="Courier New" pitchFamily="49" charset="0"/>
              </a:rPr>
              <a:t>NEW_TIME(SYSDATE, 'EST', 'PDT') EST_PDT FROM DUAL;</a:t>
            </a:r>
          </a:p>
          <a:p>
            <a:pPr>
              <a:defRPr/>
            </a:pPr>
            <a:endParaRPr lang="en-US" sz="1500" dirty="0">
              <a:latin typeface="Courier New" pitchFamily="49" charset="0"/>
              <a:cs typeface="Courier New" pitchFamily="49" charset="0"/>
            </a:endParaRPr>
          </a:p>
          <a:p>
            <a:pPr>
              <a:defRPr/>
            </a:pPr>
            <a:r>
              <a:rPr lang="en-US" sz="1500" b="1" dirty="0">
                <a:latin typeface="Courier New" pitchFamily="49" charset="0"/>
                <a:cs typeface="Courier New" pitchFamily="49" charset="0"/>
              </a:rPr>
              <a:t>SYSDATE             GMT_PDT             EST_PDT</a:t>
            </a:r>
          </a:p>
          <a:p>
            <a:pPr>
              <a:defRPr/>
            </a:pPr>
            <a:r>
              <a:rPr lang="en-US" sz="1500" b="1" dirty="0">
                <a:latin typeface="Courier New" pitchFamily="49" charset="0"/>
                <a:cs typeface="Courier New" pitchFamily="49" charset="0"/>
              </a:rPr>
              <a:t>------------------- ------------------- -------------------</a:t>
            </a:r>
          </a:p>
          <a:p>
            <a:pPr>
              <a:defRPr/>
            </a:pPr>
            <a:r>
              <a:rPr lang="en-US" sz="1500" b="1" dirty="0">
                <a:latin typeface="Courier New" pitchFamily="49" charset="0"/>
                <a:cs typeface="Courier New" pitchFamily="49" charset="0"/>
              </a:rPr>
              <a:t>2026-05-24 16:45:40 2026-05-24 09:45:40 2026-05-24 14:45:40</a:t>
            </a:r>
          </a:p>
          <a:p>
            <a:pPr>
              <a:defRPr/>
            </a:pPr>
            <a:endParaRPr lang="en-US" sz="1500" b="1" dirty="0">
              <a:latin typeface="Courier New" pitchFamily="49" charset="0"/>
              <a:cs typeface="Courier New" pitchFamily="49" charset="0"/>
            </a:endParaRPr>
          </a:p>
          <a:p>
            <a:pPr>
              <a:defRPr/>
            </a:pPr>
            <a:r>
              <a:rPr lang="en-US" sz="1500" dirty="0">
                <a:latin typeface="Courier New" pitchFamily="49" charset="0"/>
                <a:cs typeface="Courier New" pitchFamily="49" charset="0"/>
              </a:rPr>
              <a:t>SQL&gt; SELECT SYSTIMESTAMP, SYSTIMESTAMP AT TIME ZONE '-7:00' FROM DUAL;</a:t>
            </a:r>
          </a:p>
          <a:p>
            <a:pPr>
              <a:defRPr/>
            </a:pPr>
            <a:r>
              <a:rPr lang="en-US" sz="1500" b="1" dirty="0">
                <a:latin typeface="Courier New" pitchFamily="49" charset="0"/>
                <a:cs typeface="Courier New" pitchFamily="49" charset="0"/>
              </a:rPr>
              <a:t>SYSTIMESTAMP                SYSTIMESTAMPATTIMEZONE'-7:00'</a:t>
            </a:r>
          </a:p>
          <a:p>
            <a:pPr>
              <a:defRPr/>
            </a:pPr>
            <a:r>
              <a:rPr lang="en-US" sz="1500" b="1" dirty="0">
                <a:latin typeface="Courier New" pitchFamily="49" charset="0"/>
                <a:cs typeface="Courier New" pitchFamily="49" charset="0"/>
              </a:rPr>
              <a:t>--------------------------  -----------------------------</a:t>
            </a:r>
          </a:p>
          <a:p>
            <a:pPr>
              <a:defRPr/>
            </a:pPr>
            <a:r>
              <a:rPr lang="en-US" sz="1500" b="1" dirty="0">
                <a:latin typeface="Courier New" pitchFamily="49" charset="0"/>
                <a:cs typeface="Courier New" pitchFamily="49" charset="0"/>
              </a:rPr>
              <a:t>2026-05-24 16:45:40 -04:00  2026-05-24 13:45:40 -07:00</a:t>
            </a:r>
          </a:p>
          <a:p>
            <a:pPr>
              <a:defRPr/>
            </a:pPr>
            <a:endParaRPr lang="en-US" sz="1500" b="1" dirty="0">
              <a:latin typeface="Courier New" pitchFamily="49" charset="0"/>
              <a:cs typeface="Courier New" pitchFamily="49" charset="0"/>
            </a:endParaRPr>
          </a:p>
          <a:p>
            <a:pPr>
              <a:defRPr/>
            </a:pPr>
            <a:r>
              <a:rPr lang="en-US" sz="1500" dirty="0">
                <a:latin typeface="Courier New" pitchFamily="49" charset="0"/>
                <a:cs typeface="Courier New" pitchFamily="49" charset="0"/>
              </a:rPr>
              <a:t>SQL&gt;SELECT SYSTIMESTAMP,SYSTIMESTAMP AT TIME ZONE 'US/Pacific' FROM DUAL;</a:t>
            </a:r>
          </a:p>
          <a:p>
            <a:pPr>
              <a:defRPr/>
            </a:pPr>
            <a:r>
              <a:rPr lang="en-US" sz="1500" b="1" dirty="0">
                <a:latin typeface="Courier New" pitchFamily="49" charset="0"/>
                <a:cs typeface="Courier New" pitchFamily="49" charset="0"/>
              </a:rPr>
              <a:t>SYSTIMESTAMP                SYSTIMESTAMPATTIMEZONE'US/PACIFIC'</a:t>
            </a:r>
          </a:p>
          <a:p>
            <a:pPr>
              <a:defRPr/>
            </a:pPr>
            <a:r>
              <a:rPr lang="en-US" sz="1500" b="1" dirty="0">
                <a:latin typeface="Courier New" pitchFamily="49" charset="0"/>
                <a:cs typeface="Courier New" pitchFamily="49" charset="0"/>
              </a:rPr>
              <a:t>--------------------------  ----------------------------------</a:t>
            </a:r>
          </a:p>
          <a:p>
            <a:pPr>
              <a:defRPr/>
            </a:pPr>
            <a:r>
              <a:rPr lang="en-US" sz="1500" b="1" dirty="0">
                <a:latin typeface="Courier New" pitchFamily="49" charset="0"/>
                <a:cs typeface="Courier New" pitchFamily="49" charset="0"/>
              </a:rPr>
              <a:t>2026-05-24 16:45:40 -04:00  2026-05-24 13:45:40 -07:00</a:t>
            </a:r>
          </a:p>
        </p:txBody>
      </p:sp>
      <p:sp>
        <p:nvSpPr>
          <p:cNvPr id="17413" name="Oval 2"/>
          <p:cNvSpPr>
            <a:spLocks noChangeArrowheads="1"/>
          </p:cNvSpPr>
          <p:nvPr/>
        </p:nvSpPr>
        <p:spPr bwMode="auto">
          <a:xfrm>
            <a:off x="7287133" y="4705259"/>
            <a:ext cx="762000" cy="406400"/>
          </a:xfrm>
          <a:prstGeom prst="ellipse">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14" name="Oval 8"/>
          <p:cNvSpPr>
            <a:spLocks noChangeArrowheads="1"/>
          </p:cNvSpPr>
          <p:nvPr/>
        </p:nvSpPr>
        <p:spPr bwMode="auto">
          <a:xfrm>
            <a:off x="7287133" y="5825293"/>
            <a:ext cx="762000" cy="406400"/>
          </a:xfrm>
          <a:prstGeom prst="ellipse">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15" name="TextBox 1"/>
          <p:cNvSpPr txBox="1">
            <a:spLocks noChangeArrowheads="1"/>
          </p:cNvSpPr>
          <p:nvPr/>
        </p:nvSpPr>
        <p:spPr bwMode="auto">
          <a:xfrm>
            <a:off x="2895600" y="1066801"/>
            <a:ext cx="69342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600">
                <a:latin typeface="Gill Sans" charset="0"/>
              </a:rPr>
              <a:t>Time zones have names as well as offsets</a:t>
            </a:r>
          </a:p>
        </p:txBody>
      </p:sp>
      <p:cxnSp>
        <p:nvCxnSpPr>
          <p:cNvPr id="8" name="Straight Connector 7"/>
          <p:cNvCxnSpPr/>
          <p:nvPr/>
        </p:nvCxnSpPr>
        <p:spPr>
          <a:xfrm>
            <a:off x="1539536" y="17526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474898"/>
      </p:ext>
    </p:extLst>
  </p:cSld>
  <p:clrMapOvr>
    <a:masterClrMapping/>
  </p:clrMapOvr>
  <p:transition spd="med">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1"/>
          <p:cNvSpPr txBox="1">
            <a:spLocks noChangeArrowheads="1"/>
          </p:cNvSpPr>
          <p:nvPr/>
        </p:nvSpPr>
        <p:spPr bwMode="auto">
          <a:xfrm>
            <a:off x="4634368" y="624619"/>
            <a:ext cx="2954337"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9pPr>
          </a:lstStyle>
          <a:p>
            <a:pPr algn="ctr" eaLnBrk="1" hangingPunct="1"/>
            <a:r>
              <a:rPr lang="en-US" sz="2600" dirty="0">
                <a:solidFill>
                  <a:srgbClr val="000000"/>
                </a:solidFill>
                <a:latin typeface="Gill Sans" charset="0"/>
              </a:rPr>
              <a:t>Comparing dates</a:t>
            </a:r>
          </a:p>
        </p:txBody>
      </p:sp>
      <p:sp>
        <p:nvSpPr>
          <p:cNvPr id="18435" name="Text Box 2"/>
          <p:cNvSpPr txBox="1">
            <a:spLocks noChangeArrowheads="1"/>
          </p:cNvSpPr>
          <p:nvPr/>
        </p:nvSpPr>
        <p:spPr bwMode="auto">
          <a:xfrm>
            <a:off x="4340226" y="2105025"/>
            <a:ext cx="40100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 pos="36195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 pos="36195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 pos="36195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 pos="36195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 pos="36195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 pos="36195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 pos="36195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 pos="36195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 pos="3619500" algn="l"/>
              </a:tabLst>
              <a:defRPr>
                <a:solidFill>
                  <a:schemeClr val="tx1"/>
                </a:solidFill>
                <a:latin typeface="Arial" charset="0"/>
                <a:cs typeface="Arial" charset="0"/>
              </a:defRPr>
            </a:lvl9pPr>
          </a:lstStyle>
          <a:p>
            <a:pPr eaLnBrk="1" hangingPunct="1"/>
            <a:r>
              <a:rPr lang="en-US">
                <a:solidFill>
                  <a:srgbClr val="000000"/>
                </a:solidFill>
                <a:latin typeface="Gill Sans" charset="0"/>
              </a:rPr>
              <a:t>Is my_date &gt; some_other_date?</a:t>
            </a:r>
          </a:p>
        </p:txBody>
      </p:sp>
      <p:pic>
        <p:nvPicPr>
          <p:cNvPr id="296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6188" y="2511426"/>
            <a:ext cx="3275012" cy="38893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700" name="Text Box 4"/>
          <p:cNvSpPr txBox="1">
            <a:spLocks noChangeArrowheads="1"/>
          </p:cNvSpPr>
          <p:nvPr/>
        </p:nvSpPr>
        <p:spPr bwMode="auto">
          <a:xfrm>
            <a:off x="6172200" y="3405189"/>
            <a:ext cx="971550" cy="195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Lst>
              <a:defRPr>
                <a:solidFill>
                  <a:schemeClr val="tx1"/>
                </a:solidFill>
                <a:latin typeface="Arial" charset="0"/>
                <a:cs typeface="Arial" charset="0"/>
              </a:defRPr>
            </a:lvl1pPr>
            <a:lvl2pPr marL="742950" indent="-285750" eaLnBrk="0" hangingPunct="0">
              <a:tabLst>
                <a:tab pos="407988" algn="l"/>
                <a:tab pos="723900" algn="l"/>
              </a:tabLst>
              <a:defRPr>
                <a:solidFill>
                  <a:schemeClr val="tx1"/>
                </a:solidFill>
                <a:latin typeface="Arial" charset="0"/>
                <a:cs typeface="Arial" charset="0"/>
              </a:defRPr>
            </a:lvl2pPr>
            <a:lvl3pPr marL="1143000" indent="-228600" eaLnBrk="0" hangingPunct="0">
              <a:tabLst>
                <a:tab pos="407988" algn="l"/>
                <a:tab pos="723900" algn="l"/>
              </a:tabLst>
              <a:defRPr>
                <a:solidFill>
                  <a:schemeClr val="tx1"/>
                </a:solidFill>
                <a:latin typeface="Arial" charset="0"/>
                <a:cs typeface="Arial" charset="0"/>
              </a:defRPr>
            </a:lvl3pPr>
            <a:lvl4pPr marL="1600200" indent="-228600" eaLnBrk="0" hangingPunct="0">
              <a:tabLst>
                <a:tab pos="407988" algn="l"/>
                <a:tab pos="723900" algn="l"/>
              </a:tabLst>
              <a:defRPr>
                <a:solidFill>
                  <a:schemeClr val="tx1"/>
                </a:solidFill>
                <a:latin typeface="Arial" charset="0"/>
                <a:cs typeface="Arial" charset="0"/>
              </a:defRPr>
            </a:lvl4pPr>
            <a:lvl5pPr marL="2057400" indent="-228600" eaLnBrk="0" hangingPunct="0">
              <a:tabLst>
                <a:tab pos="407988" algn="l"/>
                <a:tab pos="7239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Lst>
              <a:defRPr>
                <a:solidFill>
                  <a:schemeClr val="tx1"/>
                </a:solidFill>
                <a:latin typeface="Arial" charset="0"/>
                <a:cs typeface="Arial" charset="0"/>
              </a:defRPr>
            </a:lvl9pPr>
          </a:lstStyle>
          <a:p>
            <a:pPr eaLnBrk="1" hangingPunct="1"/>
            <a:r>
              <a:rPr lang="en-US" sz="9600">
                <a:solidFill>
                  <a:srgbClr val="000000"/>
                </a:solidFill>
                <a:latin typeface="Gill Sans" charset="0"/>
              </a:rPr>
              <a:t>&gt;</a:t>
            </a:r>
          </a:p>
        </p:txBody>
      </p:sp>
      <p:pic>
        <p:nvPicPr>
          <p:cNvPr id="297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1" y="2590801"/>
            <a:ext cx="1833563" cy="36607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cxnSp>
        <p:nvCxnSpPr>
          <p:cNvPr id="7" name="Straight Connector 6"/>
          <p:cNvCxnSpPr/>
          <p:nvPr/>
        </p:nvCxnSpPr>
        <p:spPr>
          <a:xfrm>
            <a:off x="1564689" y="13716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997315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0" fill="hold">
                                          <p:stCondLst>
                                            <p:cond delay="0"/>
                                          </p:stCondLst>
                                        </p:cTn>
                                        <p:tgtEl>
                                          <p:spTgt spid="296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29700"/>
                                        </p:tgtEl>
                                        <p:attrNameLst>
                                          <p:attrName>style.visibility</p:attrName>
                                        </p:attrNameLst>
                                      </p:cBhvr>
                                      <p:to>
                                        <p:strVal val="visible"/>
                                      </p:to>
                                    </p:set>
                                  </p:childTnLst>
                                </p:cTn>
                              </p:par>
                              <p:par>
                                <p:cTn id="11" presetID="1" presetClass="entr" fill="hold" nodeType="withEffect">
                                  <p:stCondLst>
                                    <p:cond delay="0"/>
                                  </p:stCondLst>
                                  <p:childTnLst>
                                    <p:set>
                                      <p:cBhvr additive="repl">
                                        <p:cTn id="12" dur="1" fill="hold">
                                          <p:stCondLst>
                                            <p:cond delay="0"/>
                                          </p:stCondLst>
                                        </p:cTn>
                                        <p:tgtEl>
                                          <p:spTgt spid="297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1"/>
          <p:cNvSpPr txBox="1">
            <a:spLocks noChangeArrowheads="1"/>
          </p:cNvSpPr>
          <p:nvPr/>
        </p:nvSpPr>
        <p:spPr bwMode="auto">
          <a:xfrm>
            <a:off x="4618832" y="762000"/>
            <a:ext cx="2954337"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9pPr>
          </a:lstStyle>
          <a:p>
            <a:pPr algn="ctr" eaLnBrk="1" hangingPunct="1"/>
            <a:r>
              <a:rPr lang="en-US" sz="2600" dirty="0">
                <a:solidFill>
                  <a:srgbClr val="000000"/>
                </a:solidFill>
                <a:latin typeface="Gill Sans" charset="0"/>
              </a:rPr>
              <a:t>Comparing dates</a:t>
            </a:r>
          </a:p>
        </p:txBody>
      </p:sp>
      <p:sp>
        <p:nvSpPr>
          <p:cNvPr id="19459" name="TextBox 3"/>
          <p:cNvSpPr txBox="1">
            <a:spLocks noChangeArrowheads="1"/>
          </p:cNvSpPr>
          <p:nvPr/>
        </p:nvSpPr>
        <p:spPr bwMode="auto">
          <a:xfrm>
            <a:off x="2895600" y="2133600"/>
            <a:ext cx="6400800"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Don't forget the time portion of a date!</a:t>
            </a:r>
          </a:p>
          <a:p>
            <a:pPr eaLnBrk="1" hangingPunct="1"/>
            <a:endParaRPr lang="en-US" sz="2000"/>
          </a:p>
          <a:p>
            <a:pPr eaLnBrk="1" hangingPunct="1"/>
            <a:r>
              <a:rPr lang="en-US" sz="2000"/>
              <a:t>This:</a:t>
            </a:r>
          </a:p>
          <a:p>
            <a:pPr eaLnBrk="1" hangingPunct="1"/>
            <a:endParaRPr lang="en-US" sz="2000"/>
          </a:p>
          <a:p>
            <a:pPr eaLnBrk="1" hangingPunct="1"/>
            <a:r>
              <a:rPr lang="en-US" sz="2000" b="1"/>
              <a:t>  WHERE my_date &lt; SYSDATE  </a:t>
            </a:r>
            <a:endParaRPr lang="en-US" sz="2000"/>
          </a:p>
          <a:p>
            <a:pPr eaLnBrk="1" hangingPunct="1"/>
            <a:endParaRPr lang="en-US" sz="2000"/>
          </a:p>
          <a:p>
            <a:pPr eaLnBrk="1" hangingPunct="1"/>
            <a:r>
              <a:rPr lang="en-US" sz="2000"/>
              <a:t>Does NOT mean before Today.</a:t>
            </a:r>
          </a:p>
          <a:p>
            <a:pPr eaLnBrk="1" hangingPunct="1"/>
            <a:r>
              <a:rPr lang="en-US" sz="2000"/>
              <a:t>It means before NOW.</a:t>
            </a:r>
          </a:p>
          <a:p>
            <a:pPr eaLnBrk="1" hangingPunct="1"/>
            <a:endParaRPr lang="en-US"/>
          </a:p>
        </p:txBody>
      </p:sp>
      <p:cxnSp>
        <p:nvCxnSpPr>
          <p:cNvPr id="4" name="Straight Connector 3"/>
          <p:cNvCxnSpPr/>
          <p:nvPr/>
        </p:nvCxnSpPr>
        <p:spPr>
          <a:xfrm>
            <a:off x="1539536" y="15240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1749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1"/>
          <p:cNvSpPr txBox="1">
            <a:spLocks noChangeArrowheads="1"/>
          </p:cNvSpPr>
          <p:nvPr/>
        </p:nvSpPr>
        <p:spPr bwMode="auto">
          <a:xfrm>
            <a:off x="4634368" y="592931"/>
            <a:ext cx="2954337"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9pPr>
          </a:lstStyle>
          <a:p>
            <a:pPr eaLnBrk="1" hangingPunct="1"/>
            <a:r>
              <a:rPr lang="en-US" sz="2600" dirty="0">
                <a:solidFill>
                  <a:srgbClr val="000000"/>
                </a:solidFill>
                <a:latin typeface="Gill Sans" charset="0"/>
              </a:rPr>
              <a:t>Comparing dates</a:t>
            </a:r>
          </a:p>
        </p:txBody>
      </p:sp>
      <p:sp>
        <p:nvSpPr>
          <p:cNvPr id="20483" name="TextBox 3"/>
          <p:cNvSpPr txBox="1">
            <a:spLocks noChangeArrowheads="1"/>
          </p:cNvSpPr>
          <p:nvPr/>
        </p:nvSpPr>
        <p:spPr bwMode="auto">
          <a:xfrm>
            <a:off x="2971800" y="2133601"/>
            <a:ext cx="64008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a:t>Don't forget the time portion of a date!</a:t>
            </a:r>
          </a:p>
          <a:p>
            <a:pPr eaLnBrk="1" hangingPunct="1"/>
            <a:endParaRPr lang="en-US" sz="2000"/>
          </a:p>
          <a:p>
            <a:pPr eaLnBrk="1" hangingPunct="1"/>
            <a:r>
              <a:rPr lang="en-US" sz="2000"/>
              <a:t>This:</a:t>
            </a:r>
          </a:p>
          <a:p>
            <a:pPr eaLnBrk="1" hangingPunct="1"/>
            <a:endParaRPr lang="en-US" sz="2000"/>
          </a:p>
          <a:p>
            <a:pPr eaLnBrk="1" hangingPunct="1"/>
            <a:r>
              <a:rPr lang="en-US" sz="2000" b="1"/>
              <a:t>  WHERE my_date &gt; SYSDATE  </a:t>
            </a:r>
            <a:endParaRPr lang="en-US" sz="2000"/>
          </a:p>
          <a:p>
            <a:pPr eaLnBrk="1" hangingPunct="1"/>
            <a:endParaRPr lang="en-US" sz="2000"/>
          </a:p>
          <a:p>
            <a:pPr eaLnBrk="1" hangingPunct="1"/>
            <a:r>
              <a:rPr lang="en-US" sz="2000"/>
              <a:t>Does NOT mean for Today.</a:t>
            </a:r>
          </a:p>
          <a:p>
            <a:pPr eaLnBrk="1" hangingPunct="1"/>
            <a:r>
              <a:rPr lang="en-US" sz="2000"/>
              <a:t>It means all dates after NOW</a:t>
            </a:r>
          </a:p>
          <a:p>
            <a:pPr eaLnBrk="1" hangingPunct="1"/>
            <a:r>
              <a:rPr lang="en-US" sz="2000"/>
              <a:t>    until the “end-of-time” (9999-12-31 23:59:59)</a:t>
            </a:r>
          </a:p>
          <a:p>
            <a:pPr eaLnBrk="1" hangingPunct="1"/>
            <a:endParaRPr lang="en-US"/>
          </a:p>
        </p:txBody>
      </p:sp>
      <p:cxnSp>
        <p:nvCxnSpPr>
          <p:cNvPr id="4" name="Straight Connector 3"/>
          <p:cNvCxnSpPr/>
          <p:nvPr/>
        </p:nvCxnSpPr>
        <p:spPr>
          <a:xfrm>
            <a:off x="1491449" y="13716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3518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1"/>
          <p:cNvSpPr txBox="1">
            <a:spLocks noChangeArrowheads="1"/>
          </p:cNvSpPr>
          <p:nvPr/>
        </p:nvSpPr>
        <p:spPr bwMode="auto">
          <a:xfrm>
            <a:off x="4816136" y="619502"/>
            <a:ext cx="2590800"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472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eaLnBrk="0" hangingPunct="0">
              <a:tabLst>
                <a:tab pos="407988" algn="l"/>
                <a:tab pos="723900" algn="l"/>
                <a:tab pos="1447800" algn="l"/>
                <a:tab pos="2171700" algn="l"/>
                <a:tab pos="2895600" algn="l"/>
              </a:tabLst>
              <a:defRPr>
                <a:solidFill>
                  <a:schemeClr val="tx1"/>
                </a:solidFill>
                <a:latin typeface="Arial" charset="0"/>
                <a:cs typeface="Arial" charset="0"/>
              </a:defRPr>
            </a:lvl1pPr>
            <a:lvl2pPr marL="742950" indent="-285750" eaLnBrk="0" hangingPunct="0">
              <a:tabLst>
                <a:tab pos="407988" algn="l"/>
                <a:tab pos="723900" algn="l"/>
                <a:tab pos="1447800" algn="l"/>
                <a:tab pos="2171700" algn="l"/>
                <a:tab pos="2895600" algn="l"/>
              </a:tabLst>
              <a:defRPr>
                <a:solidFill>
                  <a:schemeClr val="tx1"/>
                </a:solidFill>
                <a:latin typeface="Arial" charset="0"/>
                <a:cs typeface="Arial" charset="0"/>
              </a:defRPr>
            </a:lvl2pPr>
            <a:lvl3pPr marL="11430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3pPr>
            <a:lvl4pPr marL="16002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4pPr>
            <a:lvl5pPr marL="2057400" indent="-228600" eaLnBrk="0" hangingPunct="0">
              <a:tabLst>
                <a:tab pos="407988" algn="l"/>
                <a:tab pos="723900" algn="l"/>
                <a:tab pos="1447800" algn="l"/>
                <a:tab pos="2171700" algn="l"/>
                <a:tab pos="28956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407988" algn="l"/>
                <a:tab pos="723900" algn="l"/>
                <a:tab pos="1447800" algn="l"/>
                <a:tab pos="2171700" algn="l"/>
                <a:tab pos="2895600" algn="l"/>
              </a:tabLst>
              <a:defRPr>
                <a:solidFill>
                  <a:schemeClr val="tx1"/>
                </a:solidFill>
                <a:latin typeface="Arial" charset="0"/>
                <a:cs typeface="Arial" charset="0"/>
              </a:defRPr>
            </a:lvl9pPr>
          </a:lstStyle>
          <a:p>
            <a:pPr eaLnBrk="1" hangingPunct="1"/>
            <a:r>
              <a:rPr lang="en-US" sz="2600" dirty="0">
                <a:solidFill>
                  <a:srgbClr val="000000"/>
                </a:solidFill>
                <a:latin typeface="Gill Sans" charset="0"/>
              </a:rPr>
              <a:t>Comparing dates</a:t>
            </a:r>
          </a:p>
        </p:txBody>
      </p:sp>
      <p:sp>
        <p:nvSpPr>
          <p:cNvPr id="21507" name="TextBox 2"/>
          <p:cNvSpPr txBox="1">
            <a:spLocks noChangeArrowheads="1"/>
          </p:cNvSpPr>
          <p:nvPr/>
        </p:nvSpPr>
        <p:spPr bwMode="auto">
          <a:xfrm>
            <a:off x="2187236" y="2133600"/>
            <a:ext cx="7848600" cy="375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dirty="0"/>
              <a:t>Compare dates, not strings!</a:t>
            </a:r>
          </a:p>
          <a:p>
            <a:pPr algn="ctr" eaLnBrk="1" hangingPunct="1"/>
            <a:endParaRPr lang="en-US" sz="2000" dirty="0"/>
          </a:p>
          <a:p>
            <a:pPr eaLnBrk="1" hangingPunct="1"/>
            <a:r>
              <a:rPr lang="en-US" dirty="0"/>
              <a:t>'March 01, 2026'    &gt;   'July 01, 2026'</a:t>
            </a:r>
          </a:p>
          <a:p>
            <a:pPr eaLnBrk="1" hangingPunct="1"/>
            <a:endParaRPr lang="en-US" dirty="0"/>
          </a:p>
          <a:p>
            <a:pPr eaLnBrk="1" hangingPunct="1"/>
            <a:r>
              <a:rPr lang="en-US" dirty="0"/>
              <a:t>TO_DATE('March 01, 2026', 'Month DD, YYYY')</a:t>
            </a:r>
          </a:p>
          <a:p>
            <a:pPr eaLnBrk="1" hangingPunct="1"/>
            <a:r>
              <a:rPr lang="en-US" dirty="0"/>
              <a:t>&lt;</a:t>
            </a:r>
          </a:p>
          <a:p>
            <a:pPr eaLnBrk="1" hangingPunct="1"/>
            <a:r>
              <a:rPr lang="en-US" dirty="0"/>
              <a:t>TO_DATE('July 01, 2026', 'Month DD, YYYY')</a:t>
            </a:r>
          </a:p>
          <a:p>
            <a:pPr eaLnBrk="1" hangingPunct="1"/>
            <a:endParaRPr lang="en-US" dirty="0"/>
          </a:p>
          <a:p>
            <a:pPr eaLnBrk="1" hangingPunct="1"/>
            <a:r>
              <a:rPr lang="en-US" dirty="0"/>
              <a:t>Alphabetically March &gt; July</a:t>
            </a:r>
          </a:p>
          <a:p>
            <a:pPr eaLnBrk="1" hangingPunct="1"/>
            <a:r>
              <a:rPr lang="en-US" dirty="0"/>
              <a:t>Chronologically March &lt; July</a:t>
            </a:r>
          </a:p>
          <a:p>
            <a:pPr eaLnBrk="1" hangingPunct="1"/>
            <a:endParaRPr lang="en-US" dirty="0"/>
          </a:p>
          <a:p>
            <a:pPr eaLnBrk="1" hangingPunct="1"/>
            <a:r>
              <a:rPr lang="en-US" dirty="0"/>
              <a:t>So, as we would expect…</a:t>
            </a:r>
          </a:p>
          <a:p>
            <a:pPr eaLnBrk="1" hangingPunct="1"/>
            <a:r>
              <a:rPr lang="en-US" dirty="0"/>
              <a:t>Both conditions above are TRUE</a:t>
            </a:r>
          </a:p>
        </p:txBody>
      </p:sp>
      <p:cxnSp>
        <p:nvCxnSpPr>
          <p:cNvPr id="4" name="Straight Connector 3"/>
          <p:cNvCxnSpPr/>
          <p:nvPr/>
        </p:nvCxnSpPr>
        <p:spPr>
          <a:xfrm>
            <a:off x="1539536" y="14478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9643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1"/>
          <p:cNvSpPr txBox="1">
            <a:spLocks noChangeArrowheads="1"/>
          </p:cNvSpPr>
          <p:nvPr/>
        </p:nvSpPr>
        <p:spPr bwMode="auto">
          <a:xfrm>
            <a:off x="2819400" y="750887"/>
            <a:ext cx="64770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600" dirty="0"/>
              <a:t>How to get a date</a:t>
            </a:r>
          </a:p>
        </p:txBody>
      </p:sp>
      <p:sp>
        <p:nvSpPr>
          <p:cNvPr id="22531" name="TextBox 2"/>
          <p:cNvSpPr txBox="1">
            <a:spLocks noChangeArrowheads="1"/>
          </p:cNvSpPr>
          <p:nvPr/>
        </p:nvSpPr>
        <p:spPr bwMode="auto">
          <a:xfrm>
            <a:off x="1298448" y="2667001"/>
            <a:ext cx="9982327" cy="2862322"/>
          </a:xfrm>
          <a:prstGeom prst="rect">
            <a:avLst/>
          </a:prstGeom>
          <a:noFill/>
          <a:ln>
            <a:solidFill>
              <a:srgbClr val="C00000"/>
            </a:solidFill>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t>Convert strings to dates with the </a:t>
            </a:r>
            <a:r>
              <a:rPr lang="en-US" dirty="0" err="1"/>
              <a:t>TO_xxxx</a:t>
            </a:r>
            <a:r>
              <a:rPr lang="en-US" dirty="0"/>
              <a:t> functions, or ANSI literals</a:t>
            </a:r>
          </a:p>
          <a:p>
            <a:pPr eaLnBrk="1" hangingPunct="1"/>
            <a:endParaRPr lang="en-US" dirty="0"/>
          </a:p>
          <a:p>
            <a:pPr eaLnBrk="1" hangingPunct="1"/>
            <a:r>
              <a:rPr lang="en-US" sz="1600" dirty="0"/>
              <a:t>SELECT </a:t>
            </a:r>
          </a:p>
          <a:p>
            <a:pPr eaLnBrk="1" hangingPunct="1"/>
            <a:r>
              <a:rPr lang="en-US" sz="1600" dirty="0"/>
              <a:t> TO_DATE('March 01, 2026 1:23:45pm', 'Month DD, YYYY </a:t>
            </a:r>
            <a:r>
              <a:rPr lang="en-US" sz="1600" dirty="0" err="1"/>
              <a:t>hh:mi:ssam</a:t>
            </a:r>
            <a:r>
              <a:rPr lang="en-US" sz="1600" dirty="0"/>
              <a:t>'),</a:t>
            </a:r>
          </a:p>
          <a:p>
            <a:pPr eaLnBrk="1" hangingPunct="1"/>
            <a:r>
              <a:rPr lang="en-US" sz="1600" dirty="0"/>
              <a:t> TO_TIMESTAMP('01-03-2026 1:23:45pm', 'MM-DD-YYYY </a:t>
            </a:r>
            <a:r>
              <a:rPr lang="en-US" sz="1600" dirty="0" err="1"/>
              <a:t>hh:mi:ssam</a:t>
            </a:r>
            <a:r>
              <a:rPr lang="en-US" sz="1600" dirty="0"/>
              <a:t>'),</a:t>
            </a:r>
          </a:p>
          <a:p>
            <a:pPr eaLnBrk="1" hangingPunct="1"/>
            <a:r>
              <a:rPr lang="en-US" sz="1600" dirty="0"/>
              <a:t> TO_TIMESTAMP_TZ('June 28, 2026 1:23:45pm EST', 'Month DD, YYYY </a:t>
            </a:r>
            <a:r>
              <a:rPr lang="en-US" sz="1600" dirty="0" err="1"/>
              <a:t>hh:mi:ssam</a:t>
            </a:r>
            <a:r>
              <a:rPr lang="en-US" sz="1600" dirty="0"/>
              <a:t> TZR'),</a:t>
            </a:r>
          </a:p>
          <a:p>
            <a:pPr eaLnBrk="1" hangingPunct="1"/>
            <a:r>
              <a:rPr lang="en-US" sz="1600" dirty="0"/>
              <a:t> TO_TIMESTAMP_TZ('June 28, 2026 1:23:45pm -4:00', 'Month DD, YYYY </a:t>
            </a:r>
            <a:r>
              <a:rPr lang="en-US" sz="1600" dirty="0" err="1"/>
              <a:t>hh:mi:ssam</a:t>
            </a:r>
            <a:r>
              <a:rPr lang="en-US" sz="1600" dirty="0"/>
              <a:t> TZH:TZM'),</a:t>
            </a:r>
          </a:p>
          <a:p>
            <a:pPr eaLnBrk="1" hangingPunct="1"/>
            <a:r>
              <a:rPr lang="en-US" sz="1600" dirty="0"/>
              <a:t>  DATE '2007-11-27',</a:t>
            </a:r>
          </a:p>
          <a:p>
            <a:pPr eaLnBrk="1" hangingPunct="1"/>
            <a:r>
              <a:rPr lang="en-US" sz="1600" dirty="0"/>
              <a:t>  TIMESTAMP '2009-10-23 13:14:52.786 -04:00', </a:t>
            </a:r>
          </a:p>
          <a:p>
            <a:pPr eaLnBrk="1" hangingPunct="1"/>
            <a:r>
              <a:rPr lang="en-US" sz="1600" dirty="0"/>
              <a:t>  TIMESTAMP '2009-10-23 13:14:52.786' </a:t>
            </a:r>
          </a:p>
          <a:p>
            <a:pPr eaLnBrk="1" hangingPunct="1"/>
            <a:r>
              <a:rPr lang="en-US" sz="1600" dirty="0"/>
              <a:t>FROM DUAL;</a:t>
            </a:r>
          </a:p>
        </p:txBody>
      </p:sp>
      <p:sp>
        <p:nvSpPr>
          <p:cNvPr id="4" name="TextBox 3"/>
          <p:cNvSpPr txBox="1">
            <a:spLocks noChangeArrowheads="1"/>
          </p:cNvSpPr>
          <p:nvPr/>
        </p:nvSpPr>
        <p:spPr bwMode="auto">
          <a:xfrm>
            <a:off x="7272274" y="5398830"/>
            <a:ext cx="3505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solidFill>
                  <a:srgbClr val="C00000"/>
                </a:solidFill>
              </a:rPr>
              <a:t>Oracle will create a Timestamp with or with out time zone  as needed based on the content.</a:t>
            </a:r>
          </a:p>
        </p:txBody>
      </p:sp>
      <p:sp>
        <p:nvSpPr>
          <p:cNvPr id="22533" name="TextBox 1"/>
          <p:cNvSpPr txBox="1">
            <a:spLocks noChangeArrowheads="1"/>
          </p:cNvSpPr>
          <p:nvPr/>
        </p:nvSpPr>
        <p:spPr bwMode="auto">
          <a:xfrm>
            <a:off x="3228143" y="1928814"/>
            <a:ext cx="571500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dirty="0"/>
              <a:t>Easy way, create one with conversions</a:t>
            </a:r>
          </a:p>
          <a:p>
            <a:pPr eaLnBrk="1" hangingPunct="1"/>
            <a:endParaRPr lang="en-US" dirty="0"/>
          </a:p>
        </p:txBody>
      </p:sp>
      <p:cxnSp>
        <p:nvCxnSpPr>
          <p:cNvPr id="6" name="Straight Connector 5"/>
          <p:cNvCxnSpPr/>
          <p:nvPr/>
        </p:nvCxnSpPr>
        <p:spPr>
          <a:xfrm>
            <a:off x="1513643" y="15240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A7CC5A2F-B3DB-7D3C-0B5C-0AD2569A1BE8}"/>
              </a:ext>
            </a:extLst>
          </p:cNvPr>
          <p:cNvCxnSpPr>
            <a:cxnSpLocks/>
          </p:cNvCxnSpPr>
          <p:nvPr/>
        </p:nvCxnSpPr>
        <p:spPr>
          <a:xfrm flipH="1" flipV="1">
            <a:off x="5824728" y="4892040"/>
            <a:ext cx="1447546" cy="83210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2EEB12D-5DF4-3858-55FF-EA0D2BB009EB}"/>
              </a:ext>
            </a:extLst>
          </p:cNvPr>
          <p:cNvCxnSpPr>
            <a:cxnSpLocks/>
          </p:cNvCxnSpPr>
          <p:nvPr/>
        </p:nvCxnSpPr>
        <p:spPr>
          <a:xfrm flipH="1" flipV="1">
            <a:off x="5212080" y="5117813"/>
            <a:ext cx="2060194" cy="60633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89496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50" fill="hold"/>
                                        <p:tgtEl>
                                          <p:spTgt spid="4"/>
                                        </p:tgtEl>
                                        <p:attrNameLst>
                                          <p:attrName>ppt_x</p:attrName>
                                        </p:attrNameLst>
                                      </p:cBhvr>
                                      <p:tavLst>
                                        <p:tav tm="0">
                                          <p:val>
                                            <p:strVal val="#ppt_x"/>
                                          </p:val>
                                        </p:tav>
                                        <p:tav tm="100000">
                                          <p:val>
                                            <p:strVal val="#ppt_x"/>
                                          </p:val>
                                        </p:tav>
                                      </p:tavLst>
                                    </p:anim>
                                    <p:anim calcmode="lin" valueType="num">
                                      <p:cBhvr additive="base">
                                        <p:cTn id="8" dur="2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1"/>
          <p:cNvSpPr txBox="1">
            <a:spLocks noChangeArrowheads="1"/>
          </p:cNvSpPr>
          <p:nvPr/>
        </p:nvSpPr>
        <p:spPr bwMode="auto">
          <a:xfrm>
            <a:off x="4320836" y="685800"/>
            <a:ext cx="35814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600" dirty="0"/>
              <a:t>How to get a date</a:t>
            </a:r>
          </a:p>
        </p:txBody>
      </p:sp>
      <p:sp>
        <p:nvSpPr>
          <p:cNvPr id="23555" name="TextBox 2"/>
          <p:cNvSpPr txBox="1">
            <a:spLocks noChangeArrowheads="1"/>
          </p:cNvSpPr>
          <p:nvPr/>
        </p:nvSpPr>
        <p:spPr bwMode="auto">
          <a:xfrm>
            <a:off x="2133600" y="2525697"/>
            <a:ext cx="8305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t>Math with Date types is simply numeric in terms of days.</a:t>
            </a:r>
          </a:p>
          <a:p>
            <a:pPr eaLnBrk="1" hangingPunct="1"/>
            <a:r>
              <a:rPr lang="en-US" dirty="0"/>
              <a:t>+1 = add one day</a:t>
            </a:r>
          </a:p>
          <a:p>
            <a:pPr eaLnBrk="1" hangingPunct="1"/>
            <a:r>
              <a:rPr lang="en-US" dirty="0"/>
              <a:t>-1/24 = subtract one hour</a:t>
            </a:r>
          </a:p>
          <a:p>
            <a:pPr eaLnBrk="1" hangingPunct="1"/>
            <a:r>
              <a:rPr lang="en-US" dirty="0"/>
              <a:t>+14 = add two weeks</a:t>
            </a:r>
          </a:p>
          <a:p>
            <a:pPr eaLnBrk="1" hangingPunct="1"/>
            <a:endParaRPr lang="en-US" dirty="0"/>
          </a:p>
          <a:p>
            <a:pPr eaLnBrk="1" hangingPunct="1"/>
            <a:r>
              <a:rPr lang="en-US" dirty="0"/>
              <a:t>Similarly, subtracting two Dates yields a number of days between them.</a:t>
            </a:r>
          </a:p>
          <a:p>
            <a:pPr eaLnBrk="1" hangingPunct="1"/>
            <a:endParaRPr lang="en-US" dirty="0"/>
          </a:p>
          <a:p>
            <a:pPr eaLnBrk="1" hangingPunct="1"/>
            <a:r>
              <a:rPr lang="en-US" dirty="0"/>
              <a:t>Select </a:t>
            </a:r>
          </a:p>
          <a:p>
            <a:pPr eaLnBrk="1" hangingPunct="1"/>
            <a:r>
              <a:rPr lang="en-US" dirty="0"/>
              <a:t>TO_DATE('March 02, 2026 12:00:00pm', 'Month DD, YYYY </a:t>
            </a:r>
            <a:r>
              <a:rPr lang="en-US" dirty="0" err="1"/>
              <a:t>hh:mi:ssam</a:t>
            </a:r>
            <a:r>
              <a:rPr lang="en-US" dirty="0"/>
              <a:t>')</a:t>
            </a:r>
          </a:p>
          <a:p>
            <a:pPr eaLnBrk="1" hangingPunct="1"/>
            <a:r>
              <a:rPr lang="en-US" dirty="0"/>
              <a:t> – DATE '2026-03-01' from dual;</a:t>
            </a:r>
          </a:p>
          <a:p>
            <a:pPr eaLnBrk="1" hangingPunct="1"/>
            <a:endParaRPr lang="en-US" dirty="0"/>
          </a:p>
          <a:p>
            <a:pPr eaLnBrk="1" hangingPunct="1"/>
            <a:r>
              <a:rPr lang="en-US" dirty="0"/>
              <a:t>=  1.5  (one and a half days)</a:t>
            </a:r>
          </a:p>
        </p:txBody>
      </p:sp>
      <p:sp>
        <p:nvSpPr>
          <p:cNvPr id="23556" name="TextBox 3"/>
          <p:cNvSpPr txBox="1">
            <a:spLocks noChangeArrowheads="1"/>
          </p:cNvSpPr>
          <p:nvPr/>
        </p:nvSpPr>
        <p:spPr bwMode="auto">
          <a:xfrm>
            <a:off x="2050742" y="6019801"/>
            <a:ext cx="8305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solidFill>
                  <a:srgbClr val="C00000"/>
                </a:solidFill>
              </a:rPr>
              <a:t>Performing numeric math on a Timestamp type will cause it to be implicitly converted to a Date type and the result will be a Date.</a:t>
            </a:r>
          </a:p>
        </p:txBody>
      </p:sp>
      <p:sp>
        <p:nvSpPr>
          <p:cNvPr id="23557" name="TextBox 1"/>
          <p:cNvSpPr txBox="1">
            <a:spLocks noChangeArrowheads="1"/>
          </p:cNvSpPr>
          <p:nvPr/>
        </p:nvSpPr>
        <p:spPr bwMode="auto">
          <a:xfrm>
            <a:off x="4533900" y="1885950"/>
            <a:ext cx="31242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dirty="0"/>
              <a:t>Use date math</a:t>
            </a:r>
          </a:p>
          <a:p>
            <a:pPr eaLnBrk="1" hangingPunct="1"/>
            <a:endParaRPr lang="en-US" dirty="0"/>
          </a:p>
        </p:txBody>
      </p:sp>
      <p:cxnSp>
        <p:nvCxnSpPr>
          <p:cNvPr id="6" name="Straight Connector 5"/>
          <p:cNvCxnSpPr/>
          <p:nvPr/>
        </p:nvCxnSpPr>
        <p:spPr>
          <a:xfrm>
            <a:off x="1524000" y="13716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87790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2"/>
          <p:cNvSpPr txBox="1">
            <a:spLocks noChangeArrowheads="1"/>
          </p:cNvSpPr>
          <p:nvPr/>
        </p:nvSpPr>
        <p:spPr bwMode="auto">
          <a:xfrm>
            <a:off x="2459038" y="2886075"/>
            <a:ext cx="8915400" cy="313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t>Timestamp math is performed with Interval types.  </a:t>
            </a:r>
          </a:p>
          <a:p>
            <a:pPr eaLnBrk="1" hangingPunct="1"/>
            <a:r>
              <a:rPr lang="en-US"/>
              <a:t>Intervals are sets of time units like months, days, hours, minutes and seconds. </a:t>
            </a:r>
          </a:p>
          <a:p>
            <a:pPr eaLnBrk="1" hangingPunct="1"/>
            <a:endParaRPr lang="en-US"/>
          </a:p>
          <a:p>
            <a:pPr eaLnBrk="1" hangingPunct="1"/>
            <a:r>
              <a:rPr lang="en-US"/>
              <a:t>An Interval can only represent duration (4 hours and 3 minutes), not a span at a particular point in time (2pm to 6:03pm today.)</a:t>
            </a:r>
          </a:p>
          <a:p>
            <a:pPr eaLnBrk="1" hangingPunct="1"/>
            <a:endParaRPr lang="en-US"/>
          </a:p>
          <a:p>
            <a:pPr eaLnBrk="1" hangingPunct="1"/>
            <a:r>
              <a:rPr lang="en-US"/>
              <a:t>Intervals come in 2 types:</a:t>
            </a:r>
          </a:p>
          <a:p>
            <a:pPr eaLnBrk="1" hangingPunct="1"/>
            <a:r>
              <a:rPr lang="en-US"/>
              <a:t>Year to Month</a:t>
            </a:r>
          </a:p>
          <a:p>
            <a:pPr eaLnBrk="1" hangingPunct="1"/>
            <a:r>
              <a:rPr lang="en-US"/>
              <a:t>Day to Second </a:t>
            </a:r>
          </a:p>
          <a:p>
            <a:pPr eaLnBrk="1" hangingPunct="1"/>
            <a:endParaRPr lang="en-US"/>
          </a:p>
          <a:p>
            <a:pPr eaLnBrk="1" hangingPunct="1"/>
            <a:r>
              <a:rPr lang="en-US"/>
              <a:t>Subtracting two timestamps yields a Day to Second Interval.</a:t>
            </a:r>
          </a:p>
        </p:txBody>
      </p:sp>
      <p:sp>
        <p:nvSpPr>
          <p:cNvPr id="24579" name="TextBox 1"/>
          <p:cNvSpPr txBox="1">
            <a:spLocks noChangeArrowheads="1"/>
          </p:cNvSpPr>
          <p:nvPr/>
        </p:nvSpPr>
        <p:spPr bwMode="auto">
          <a:xfrm>
            <a:off x="4320836" y="609600"/>
            <a:ext cx="35814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600" dirty="0"/>
              <a:t>How to get a date</a:t>
            </a:r>
          </a:p>
        </p:txBody>
      </p:sp>
      <p:sp>
        <p:nvSpPr>
          <p:cNvPr id="24580" name="TextBox 4"/>
          <p:cNvSpPr txBox="1">
            <a:spLocks noChangeArrowheads="1"/>
          </p:cNvSpPr>
          <p:nvPr/>
        </p:nvSpPr>
        <p:spPr bwMode="auto">
          <a:xfrm>
            <a:off x="4533900" y="1905000"/>
            <a:ext cx="31242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400" dirty="0"/>
              <a:t>Use date math</a:t>
            </a:r>
          </a:p>
          <a:p>
            <a:pPr eaLnBrk="1" hangingPunct="1"/>
            <a:endParaRPr lang="en-US" dirty="0"/>
          </a:p>
        </p:txBody>
      </p:sp>
      <p:cxnSp>
        <p:nvCxnSpPr>
          <p:cNvPr id="5" name="Straight Connector 4"/>
          <p:cNvCxnSpPr/>
          <p:nvPr/>
        </p:nvCxnSpPr>
        <p:spPr>
          <a:xfrm>
            <a:off x="1524000" y="13716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04556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1"/>
          <p:cNvSpPr txBox="1">
            <a:spLocks noChangeArrowheads="1"/>
          </p:cNvSpPr>
          <p:nvPr/>
        </p:nvSpPr>
        <p:spPr bwMode="auto">
          <a:xfrm>
            <a:off x="2286000" y="2133601"/>
            <a:ext cx="7696200"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t>SELECT INTERVAL '3' YEAR,</a:t>
            </a:r>
          </a:p>
          <a:p>
            <a:pPr eaLnBrk="1" hangingPunct="1"/>
            <a:r>
              <a:rPr lang="en-US" dirty="0"/>
              <a:t>       INTERVAL '11' MONTH,</a:t>
            </a:r>
          </a:p>
          <a:p>
            <a:pPr eaLnBrk="1" hangingPunct="1"/>
            <a:r>
              <a:rPr lang="en-US" dirty="0"/>
              <a:t>       INTERVAL '3-11' YEAR TO MONTH,</a:t>
            </a:r>
          </a:p>
          <a:p>
            <a:pPr eaLnBrk="1" hangingPunct="1"/>
            <a:r>
              <a:rPr lang="en-US" dirty="0"/>
              <a:t>       INTERVAL '7' DAY,</a:t>
            </a:r>
          </a:p>
          <a:p>
            <a:pPr eaLnBrk="1" hangingPunct="1"/>
            <a:r>
              <a:rPr lang="en-US" dirty="0"/>
              <a:t>       INTERVAL '1' HOUR,</a:t>
            </a:r>
          </a:p>
          <a:p>
            <a:pPr eaLnBrk="1" hangingPunct="1"/>
            <a:r>
              <a:rPr lang="en-US" dirty="0"/>
              <a:t>       INTERVAL '67' MINUTE,</a:t>
            </a:r>
          </a:p>
          <a:p>
            <a:pPr eaLnBrk="1" hangingPunct="1"/>
            <a:r>
              <a:rPr lang="en-US" dirty="0"/>
              <a:t>       INTERVAL '38.123' SECOND,</a:t>
            </a:r>
          </a:p>
          <a:p>
            <a:pPr eaLnBrk="1" hangingPunct="1"/>
            <a:r>
              <a:rPr lang="en-US" dirty="0"/>
              <a:t>       INTERVAL '7 2:7:38.123456789' DAY TO SECOND(9),</a:t>
            </a:r>
          </a:p>
          <a:p>
            <a:pPr eaLnBrk="1" hangingPunct="1"/>
            <a:r>
              <a:rPr lang="en-US" dirty="0"/>
              <a:t>       TO_YMINTERVAL('3-1'), </a:t>
            </a:r>
          </a:p>
          <a:p>
            <a:pPr eaLnBrk="1" hangingPunct="1"/>
            <a:r>
              <a:rPr lang="en-US" dirty="0"/>
              <a:t>       TO_DSINTERVAL('3 1:0:4'),</a:t>
            </a:r>
          </a:p>
          <a:p>
            <a:pPr eaLnBrk="1" hangingPunct="1"/>
            <a:r>
              <a:rPr lang="en-US" dirty="0"/>
              <a:t>       NUMTOYMINTERVAL(100, 'month'),</a:t>
            </a:r>
          </a:p>
          <a:p>
            <a:pPr eaLnBrk="1" hangingPunct="1"/>
            <a:r>
              <a:rPr lang="en-US" dirty="0"/>
              <a:t>       NUMTODSINTERVAL(100, 'day')</a:t>
            </a:r>
          </a:p>
          <a:p>
            <a:pPr eaLnBrk="1" hangingPunct="1"/>
            <a:r>
              <a:rPr lang="en-US" dirty="0"/>
              <a:t>  FROM DUAL;</a:t>
            </a:r>
          </a:p>
        </p:txBody>
      </p:sp>
      <p:sp>
        <p:nvSpPr>
          <p:cNvPr id="3" name="TextBox 2"/>
          <p:cNvSpPr txBox="1"/>
          <p:nvPr/>
        </p:nvSpPr>
        <p:spPr>
          <a:xfrm>
            <a:off x="7062788" y="4341813"/>
            <a:ext cx="2919412" cy="646112"/>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a:spAutoFit/>
          </a:bodyPr>
          <a:lstStyle/>
          <a:p>
            <a:pPr>
              <a:defRPr/>
            </a:pPr>
            <a:r>
              <a:rPr lang="en-US" dirty="0">
                <a:solidFill>
                  <a:schemeClr val="tx1"/>
                </a:solidFill>
              </a:rPr>
              <a:t>ISO 8601 duration format is also supported</a:t>
            </a:r>
          </a:p>
        </p:txBody>
      </p:sp>
      <p:cxnSp>
        <p:nvCxnSpPr>
          <p:cNvPr id="5" name="Straight Arrow Connector 4"/>
          <p:cNvCxnSpPr>
            <a:cxnSpLocks noChangeShapeType="1"/>
            <a:stCxn id="3" idx="1"/>
          </p:cNvCxnSpPr>
          <p:nvPr/>
        </p:nvCxnSpPr>
        <p:spPr bwMode="auto">
          <a:xfrm flipH="1" flipV="1">
            <a:off x="5919788" y="4443413"/>
            <a:ext cx="1143000" cy="222250"/>
          </a:xfrm>
          <a:prstGeom prst="straightConnector1">
            <a:avLst/>
          </a:prstGeom>
          <a:noFill/>
          <a:ln w="28575" algn="ctr">
            <a:solidFill>
              <a:srgbClr val="C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Straight Arrow Connector 6"/>
          <p:cNvCxnSpPr>
            <a:cxnSpLocks noChangeShapeType="1"/>
            <a:stCxn id="3" idx="1"/>
          </p:cNvCxnSpPr>
          <p:nvPr/>
        </p:nvCxnSpPr>
        <p:spPr bwMode="auto">
          <a:xfrm flipH="1">
            <a:off x="6240464" y="4665663"/>
            <a:ext cx="822325" cy="82550"/>
          </a:xfrm>
          <a:prstGeom prst="straightConnector1">
            <a:avLst/>
          </a:prstGeom>
          <a:noFill/>
          <a:ln w="28575" algn="ctr">
            <a:solidFill>
              <a:srgbClr val="C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06" name="TextBox 14"/>
          <p:cNvSpPr txBox="1">
            <a:spLocks noChangeArrowheads="1"/>
          </p:cNvSpPr>
          <p:nvPr/>
        </p:nvSpPr>
        <p:spPr bwMode="auto">
          <a:xfrm>
            <a:off x="3122212" y="794678"/>
            <a:ext cx="571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dirty="0"/>
              <a:t>How to constructing an Interval: Lots of Ways!</a:t>
            </a:r>
          </a:p>
        </p:txBody>
      </p:sp>
      <p:cxnSp>
        <p:nvCxnSpPr>
          <p:cNvPr id="8" name="Straight Connector 7"/>
          <p:cNvCxnSpPr/>
          <p:nvPr/>
        </p:nvCxnSpPr>
        <p:spPr>
          <a:xfrm>
            <a:off x="1527699" y="15240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39742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a:off x="1527699" y="15240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
        <p:nvSpPr>
          <p:cNvPr id="4" name="TextBox 14"/>
          <p:cNvSpPr txBox="1">
            <a:spLocks noChangeArrowheads="1"/>
          </p:cNvSpPr>
          <p:nvPr/>
        </p:nvSpPr>
        <p:spPr bwMode="auto">
          <a:xfrm>
            <a:off x="3122212" y="794678"/>
            <a:ext cx="571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dirty="0"/>
              <a:t>Deconstructing an Interval</a:t>
            </a:r>
          </a:p>
        </p:txBody>
      </p:sp>
      <p:sp>
        <p:nvSpPr>
          <p:cNvPr id="7" name="Rectangle 6"/>
          <p:cNvSpPr/>
          <p:nvPr/>
        </p:nvSpPr>
        <p:spPr>
          <a:xfrm>
            <a:off x="393192" y="1859341"/>
            <a:ext cx="11484864" cy="3170099"/>
          </a:xfrm>
          <a:prstGeom prst="rect">
            <a:avLst/>
          </a:prstGeom>
        </p:spPr>
        <p:txBody>
          <a:bodyPr wrap="square">
            <a:spAutoFit/>
          </a:bodyPr>
          <a:lstStyle/>
          <a:p>
            <a:r>
              <a:rPr lang="en-US" sz="2000" dirty="0">
                <a:latin typeface="Courier New" pitchFamily="49" charset="0"/>
                <a:cs typeface="Courier New" pitchFamily="49" charset="0"/>
              </a:rPr>
              <a:t>SQL&gt; SELECT EXTRACT(DAY FROM </a:t>
            </a:r>
            <a:r>
              <a:rPr lang="en-US" sz="2000" dirty="0" err="1">
                <a:latin typeface="Courier New" pitchFamily="49" charset="0"/>
                <a:cs typeface="Courier New" pitchFamily="49" charset="0"/>
              </a:rPr>
              <a:t>i</a:t>
            </a:r>
            <a:r>
              <a:rPr lang="en-US" sz="2000" dirty="0">
                <a:latin typeface="Courier New" pitchFamily="49" charset="0"/>
                <a:cs typeface="Courier New" pitchFamily="49" charset="0"/>
              </a:rPr>
              <a:t>) days,</a:t>
            </a:r>
          </a:p>
          <a:p>
            <a:r>
              <a:rPr lang="en-US" sz="2000" dirty="0">
                <a:latin typeface="Courier New" pitchFamily="49" charset="0"/>
                <a:cs typeface="Courier New" pitchFamily="49" charset="0"/>
              </a:rPr>
              <a:t>  2         EXTRACT(HOUR FROM </a:t>
            </a:r>
            <a:r>
              <a:rPr lang="en-US" sz="2000" dirty="0" err="1">
                <a:latin typeface="Courier New" pitchFamily="49" charset="0"/>
                <a:cs typeface="Courier New" pitchFamily="49" charset="0"/>
              </a:rPr>
              <a:t>i</a:t>
            </a:r>
            <a:r>
              <a:rPr lang="en-US" sz="2000" dirty="0">
                <a:latin typeface="Courier New" pitchFamily="49" charset="0"/>
                <a:cs typeface="Courier New" pitchFamily="49" charset="0"/>
              </a:rPr>
              <a:t>) hours,</a:t>
            </a:r>
          </a:p>
          <a:p>
            <a:r>
              <a:rPr lang="en-US" sz="2000" dirty="0">
                <a:latin typeface="Courier New" pitchFamily="49" charset="0"/>
                <a:cs typeface="Courier New" pitchFamily="49" charset="0"/>
              </a:rPr>
              <a:t>  3         EXTRACT(MINUTE FROM </a:t>
            </a:r>
            <a:r>
              <a:rPr lang="en-US" sz="2000" dirty="0" err="1">
                <a:latin typeface="Courier New" pitchFamily="49" charset="0"/>
                <a:cs typeface="Courier New" pitchFamily="49" charset="0"/>
              </a:rPr>
              <a:t>i</a:t>
            </a:r>
            <a:r>
              <a:rPr lang="en-US" sz="2000" dirty="0">
                <a:latin typeface="Courier New" pitchFamily="49" charset="0"/>
                <a:cs typeface="Courier New" pitchFamily="49" charset="0"/>
              </a:rPr>
              <a:t>) minutes,</a:t>
            </a:r>
          </a:p>
          <a:p>
            <a:r>
              <a:rPr lang="en-US" sz="2000" dirty="0">
                <a:latin typeface="Courier New" pitchFamily="49" charset="0"/>
                <a:cs typeface="Courier New" pitchFamily="49" charset="0"/>
              </a:rPr>
              <a:t>  4         EXTRACT(SECOND FROM </a:t>
            </a:r>
            <a:r>
              <a:rPr lang="en-US" sz="2000" dirty="0" err="1">
                <a:latin typeface="Courier New" pitchFamily="49" charset="0"/>
                <a:cs typeface="Courier New" pitchFamily="49" charset="0"/>
              </a:rPr>
              <a:t>i</a:t>
            </a:r>
            <a:r>
              <a:rPr lang="en-US" sz="2000" dirty="0">
                <a:latin typeface="Courier New" pitchFamily="49" charset="0"/>
                <a:cs typeface="Courier New" pitchFamily="49" charset="0"/>
              </a:rPr>
              <a:t>) seconds</a:t>
            </a:r>
          </a:p>
          <a:p>
            <a:r>
              <a:rPr lang="en-US" sz="2000" dirty="0">
                <a:latin typeface="Courier New" pitchFamily="49" charset="0"/>
                <a:cs typeface="Courier New" pitchFamily="49" charset="0"/>
              </a:rPr>
              <a:t>  5    FROM</a:t>
            </a:r>
          </a:p>
          <a:p>
            <a:r>
              <a:rPr lang="en-US" sz="2000" dirty="0">
                <a:latin typeface="Courier New" pitchFamily="49" charset="0"/>
                <a:cs typeface="Courier New" pitchFamily="49" charset="0"/>
              </a:rPr>
              <a:t>  6  (SELECT INTERVAL '7 2:7:38.123456789' DAY TO SECOND(9) </a:t>
            </a:r>
            <a:r>
              <a:rPr lang="en-US" sz="2000" dirty="0" err="1">
                <a:latin typeface="Courier New" pitchFamily="49" charset="0"/>
                <a:cs typeface="Courier New" pitchFamily="49" charset="0"/>
              </a:rPr>
              <a:t>i</a:t>
            </a:r>
            <a:r>
              <a:rPr lang="en-US" sz="2000" dirty="0">
                <a:latin typeface="Courier New" pitchFamily="49" charset="0"/>
                <a:cs typeface="Courier New" pitchFamily="49" charset="0"/>
              </a:rPr>
              <a:t> FROM DUAL);</a:t>
            </a:r>
          </a:p>
          <a:p>
            <a:endParaRPr lang="en-US" sz="2000" dirty="0">
              <a:latin typeface="Courier New" pitchFamily="49" charset="0"/>
              <a:cs typeface="Courier New" pitchFamily="49" charset="0"/>
            </a:endParaRPr>
          </a:p>
          <a:p>
            <a:r>
              <a:rPr lang="en-US" sz="2000" dirty="0">
                <a:latin typeface="Courier New" pitchFamily="49" charset="0"/>
                <a:cs typeface="Courier New" pitchFamily="49" charset="0"/>
              </a:rPr>
              <a:t>      DAYS      HOURS    MINUTES    SECONDS</a:t>
            </a:r>
          </a:p>
          <a:p>
            <a:r>
              <a:rPr lang="en-US" sz="2000" dirty="0">
                <a:latin typeface="Courier New" pitchFamily="49" charset="0"/>
                <a:cs typeface="Courier New" pitchFamily="49" charset="0"/>
              </a:rPr>
              <a:t>---------- ---------- ---------- ----------</a:t>
            </a:r>
          </a:p>
          <a:p>
            <a:r>
              <a:rPr lang="en-US" sz="2000" dirty="0">
                <a:latin typeface="Courier New" pitchFamily="49" charset="0"/>
                <a:cs typeface="Courier New" pitchFamily="49" charset="0"/>
              </a:rPr>
              <a:t>         7          2          7 38.1234568</a:t>
            </a:r>
          </a:p>
        </p:txBody>
      </p:sp>
      <p:sp>
        <p:nvSpPr>
          <p:cNvPr id="8" name="TextBox 7"/>
          <p:cNvSpPr txBox="1"/>
          <p:nvPr/>
        </p:nvSpPr>
        <p:spPr>
          <a:xfrm>
            <a:off x="2436412" y="5363193"/>
            <a:ext cx="7086600" cy="923330"/>
          </a:xfrm>
          <a:prstGeom prst="rect">
            <a:avLst/>
          </a:prstGeom>
          <a:noFill/>
        </p:spPr>
        <p:txBody>
          <a:bodyPr wrap="square" rtlCol="0">
            <a:spAutoFit/>
          </a:bodyPr>
          <a:lstStyle/>
          <a:p>
            <a:r>
              <a:rPr lang="en-US" dirty="0">
                <a:solidFill>
                  <a:srgbClr val="FF0000"/>
                </a:solidFill>
              </a:rPr>
              <a:t>While you can use NUMTOYMINTERVAL and NUMTODSINTERVAL to construct an intervals from a single unit value.  There are no built-in corresponding functions to do the reverse!</a:t>
            </a:r>
          </a:p>
        </p:txBody>
      </p:sp>
    </p:spTree>
    <p:extLst>
      <p:ext uri="{BB962C8B-B14F-4D97-AF65-F5344CB8AC3E}">
        <p14:creationId xmlns:p14="http://schemas.microsoft.com/office/powerpoint/2010/main" val="2440655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1"/>
          <p:cNvSpPr txBox="1">
            <a:spLocks noChangeArrowheads="1"/>
          </p:cNvSpPr>
          <p:nvPr/>
        </p:nvSpPr>
        <p:spPr bwMode="auto">
          <a:xfrm>
            <a:off x="3805238" y="609601"/>
            <a:ext cx="46386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dirty="0"/>
              <a:t>Using Intervals to do Timestamp </a:t>
            </a:r>
            <a:r>
              <a:rPr lang="en-US" sz="2400" dirty="0"/>
              <a:t>math</a:t>
            </a:r>
            <a:endParaRPr lang="en-US" sz="2000" dirty="0"/>
          </a:p>
        </p:txBody>
      </p:sp>
      <p:sp>
        <p:nvSpPr>
          <p:cNvPr id="26627" name="TextBox 2"/>
          <p:cNvSpPr txBox="1">
            <a:spLocks noChangeArrowheads="1"/>
          </p:cNvSpPr>
          <p:nvPr/>
        </p:nvSpPr>
        <p:spPr bwMode="auto">
          <a:xfrm>
            <a:off x="548640" y="1600201"/>
            <a:ext cx="1139342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t>SELECT </a:t>
            </a:r>
          </a:p>
          <a:p>
            <a:pPr eaLnBrk="1" hangingPunct="1"/>
            <a:r>
              <a:rPr lang="en-US" dirty="0"/>
              <a:t>   TO_DATE('March 01, 2026 1:23:45pm', 'Month DD, YYYY </a:t>
            </a:r>
            <a:r>
              <a:rPr lang="en-US" dirty="0" err="1"/>
              <a:t>hh:mi:ssam</a:t>
            </a:r>
            <a:r>
              <a:rPr lang="en-US" dirty="0"/>
              <a:t>') + TO_DSINTERVAL('3 1:0:4'),</a:t>
            </a:r>
          </a:p>
          <a:p>
            <a:pPr eaLnBrk="1" hangingPunct="1"/>
            <a:r>
              <a:rPr lang="en-US" dirty="0"/>
              <a:t>   TO_TIMESTAMP('01-03-2026 1:23:45pm', 'MM-DD-YYYY </a:t>
            </a:r>
            <a:r>
              <a:rPr lang="en-US" dirty="0" err="1"/>
              <a:t>hh:mi:ssam</a:t>
            </a:r>
            <a:r>
              <a:rPr lang="en-US" dirty="0"/>
              <a:t>') + TO_DSINTERVAL('3 1:0:4')</a:t>
            </a:r>
          </a:p>
          <a:p>
            <a:pPr eaLnBrk="1" hangingPunct="1"/>
            <a:r>
              <a:rPr lang="en-US" dirty="0"/>
              <a:t>FROM DUAL;</a:t>
            </a:r>
          </a:p>
          <a:p>
            <a:pPr eaLnBrk="1" hangingPunct="1"/>
            <a:endParaRPr lang="en-US" dirty="0"/>
          </a:p>
          <a:p>
            <a:pPr eaLnBrk="1" hangingPunct="1"/>
            <a:r>
              <a:rPr lang="en-US" dirty="0"/>
              <a:t>TO_DATE('MARCH01,20       TO_TIMESTAMP('01-03-20121:23:45</a:t>
            </a:r>
          </a:p>
          <a:p>
            <a:pPr eaLnBrk="1" hangingPunct="1"/>
            <a:r>
              <a:rPr lang="en-US" dirty="0"/>
              <a:t>----------------------------------       ----------------------------------------------------</a:t>
            </a:r>
          </a:p>
          <a:p>
            <a:pPr eaLnBrk="1" hangingPunct="1"/>
            <a:r>
              <a:rPr lang="en-US" dirty="0"/>
              <a:t>2026-03-04 14:23:49               2026-01-06 14:23:49.000000000</a:t>
            </a:r>
          </a:p>
        </p:txBody>
      </p:sp>
      <p:sp>
        <p:nvSpPr>
          <p:cNvPr id="26628" name="TextBox 4"/>
          <p:cNvSpPr txBox="1">
            <a:spLocks noChangeArrowheads="1"/>
          </p:cNvSpPr>
          <p:nvPr/>
        </p:nvSpPr>
        <p:spPr bwMode="auto">
          <a:xfrm>
            <a:off x="2590800" y="5163344"/>
            <a:ext cx="6400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solidFill>
                  <a:srgbClr val="C00000"/>
                </a:solidFill>
              </a:rPr>
              <a:t>Unlike the numeric math mentioned earlier,</a:t>
            </a:r>
          </a:p>
          <a:p>
            <a:pPr eaLnBrk="1" hangingPunct="1"/>
            <a:r>
              <a:rPr lang="en-US" dirty="0">
                <a:solidFill>
                  <a:srgbClr val="C00000"/>
                </a:solidFill>
              </a:rPr>
              <a:t>Date/Timestamp type is preserved with Interval math.</a:t>
            </a:r>
          </a:p>
        </p:txBody>
      </p:sp>
      <p:cxnSp>
        <p:nvCxnSpPr>
          <p:cNvPr id="5" name="Straight Connector 4"/>
          <p:cNvCxnSpPr/>
          <p:nvPr/>
        </p:nvCxnSpPr>
        <p:spPr>
          <a:xfrm>
            <a:off x="1539536" y="13716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7601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1"/>
          <p:cNvSpPr txBox="1">
            <a:spLocks noChangeArrowheads="1"/>
          </p:cNvSpPr>
          <p:nvPr/>
        </p:nvSpPr>
        <p:spPr bwMode="auto">
          <a:xfrm>
            <a:off x="3276600" y="683419"/>
            <a:ext cx="6019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dirty="0"/>
              <a:t>How to get all the dates you’ll ever need!</a:t>
            </a:r>
          </a:p>
        </p:txBody>
      </p:sp>
      <p:sp>
        <p:nvSpPr>
          <p:cNvPr id="27651" name="TextBox 2"/>
          <p:cNvSpPr txBox="1">
            <a:spLocks noChangeArrowheads="1"/>
          </p:cNvSpPr>
          <p:nvPr/>
        </p:nvSpPr>
        <p:spPr bwMode="auto">
          <a:xfrm>
            <a:off x="1353313" y="2209801"/>
            <a:ext cx="9990964"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b="1" dirty="0">
                <a:latin typeface="Courier New" pitchFamily="49" charset="0"/>
                <a:cs typeface="Courier New" pitchFamily="49" charset="0"/>
              </a:rPr>
              <a:t>SQL&gt; SELECT DATE '2026-04-24' + LEVEL / 24 </a:t>
            </a:r>
            <a:r>
              <a:rPr lang="en-US" b="1" dirty="0" err="1">
                <a:latin typeface="Courier New" pitchFamily="49" charset="0"/>
                <a:cs typeface="Courier New" pitchFamily="49" charset="0"/>
              </a:rPr>
              <a:t>date_math</a:t>
            </a:r>
            <a:r>
              <a:rPr lang="en-US" b="1" dirty="0">
                <a:latin typeface="Courier New" pitchFamily="49" charset="0"/>
                <a:cs typeface="Courier New" pitchFamily="49" charset="0"/>
              </a:rPr>
              <a:t>,</a:t>
            </a:r>
          </a:p>
          <a:p>
            <a:pPr eaLnBrk="1" hangingPunct="1"/>
            <a:r>
              <a:rPr lang="en-US" b="1" dirty="0">
                <a:latin typeface="Courier New" pitchFamily="49" charset="0"/>
                <a:cs typeface="Courier New" pitchFamily="49" charset="0"/>
              </a:rPr>
              <a:t>  2           TIMESTAMP '2026-04-24 14:30:00'</a:t>
            </a:r>
          </a:p>
          <a:p>
            <a:pPr eaLnBrk="1" hangingPunct="1"/>
            <a:r>
              <a:rPr lang="en-US" b="1" dirty="0">
                <a:latin typeface="Courier New" pitchFamily="49" charset="0"/>
                <a:cs typeface="Courier New" pitchFamily="49" charset="0"/>
              </a:rPr>
              <a:t>  3           + NUMTODSINTERVAL(LEVEL, 'hour') </a:t>
            </a:r>
            <a:r>
              <a:rPr lang="en-US" b="1" dirty="0" err="1">
                <a:latin typeface="Courier New" pitchFamily="49" charset="0"/>
                <a:cs typeface="Courier New" pitchFamily="49" charset="0"/>
              </a:rPr>
              <a:t>timestamp_math</a:t>
            </a:r>
            <a:endParaRPr lang="en-US" b="1" dirty="0">
              <a:latin typeface="Courier New" pitchFamily="49" charset="0"/>
              <a:cs typeface="Courier New" pitchFamily="49" charset="0"/>
            </a:endParaRPr>
          </a:p>
          <a:p>
            <a:pPr eaLnBrk="1" hangingPunct="1"/>
            <a:r>
              <a:rPr lang="en-US" b="1" dirty="0">
                <a:latin typeface="Courier New" pitchFamily="49" charset="0"/>
                <a:cs typeface="Courier New" pitchFamily="49" charset="0"/>
              </a:rPr>
              <a:t>  4       FROM DUAL</a:t>
            </a:r>
          </a:p>
          <a:p>
            <a:pPr eaLnBrk="1" hangingPunct="1"/>
            <a:r>
              <a:rPr lang="en-US" b="1" dirty="0">
                <a:latin typeface="Courier New" pitchFamily="49" charset="0"/>
                <a:cs typeface="Courier New" pitchFamily="49" charset="0"/>
              </a:rPr>
              <a:t>  5     CONNECT BY LEVEL &lt;= 5;</a:t>
            </a:r>
          </a:p>
          <a:p>
            <a:pPr eaLnBrk="1" hangingPunct="1"/>
            <a:endParaRPr lang="en-US" b="1" dirty="0">
              <a:latin typeface="Courier New" pitchFamily="49" charset="0"/>
              <a:cs typeface="Courier New" pitchFamily="49" charset="0"/>
            </a:endParaRPr>
          </a:p>
          <a:p>
            <a:pPr eaLnBrk="1" hangingPunct="1"/>
            <a:r>
              <a:rPr lang="en-US" b="1" dirty="0">
                <a:latin typeface="Courier New" pitchFamily="49" charset="0"/>
                <a:cs typeface="Courier New" pitchFamily="49" charset="0"/>
              </a:rPr>
              <a:t>DATE_MATH           TIMESTAMP_MATH</a:t>
            </a:r>
          </a:p>
          <a:p>
            <a:pPr eaLnBrk="1" hangingPunct="1"/>
            <a:r>
              <a:rPr lang="en-US" b="1" dirty="0">
                <a:latin typeface="Courier New" pitchFamily="49" charset="0"/>
                <a:cs typeface="Courier New" pitchFamily="49" charset="0"/>
              </a:rPr>
              <a:t>------------------- ------------------------------</a:t>
            </a:r>
          </a:p>
          <a:p>
            <a:pPr eaLnBrk="1" hangingPunct="1"/>
            <a:r>
              <a:rPr lang="en-US" b="1" dirty="0">
                <a:latin typeface="Courier New" pitchFamily="49" charset="0"/>
                <a:cs typeface="Courier New" pitchFamily="49" charset="0"/>
              </a:rPr>
              <a:t>2026-04-24 01:00:00 2026-04-24 15:30:00.000000000</a:t>
            </a:r>
          </a:p>
          <a:p>
            <a:pPr eaLnBrk="1" hangingPunct="1"/>
            <a:r>
              <a:rPr lang="en-US" b="1" dirty="0">
                <a:latin typeface="Courier New" pitchFamily="49" charset="0"/>
                <a:cs typeface="Courier New" pitchFamily="49" charset="0"/>
              </a:rPr>
              <a:t>2026-04-24 02:00:00 2026-04-24 16:30:00.000000000</a:t>
            </a:r>
          </a:p>
          <a:p>
            <a:pPr eaLnBrk="1" hangingPunct="1"/>
            <a:r>
              <a:rPr lang="en-US" b="1" dirty="0">
                <a:latin typeface="Courier New" pitchFamily="49" charset="0"/>
                <a:cs typeface="Courier New" pitchFamily="49" charset="0"/>
              </a:rPr>
              <a:t>2026-04-24 03:00:00 2026-04-24 17:30:00.000000000</a:t>
            </a:r>
          </a:p>
          <a:p>
            <a:pPr eaLnBrk="1" hangingPunct="1"/>
            <a:r>
              <a:rPr lang="en-US" b="1" dirty="0">
                <a:latin typeface="Courier New" pitchFamily="49" charset="0"/>
                <a:cs typeface="Courier New" pitchFamily="49" charset="0"/>
              </a:rPr>
              <a:t>2026-04-24 04:00:00 2026-04-24 18:30:00.000000000</a:t>
            </a:r>
          </a:p>
          <a:p>
            <a:pPr eaLnBrk="1" hangingPunct="1"/>
            <a:r>
              <a:rPr lang="en-US" b="1" dirty="0">
                <a:latin typeface="Courier New" pitchFamily="49" charset="0"/>
                <a:cs typeface="Courier New" pitchFamily="49" charset="0"/>
              </a:rPr>
              <a:t>2026-04-24 05:00:00 2026-04-24 19:30:00.000000000</a:t>
            </a:r>
          </a:p>
        </p:txBody>
      </p:sp>
      <p:cxnSp>
        <p:nvCxnSpPr>
          <p:cNvPr id="4" name="Straight Connector 3"/>
          <p:cNvCxnSpPr/>
          <p:nvPr/>
        </p:nvCxnSpPr>
        <p:spPr>
          <a:xfrm>
            <a:off x="1539536" y="15240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1166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1"/>
          <p:cNvSpPr txBox="1">
            <a:spLocks noChangeArrowheads="1"/>
          </p:cNvSpPr>
          <p:nvPr/>
        </p:nvSpPr>
        <p:spPr bwMode="auto">
          <a:xfrm>
            <a:off x="414528" y="1911096"/>
            <a:ext cx="757732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t>SELECT   stage,  </a:t>
            </a:r>
            <a:r>
              <a:rPr lang="en-US" dirty="0" err="1"/>
              <a:t>start_date</a:t>
            </a:r>
            <a:r>
              <a:rPr lang="en-US" dirty="0"/>
              <a:t> + COLUMN_VALUE </a:t>
            </a:r>
            <a:r>
              <a:rPr lang="en-US" dirty="0" err="1"/>
              <a:t>fifa_date</a:t>
            </a:r>
            <a:endParaRPr lang="en-US" dirty="0"/>
          </a:p>
          <a:p>
            <a:pPr eaLnBrk="1" hangingPunct="1"/>
            <a:r>
              <a:rPr lang="en-US" dirty="0"/>
              <a:t>FROM (VALUES ('Group Stage',    date '2026-06-11', date '2026-06-27'), </a:t>
            </a:r>
          </a:p>
          <a:p>
            <a:pPr eaLnBrk="1" hangingPunct="1"/>
            <a:r>
              <a:rPr lang="en-US" dirty="0"/>
              <a:t>             ('Round of 32',    date '2026-06-28', date '2026-07-03'), </a:t>
            </a:r>
          </a:p>
          <a:p>
            <a:pPr eaLnBrk="1" hangingPunct="1"/>
            <a:r>
              <a:rPr lang="en-US" dirty="0"/>
              <a:t>             ('Round of 16',    date '2026-07-04', date '2026-07-07'), </a:t>
            </a:r>
          </a:p>
          <a:p>
            <a:pPr eaLnBrk="1" hangingPunct="1"/>
            <a:r>
              <a:rPr lang="en-US" dirty="0"/>
              <a:t>             ('Quarter-Finals', date '2026-07-09', date '2026-07-11'), </a:t>
            </a:r>
          </a:p>
          <a:p>
            <a:pPr eaLnBrk="1" hangingPunct="1"/>
            <a:r>
              <a:rPr lang="en-US" dirty="0"/>
              <a:t>             ('Semi-Finals',    date '2026-07-14', date '2026-07-15'), </a:t>
            </a:r>
          </a:p>
          <a:p>
            <a:pPr eaLnBrk="1" hangingPunct="1"/>
            <a:r>
              <a:rPr lang="en-US" dirty="0"/>
              <a:t>             ('Final',          date '2026-07-18', date '2026-07-19')</a:t>
            </a:r>
          </a:p>
          <a:p>
            <a:pPr eaLnBrk="1" hangingPunct="1"/>
            <a:r>
              <a:rPr lang="en-US" dirty="0"/>
              <a:t>     ) AS </a:t>
            </a:r>
            <a:r>
              <a:rPr lang="en-US" dirty="0" err="1"/>
              <a:t>world_cup</a:t>
            </a:r>
            <a:r>
              <a:rPr lang="en-US" dirty="0"/>
              <a:t> (stage, </a:t>
            </a:r>
            <a:r>
              <a:rPr lang="en-US" dirty="0" err="1"/>
              <a:t>start_date</a:t>
            </a:r>
            <a:r>
              <a:rPr lang="en-US" dirty="0"/>
              <a:t>, </a:t>
            </a:r>
            <a:r>
              <a:rPr lang="en-US" dirty="0" err="1"/>
              <a:t>end_date</a:t>
            </a:r>
            <a:r>
              <a:rPr lang="en-US" dirty="0"/>
              <a:t>)</a:t>
            </a:r>
          </a:p>
          <a:p>
            <a:pPr eaLnBrk="1" hangingPunct="1"/>
            <a:r>
              <a:rPr lang="en-US" dirty="0"/>
              <a:t>     CROSS APPLY</a:t>
            </a:r>
          </a:p>
          <a:p>
            <a:pPr eaLnBrk="1" hangingPunct="1"/>
            <a:r>
              <a:rPr lang="en-US" dirty="0"/>
              <a:t>     TABLE(SELECT COLLECT(LEVEL - 1) FROM DUAL</a:t>
            </a:r>
          </a:p>
          <a:p>
            <a:pPr eaLnBrk="1" hangingPunct="1"/>
            <a:r>
              <a:rPr lang="en-US" dirty="0"/>
              <a:t>           CONNECT BY </a:t>
            </a:r>
            <a:r>
              <a:rPr lang="en-US" dirty="0" err="1"/>
              <a:t>start_date</a:t>
            </a:r>
            <a:r>
              <a:rPr lang="en-US" dirty="0"/>
              <a:t> + LEVEL - 1 &lt;= </a:t>
            </a:r>
            <a:r>
              <a:rPr lang="en-US" dirty="0" err="1"/>
              <a:t>end_date</a:t>
            </a:r>
            <a:endParaRPr lang="en-US" dirty="0"/>
          </a:p>
          <a:p>
            <a:pPr eaLnBrk="1" hangingPunct="1"/>
            <a:r>
              <a:rPr lang="en-US" dirty="0"/>
              <a:t>     )</a:t>
            </a:r>
          </a:p>
          <a:p>
            <a:pPr eaLnBrk="1" hangingPunct="1"/>
            <a:r>
              <a:rPr lang="en-US" dirty="0"/>
              <a:t>ORDER BY </a:t>
            </a:r>
            <a:r>
              <a:rPr lang="en-US" dirty="0" err="1"/>
              <a:t>fifa_date</a:t>
            </a:r>
            <a:r>
              <a:rPr lang="en-US" dirty="0"/>
              <a:t>;</a:t>
            </a:r>
          </a:p>
        </p:txBody>
      </p:sp>
      <p:sp>
        <p:nvSpPr>
          <p:cNvPr id="28675" name="TextBox 2"/>
          <p:cNvSpPr txBox="1">
            <a:spLocks noChangeArrowheads="1"/>
          </p:cNvSpPr>
          <p:nvPr/>
        </p:nvSpPr>
        <p:spPr bwMode="auto">
          <a:xfrm>
            <a:off x="2895600" y="981075"/>
            <a:ext cx="723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a:t>Given a start/end date range, generate all dates between them</a:t>
            </a:r>
          </a:p>
        </p:txBody>
      </p:sp>
      <p:cxnSp>
        <p:nvCxnSpPr>
          <p:cNvPr id="4" name="Straight Connector 3"/>
          <p:cNvCxnSpPr/>
          <p:nvPr/>
        </p:nvCxnSpPr>
        <p:spPr>
          <a:xfrm>
            <a:off x="1524000" y="1387221"/>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E1EA347-D5AB-CC92-764E-2CEB762E5C76}"/>
              </a:ext>
            </a:extLst>
          </p:cNvPr>
          <p:cNvSpPr txBox="1"/>
          <p:nvPr/>
        </p:nvSpPr>
        <p:spPr>
          <a:xfrm>
            <a:off x="8350758" y="1394905"/>
            <a:ext cx="3640137" cy="5355312"/>
          </a:xfrm>
          <a:prstGeom prst="rect">
            <a:avLst/>
          </a:prstGeom>
          <a:noFill/>
        </p:spPr>
        <p:txBody>
          <a:bodyPr wrap="square">
            <a:spAutoFit/>
          </a:bodyPr>
          <a:lstStyle/>
          <a:p>
            <a:r>
              <a:rPr lang="en-US" dirty="0"/>
              <a:t>Group Stage    2026-06-11 00:00:00</a:t>
            </a:r>
          </a:p>
          <a:p>
            <a:r>
              <a:rPr lang="en-US" dirty="0"/>
              <a:t>Group Stage    2026-06-12 00:00:00</a:t>
            </a:r>
          </a:p>
          <a:p>
            <a:r>
              <a:rPr lang="en-US" dirty="0"/>
              <a:t>…</a:t>
            </a:r>
          </a:p>
          <a:p>
            <a:r>
              <a:rPr lang="en-US" dirty="0"/>
              <a:t>Group Stage    2026-06-27 00:00:00</a:t>
            </a:r>
          </a:p>
          <a:p>
            <a:r>
              <a:rPr lang="en-US" dirty="0"/>
              <a:t>Round of 32    2026-06-28 00:00:00</a:t>
            </a:r>
          </a:p>
          <a:p>
            <a:r>
              <a:rPr lang="en-US" dirty="0"/>
              <a:t>Round of 32    2026-06-29 00:00:00</a:t>
            </a:r>
          </a:p>
          <a:p>
            <a:r>
              <a:rPr lang="en-US" dirty="0"/>
              <a:t>…</a:t>
            </a:r>
          </a:p>
          <a:p>
            <a:r>
              <a:rPr lang="en-US" dirty="0"/>
              <a:t>Round of 32    2026-07-03 00:00:00</a:t>
            </a:r>
          </a:p>
          <a:p>
            <a:r>
              <a:rPr lang="en-US" dirty="0"/>
              <a:t>Round of 16    2026-07-04 00:00:00</a:t>
            </a:r>
          </a:p>
          <a:p>
            <a:r>
              <a:rPr lang="en-US" dirty="0"/>
              <a:t>Round of 16    2026-07-05 00:00:00</a:t>
            </a:r>
          </a:p>
          <a:p>
            <a:r>
              <a:rPr lang="en-US" dirty="0"/>
              <a:t>Round of 16    2026-07-06 00:00:00</a:t>
            </a:r>
          </a:p>
          <a:p>
            <a:r>
              <a:rPr lang="en-US" dirty="0"/>
              <a:t>Round of 16    2026-07-07 00:00:00</a:t>
            </a:r>
          </a:p>
          <a:p>
            <a:r>
              <a:rPr lang="en-US" dirty="0"/>
              <a:t>Quarter-Finals 2026-07-09 00:00:00</a:t>
            </a:r>
          </a:p>
          <a:p>
            <a:r>
              <a:rPr lang="en-US" dirty="0"/>
              <a:t>Quarter-Finals 2026-07-10 00:00:00</a:t>
            </a:r>
          </a:p>
          <a:p>
            <a:r>
              <a:rPr lang="en-US" dirty="0"/>
              <a:t>Quarter-Finals 2026-07-11 00:00:00</a:t>
            </a:r>
          </a:p>
          <a:p>
            <a:r>
              <a:rPr lang="en-US" dirty="0"/>
              <a:t>Semi-Finals    2026-07-14 00:00:00</a:t>
            </a:r>
          </a:p>
          <a:p>
            <a:r>
              <a:rPr lang="en-US" dirty="0"/>
              <a:t>Semi-Finals    2026-07-15 00:00:00</a:t>
            </a:r>
          </a:p>
          <a:p>
            <a:r>
              <a:rPr lang="en-US" dirty="0"/>
              <a:t>Final          2026-07-18 00:00:00</a:t>
            </a:r>
          </a:p>
          <a:p>
            <a:r>
              <a:rPr lang="en-US" dirty="0"/>
              <a:t>Final          2026-07-19 00:00:00</a:t>
            </a:r>
          </a:p>
        </p:txBody>
      </p:sp>
    </p:spTree>
    <p:extLst>
      <p:ext uri="{BB962C8B-B14F-4D97-AF65-F5344CB8AC3E}">
        <p14:creationId xmlns:p14="http://schemas.microsoft.com/office/powerpoint/2010/main" val="576910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1"/>
          <p:cNvSpPr txBox="1">
            <a:spLocks noChangeArrowheads="1"/>
          </p:cNvSpPr>
          <p:nvPr/>
        </p:nvSpPr>
        <p:spPr bwMode="auto">
          <a:xfrm>
            <a:off x="4168436" y="791782"/>
            <a:ext cx="3886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dirty="0"/>
              <a:t>Interesting features of your </a:t>
            </a:r>
            <a:r>
              <a:rPr lang="en-US" sz="2000" dirty="0"/>
              <a:t>dates</a:t>
            </a:r>
            <a:endParaRPr lang="en-US" dirty="0"/>
          </a:p>
        </p:txBody>
      </p:sp>
      <p:sp>
        <p:nvSpPr>
          <p:cNvPr id="29699" name="TextBox 2"/>
          <p:cNvSpPr txBox="1">
            <a:spLocks noChangeArrowheads="1"/>
          </p:cNvSpPr>
          <p:nvPr/>
        </p:nvSpPr>
        <p:spPr bwMode="auto">
          <a:xfrm>
            <a:off x="2438400" y="2743201"/>
            <a:ext cx="86106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t>SQL&gt; SELECT TO_DATE('0000-01-01', 'yyyy-mm-dd') FROM DUAL;</a:t>
            </a:r>
          </a:p>
          <a:p>
            <a:pPr eaLnBrk="1" hangingPunct="1"/>
            <a:r>
              <a:rPr lang="en-US"/>
              <a:t>SELECT TO_DATE('0000-01-01', 'yyyy-mm-dd') FROM DUAL</a:t>
            </a:r>
          </a:p>
          <a:p>
            <a:pPr eaLnBrk="1" hangingPunct="1"/>
            <a:r>
              <a:rPr lang="en-US"/>
              <a:t>               *</a:t>
            </a:r>
          </a:p>
          <a:p>
            <a:pPr eaLnBrk="1" hangingPunct="1"/>
            <a:r>
              <a:rPr lang="en-US"/>
              <a:t>ERROR at line 1:</a:t>
            </a:r>
          </a:p>
          <a:p>
            <a:pPr eaLnBrk="1" hangingPunct="1"/>
            <a:r>
              <a:rPr lang="en-US"/>
              <a:t>ORA-01841: (full) year must be between -4713 and +9999, and not be 0</a:t>
            </a:r>
          </a:p>
          <a:p>
            <a:pPr eaLnBrk="1" hangingPunct="1"/>
            <a:endParaRPr lang="en-US"/>
          </a:p>
          <a:p>
            <a:pPr eaLnBrk="1" hangingPunct="1"/>
            <a:r>
              <a:rPr lang="en-US"/>
              <a:t>SQL&gt; SELECT DATE '0000-01-01' FROM DUAL;</a:t>
            </a:r>
          </a:p>
          <a:p>
            <a:pPr eaLnBrk="1" hangingPunct="1"/>
            <a:endParaRPr lang="en-US"/>
          </a:p>
          <a:p>
            <a:pPr eaLnBrk="1" hangingPunct="1"/>
            <a:r>
              <a:rPr lang="en-US"/>
              <a:t>DATE'0000-01-01'</a:t>
            </a:r>
          </a:p>
          <a:p>
            <a:pPr eaLnBrk="1" hangingPunct="1"/>
            <a:r>
              <a:rPr lang="en-US"/>
              <a:t>--------------------</a:t>
            </a:r>
          </a:p>
          <a:p>
            <a:pPr eaLnBrk="1" hangingPunct="1"/>
            <a:r>
              <a:rPr lang="en-US"/>
              <a:t> 0000-01-01 00:00:00</a:t>
            </a:r>
          </a:p>
        </p:txBody>
      </p:sp>
      <p:sp>
        <p:nvSpPr>
          <p:cNvPr id="29700" name="TextBox 3"/>
          <p:cNvSpPr txBox="1">
            <a:spLocks noChangeArrowheads="1"/>
          </p:cNvSpPr>
          <p:nvPr/>
        </p:nvSpPr>
        <p:spPr bwMode="auto">
          <a:xfrm>
            <a:off x="2895600" y="2097088"/>
            <a:ext cx="7543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solidFill>
                  <a:srgbClr val="C00000"/>
                </a:solidFill>
              </a:rPr>
              <a:t>Generating a Year-0 date is illegal and legal, depending on syntax</a:t>
            </a:r>
          </a:p>
        </p:txBody>
      </p:sp>
      <p:cxnSp>
        <p:nvCxnSpPr>
          <p:cNvPr id="5" name="Straight Connector 4"/>
          <p:cNvCxnSpPr/>
          <p:nvPr/>
        </p:nvCxnSpPr>
        <p:spPr>
          <a:xfrm>
            <a:off x="1539536" y="14478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51450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1"/>
          <p:cNvSpPr txBox="1">
            <a:spLocks noChangeArrowheads="1"/>
          </p:cNvSpPr>
          <p:nvPr/>
        </p:nvSpPr>
        <p:spPr bwMode="auto">
          <a:xfrm>
            <a:off x="1653836" y="2057400"/>
            <a:ext cx="891540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latin typeface="Courier New" pitchFamily="49" charset="0"/>
                <a:cs typeface="Courier New" pitchFamily="49" charset="0"/>
              </a:rPr>
              <a:t>SQL&gt; select TO_DATE('0001-01-01', '</a:t>
            </a:r>
            <a:r>
              <a:rPr lang="en-US" dirty="0" err="1">
                <a:latin typeface="Courier New" pitchFamily="49" charset="0"/>
                <a:cs typeface="Courier New" pitchFamily="49" charset="0"/>
              </a:rPr>
              <a:t>yyyy</a:t>
            </a:r>
            <a:r>
              <a:rPr lang="en-US" dirty="0">
                <a:latin typeface="Courier New" pitchFamily="49" charset="0"/>
                <a:cs typeface="Courier New" pitchFamily="49" charset="0"/>
              </a:rPr>
              <a:t>-mm-</a:t>
            </a:r>
            <a:r>
              <a:rPr lang="en-US" dirty="0" err="1">
                <a:latin typeface="Courier New" pitchFamily="49" charset="0"/>
                <a:cs typeface="Courier New" pitchFamily="49" charset="0"/>
              </a:rPr>
              <a:t>dd</a:t>
            </a:r>
            <a:r>
              <a:rPr lang="en-US" dirty="0">
                <a:latin typeface="Courier New" pitchFamily="49" charset="0"/>
                <a:cs typeface="Courier New" pitchFamily="49" charset="0"/>
              </a:rPr>
              <a:t>') -1 from dual;</a:t>
            </a:r>
          </a:p>
          <a:p>
            <a:pPr eaLnBrk="1" hangingPunct="1"/>
            <a:r>
              <a:rPr lang="en-US" dirty="0">
                <a:latin typeface="Courier New" pitchFamily="49" charset="0"/>
                <a:cs typeface="Courier New" pitchFamily="49" charset="0"/>
              </a:rPr>
              <a:t>TO_DATE('0001-01-01'</a:t>
            </a:r>
          </a:p>
          <a:p>
            <a:pPr eaLnBrk="1" hangingPunct="1"/>
            <a:r>
              <a:rPr lang="en-US" dirty="0">
                <a:latin typeface="Courier New" pitchFamily="49" charset="0"/>
                <a:cs typeface="Courier New" pitchFamily="49" charset="0"/>
              </a:rPr>
              <a:t>--------------------</a:t>
            </a:r>
          </a:p>
          <a:p>
            <a:pPr eaLnBrk="1" hangingPunct="1"/>
            <a:r>
              <a:rPr lang="en-US" dirty="0">
                <a:latin typeface="Courier New" pitchFamily="49" charset="0"/>
                <a:cs typeface="Courier New" pitchFamily="49" charset="0"/>
              </a:rPr>
              <a:t> 0000-12-31 00:00:00</a:t>
            </a:r>
          </a:p>
          <a:p>
            <a:pPr eaLnBrk="1" hangingPunct="1"/>
            <a:endParaRPr lang="en-US" dirty="0">
              <a:latin typeface="Courier New" pitchFamily="49" charset="0"/>
              <a:cs typeface="Courier New" pitchFamily="49" charset="0"/>
            </a:endParaRPr>
          </a:p>
          <a:p>
            <a:pPr eaLnBrk="1" hangingPunct="1"/>
            <a:r>
              <a:rPr lang="en-US" dirty="0">
                <a:latin typeface="Courier New" pitchFamily="49" charset="0"/>
                <a:cs typeface="Courier New" pitchFamily="49" charset="0"/>
              </a:rPr>
              <a:t>SQL&gt; select TO_DATE('0001-01-01', '</a:t>
            </a:r>
            <a:r>
              <a:rPr lang="en-US" dirty="0" err="1">
                <a:latin typeface="Courier New" pitchFamily="49" charset="0"/>
                <a:cs typeface="Courier New" pitchFamily="49" charset="0"/>
              </a:rPr>
              <a:t>yyyy</a:t>
            </a:r>
            <a:r>
              <a:rPr lang="en-US" dirty="0">
                <a:latin typeface="Courier New" pitchFamily="49" charset="0"/>
                <a:cs typeface="Courier New" pitchFamily="49" charset="0"/>
              </a:rPr>
              <a:t>-mm-</a:t>
            </a:r>
            <a:r>
              <a:rPr lang="en-US" dirty="0" err="1">
                <a:latin typeface="Courier New" pitchFamily="49" charset="0"/>
                <a:cs typeface="Courier New" pitchFamily="49" charset="0"/>
              </a:rPr>
              <a:t>dd</a:t>
            </a:r>
            <a:r>
              <a:rPr lang="en-US" dirty="0">
                <a:latin typeface="Courier New" pitchFamily="49" charset="0"/>
                <a:cs typeface="Courier New" pitchFamily="49" charset="0"/>
              </a:rPr>
              <a:t>') -366 from dual;</a:t>
            </a:r>
          </a:p>
          <a:p>
            <a:pPr eaLnBrk="1" hangingPunct="1"/>
            <a:r>
              <a:rPr lang="en-US" dirty="0">
                <a:latin typeface="Courier New" pitchFamily="49" charset="0"/>
                <a:cs typeface="Courier New" pitchFamily="49" charset="0"/>
              </a:rPr>
              <a:t>TO_DATE('0001-01-01'</a:t>
            </a:r>
          </a:p>
          <a:p>
            <a:pPr eaLnBrk="1" hangingPunct="1"/>
            <a:r>
              <a:rPr lang="en-US" dirty="0">
                <a:latin typeface="Courier New" pitchFamily="49" charset="0"/>
                <a:cs typeface="Courier New" pitchFamily="49" charset="0"/>
              </a:rPr>
              <a:t>--------------------</a:t>
            </a:r>
          </a:p>
          <a:p>
            <a:pPr eaLnBrk="1" hangingPunct="1"/>
            <a:r>
              <a:rPr lang="en-US" dirty="0">
                <a:latin typeface="Courier New" pitchFamily="49" charset="0"/>
                <a:cs typeface="Courier New" pitchFamily="49" charset="0"/>
              </a:rPr>
              <a:t> 0000-01-01 00:00:00</a:t>
            </a:r>
          </a:p>
          <a:p>
            <a:pPr eaLnBrk="1" hangingPunct="1"/>
            <a:endParaRPr lang="en-US" dirty="0">
              <a:latin typeface="Courier New" pitchFamily="49" charset="0"/>
              <a:cs typeface="Courier New" pitchFamily="49" charset="0"/>
            </a:endParaRPr>
          </a:p>
          <a:p>
            <a:pPr eaLnBrk="1" hangingPunct="1"/>
            <a:r>
              <a:rPr lang="en-US" dirty="0">
                <a:latin typeface="Courier New" pitchFamily="49" charset="0"/>
                <a:cs typeface="Courier New" pitchFamily="49" charset="0"/>
              </a:rPr>
              <a:t>SQL&gt; select TO_DATE('0001-01-01', '</a:t>
            </a:r>
            <a:r>
              <a:rPr lang="en-US" dirty="0" err="1">
                <a:latin typeface="Courier New" pitchFamily="49" charset="0"/>
                <a:cs typeface="Courier New" pitchFamily="49" charset="0"/>
              </a:rPr>
              <a:t>yyyy</a:t>
            </a:r>
            <a:r>
              <a:rPr lang="en-US" dirty="0">
                <a:latin typeface="Courier New" pitchFamily="49" charset="0"/>
                <a:cs typeface="Courier New" pitchFamily="49" charset="0"/>
              </a:rPr>
              <a:t>-mm-</a:t>
            </a:r>
            <a:r>
              <a:rPr lang="en-US" dirty="0" err="1">
                <a:latin typeface="Courier New" pitchFamily="49" charset="0"/>
                <a:cs typeface="Courier New" pitchFamily="49" charset="0"/>
              </a:rPr>
              <a:t>dd</a:t>
            </a:r>
            <a:r>
              <a:rPr lang="en-US" dirty="0">
                <a:latin typeface="Courier New" pitchFamily="49" charset="0"/>
                <a:cs typeface="Courier New" pitchFamily="49" charset="0"/>
              </a:rPr>
              <a:t>') -367 from dual;</a:t>
            </a:r>
          </a:p>
          <a:p>
            <a:pPr eaLnBrk="1" hangingPunct="1"/>
            <a:r>
              <a:rPr lang="en-US" dirty="0">
                <a:latin typeface="Courier New" pitchFamily="49" charset="0"/>
                <a:cs typeface="Courier New" pitchFamily="49" charset="0"/>
              </a:rPr>
              <a:t>TO_DATE('0001-01-01'</a:t>
            </a:r>
          </a:p>
          <a:p>
            <a:pPr eaLnBrk="1" hangingPunct="1"/>
            <a:r>
              <a:rPr lang="en-US" dirty="0">
                <a:latin typeface="Courier New" pitchFamily="49" charset="0"/>
                <a:cs typeface="Courier New" pitchFamily="49" charset="0"/>
              </a:rPr>
              <a:t>--------------------</a:t>
            </a:r>
          </a:p>
          <a:p>
            <a:pPr eaLnBrk="1" hangingPunct="1"/>
            <a:r>
              <a:rPr lang="en-US" dirty="0">
                <a:latin typeface="Courier New" pitchFamily="49" charset="0"/>
                <a:cs typeface="Courier New" pitchFamily="49" charset="0"/>
              </a:rPr>
              <a:t>-0001-12-31 00:00:00</a:t>
            </a:r>
          </a:p>
        </p:txBody>
      </p:sp>
      <p:sp>
        <p:nvSpPr>
          <p:cNvPr id="30723" name="TextBox 2"/>
          <p:cNvSpPr txBox="1">
            <a:spLocks noChangeArrowheads="1"/>
          </p:cNvSpPr>
          <p:nvPr/>
        </p:nvSpPr>
        <p:spPr bwMode="auto">
          <a:xfrm>
            <a:off x="1801427" y="533400"/>
            <a:ext cx="8915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dirty="0"/>
              <a:t>TO_DATE won’t construct a Year-0 date, </a:t>
            </a:r>
          </a:p>
          <a:p>
            <a:pPr algn="ctr" eaLnBrk="1" hangingPunct="1"/>
            <a:r>
              <a:rPr lang="en-US" sz="2000" dirty="0"/>
              <a:t>but you can do math into and through Year-0</a:t>
            </a:r>
          </a:p>
        </p:txBody>
      </p:sp>
      <p:cxnSp>
        <p:nvCxnSpPr>
          <p:cNvPr id="4" name="Straight Connector 3"/>
          <p:cNvCxnSpPr/>
          <p:nvPr/>
        </p:nvCxnSpPr>
        <p:spPr>
          <a:xfrm>
            <a:off x="1539536" y="17526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91351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Box 1"/>
          <p:cNvSpPr txBox="1">
            <a:spLocks noChangeArrowheads="1"/>
          </p:cNvSpPr>
          <p:nvPr/>
        </p:nvSpPr>
        <p:spPr bwMode="auto">
          <a:xfrm>
            <a:off x="3101636" y="620190"/>
            <a:ext cx="6019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dirty="0"/>
              <a:t>Keeping your dates interesting: Quirks of date math</a:t>
            </a:r>
          </a:p>
        </p:txBody>
      </p:sp>
      <p:sp>
        <p:nvSpPr>
          <p:cNvPr id="31747" name="TextBox 2"/>
          <p:cNvSpPr txBox="1">
            <a:spLocks noChangeArrowheads="1"/>
          </p:cNvSpPr>
          <p:nvPr/>
        </p:nvSpPr>
        <p:spPr bwMode="auto">
          <a:xfrm>
            <a:off x="2362200" y="2286000"/>
            <a:ext cx="79248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dirty="0"/>
              <a:t>Adding months and years is not consistent</a:t>
            </a:r>
          </a:p>
          <a:p>
            <a:pPr eaLnBrk="1" hangingPunct="1"/>
            <a:endParaRPr lang="en-US" sz="2000" dirty="0"/>
          </a:p>
          <a:p>
            <a:pPr eaLnBrk="1" hangingPunct="1"/>
            <a:r>
              <a:rPr lang="en-US" sz="2000" dirty="0"/>
              <a:t>SQL&gt; select </a:t>
            </a:r>
            <a:r>
              <a:rPr lang="en-US" sz="2000" dirty="0" err="1"/>
              <a:t>add_months</a:t>
            </a:r>
            <a:r>
              <a:rPr lang="en-US" sz="2000" dirty="0"/>
              <a:t>(date '2024-02-29',12) d from dual;</a:t>
            </a:r>
          </a:p>
          <a:p>
            <a:pPr eaLnBrk="1" hangingPunct="1"/>
            <a:r>
              <a:rPr lang="en-US" sz="2000" dirty="0"/>
              <a:t>D</a:t>
            </a:r>
          </a:p>
          <a:p>
            <a:pPr eaLnBrk="1" hangingPunct="1"/>
            <a:r>
              <a:rPr lang="en-US" sz="2000" dirty="0"/>
              <a:t>--------------------</a:t>
            </a:r>
          </a:p>
          <a:p>
            <a:pPr eaLnBrk="1" hangingPunct="1"/>
            <a:r>
              <a:rPr lang="en-US" sz="2000" dirty="0"/>
              <a:t> 2025-02-28 00:00:00</a:t>
            </a:r>
          </a:p>
          <a:p>
            <a:pPr eaLnBrk="1" hangingPunct="1"/>
            <a:endParaRPr lang="en-US" sz="2000" dirty="0"/>
          </a:p>
          <a:p>
            <a:pPr eaLnBrk="1" hangingPunct="1"/>
            <a:r>
              <a:rPr lang="en-US" sz="2000" dirty="0"/>
              <a:t>SQL&gt; select date '2024-02-29' + (interval '12' month) from dual;</a:t>
            </a:r>
          </a:p>
          <a:p>
            <a:pPr eaLnBrk="1" hangingPunct="1"/>
            <a:r>
              <a:rPr lang="en-US" sz="2000" dirty="0"/>
              <a:t>select date '2024-02-29' + (interval '12' month) from dual</a:t>
            </a:r>
          </a:p>
          <a:p>
            <a:pPr eaLnBrk="1" hangingPunct="1"/>
            <a:r>
              <a:rPr lang="en-US" sz="2000" dirty="0"/>
              <a:t>                         *</a:t>
            </a:r>
          </a:p>
          <a:p>
            <a:pPr eaLnBrk="1" hangingPunct="1"/>
            <a:r>
              <a:rPr lang="en-US" sz="2000" dirty="0"/>
              <a:t>ERROR at line 1:</a:t>
            </a:r>
          </a:p>
          <a:p>
            <a:pPr eaLnBrk="1" hangingPunct="1"/>
            <a:r>
              <a:rPr lang="en-US" sz="2000" dirty="0"/>
              <a:t>ORA-01839: date not valid for month specified</a:t>
            </a:r>
          </a:p>
        </p:txBody>
      </p:sp>
      <p:cxnSp>
        <p:nvCxnSpPr>
          <p:cNvPr id="4" name="Straight Connector 3"/>
          <p:cNvCxnSpPr/>
          <p:nvPr/>
        </p:nvCxnSpPr>
        <p:spPr>
          <a:xfrm>
            <a:off x="1539536" y="17526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13973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p:cNvSpPr>
            <a:spLocks noChangeArrowheads="1"/>
          </p:cNvSpPr>
          <p:nvPr/>
        </p:nvSpPr>
        <p:spPr bwMode="auto">
          <a:xfrm>
            <a:off x="2133600" y="1600200"/>
            <a:ext cx="8077200" cy="218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dirty="0"/>
              <a:t>SQL&gt; select count(*) from </a:t>
            </a:r>
            <a:r>
              <a:rPr lang="en-US" dirty="0" err="1"/>
              <a:t>save_bad_timestamp_example</a:t>
            </a:r>
            <a:r>
              <a:rPr lang="en-US" dirty="0"/>
              <a:t> where </a:t>
            </a:r>
            <a:r>
              <a:rPr lang="en-US" dirty="0" err="1"/>
              <a:t>mod_date</a:t>
            </a:r>
            <a:r>
              <a:rPr lang="en-US" dirty="0"/>
              <a:t> &gt; </a:t>
            </a:r>
            <a:r>
              <a:rPr lang="en-US" sz="2800" dirty="0"/>
              <a:t>TIMESTAMP '9999-12-31 23:59:59.999999999';</a:t>
            </a:r>
          </a:p>
          <a:p>
            <a:endParaRPr lang="en-US" dirty="0"/>
          </a:p>
          <a:p>
            <a:r>
              <a:rPr lang="en-US" dirty="0"/>
              <a:t> COUNT(*)</a:t>
            </a:r>
          </a:p>
          <a:p>
            <a:r>
              <a:rPr lang="en-US" dirty="0"/>
              <a:t>---------------</a:t>
            </a:r>
          </a:p>
          <a:p>
            <a:r>
              <a:rPr lang="en-US" dirty="0"/>
              <a:t>        15</a:t>
            </a:r>
          </a:p>
          <a:p>
            <a:endParaRPr lang="en-US" dirty="0"/>
          </a:p>
        </p:txBody>
      </p:sp>
      <p:sp>
        <p:nvSpPr>
          <p:cNvPr id="32771" name="TextBox 2"/>
          <p:cNvSpPr txBox="1">
            <a:spLocks noChangeArrowheads="1"/>
          </p:cNvSpPr>
          <p:nvPr/>
        </p:nvSpPr>
        <p:spPr bwMode="auto">
          <a:xfrm>
            <a:off x="3025436" y="675350"/>
            <a:ext cx="6172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dirty="0"/>
              <a:t>Living in interesting times:  Dates beyond year 9999</a:t>
            </a:r>
          </a:p>
        </p:txBody>
      </p:sp>
      <p:sp>
        <p:nvSpPr>
          <p:cNvPr id="5" name="Rectangle 4"/>
          <p:cNvSpPr>
            <a:spLocks noChangeArrowheads="1"/>
          </p:cNvSpPr>
          <p:nvPr/>
        </p:nvSpPr>
        <p:spPr bwMode="auto">
          <a:xfrm>
            <a:off x="2150616" y="3657601"/>
            <a:ext cx="8305800"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000" dirty="0"/>
              <a:t>SQL&gt; select </a:t>
            </a:r>
            <a:r>
              <a:rPr lang="en-US" sz="2000" dirty="0" err="1"/>
              <a:t>mod_date,dump</a:t>
            </a:r>
            <a:r>
              <a:rPr lang="en-US" sz="2000" dirty="0"/>
              <a:t>(</a:t>
            </a:r>
            <a:r>
              <a:rPr lang="en-US" sz="2000" dirty="0" err="1"/>
              <a:t>mod_date</a:t>
            </a:r>
            <a:r>
              <a:rPr lang="en-US" sz="2000" dirty="0"/>
              <a:t>) from </a:t>
            </a:r>
            <a:r>
              <a:rPr lang="en-US" sz="2000" dirty="0" err="1"/>
              <a:t>save_bad_timestamp_example</a:t>
            </a:r>
            <a:r>
              <a:rPr lang="en-US" sz="2000" dirty="0"/>
              <a:t>;</a:t>
            </a:r>
          </a:p>
          <a:p>
            <a:endParaRPr lang="en-US" sz="2000" dirty="0"/>
          </a:p>
          <a:p>
            <a:r>
              <a:rPr lang="en-US" sz="2800" b="1" dirty="0">
                <a:latin typeface="Cordia New" pitchFamily="34" charset="-34"/>
                <a:cs typeface="Cordia New" pitchFamily="34" charset="-34"/>
              </a:rPr>
              <a:t>MOD_DATE                            DUMP(MOD_DATE)</a:t>
            </a:r>
          </a:p>
          <a:p>
            <a:r>
              <a:rPr lang="en-US" sz="2800" b="1" dirty="0">
                <a:latin typeface="Cordia New" pitchFamily="34" charset="-34"/>
                <a:cs typeface="Cordia New" pitchFamily="34" charset="-34"/>
              </a:rPr>
              <a:t>------------------------------------------   --------------------------------------------------------</a:t>
            </a:r>
          </a:p>
          <a:p>
            <a:r>
              <a:rPr lang="en-US" sz="2800" b="1" dirty="0">
                <a:latin typeface="Cordia New" pitchFamily="34" charset="-34"/>
                <a:cs typeface="Cordia New" pitchFamily="34" charset="-34"/>
              </a:rPr>
              <a:t>24-JUL-00 08.37.58.000000 PM   </a:t>
            </a:r>
            <a:r>
              <a:rPr lang="en-US" sz="2800" b="1" dirty="0" err="1">
                <a:latin typeface="Cordia New" pitchFamily="34" charset="-34"/>
                <a:cs typeface="Cordia New" pitchFamily="34" charset="-34"/>
              </a:rPr>
              <a:t>Typ</a:t>
            </a:r>
            <a:r>
              <a:rPr lang="en-US" sz="2800" b="1" dirty="0">
                <a:latin typeface="Cordia New" pitchFamily="34" charset="-34"/>
                <a:cs typeface="Cordia New" pitchFamily="34" charset="-34"/>
              </a:rPr>
              <a:t>=180 Len=7: 228,100,7,24,21,38,59</a:t>
            </a:r>
          </a:p>
          <a:p>
            <a:r>
              <a:rPr lang="en-US" sz="2800" b="1" dirty="0">
                <a:latin typeface="Cordia New" pitchFamily="34" charset="-34"/>
                <a:cs typeface="Cordia New" pitchFamily="34" charset="-34"/>
              </a:rPr>
              <a:t>24-JUL-00 08.37.58.000000 PM   </a:t>
            </a:r>
            <a:r>
              <a:rPr lang="en-US" sz="2800" b="1" dirty="0" err="1">
                <a:latin typeface="Cordia New" pitchFamily="34" charset="-34"/>
                <a:cs typeface="Cordia New" pitchFamily="34" charset="-34"/>
              </a:rPr>
              <a:t>Typ</a:t>
            </a:r>
            <a:r>
              <a:rPr lang="en-US" sz="2800" b="1" dirty="0">
                <a:latin typeface="Cordia New" pitchFamily="34" charset="-34"/>
                <a:cs typeface="Cordia New" pitchFamily="34" charset="-34"/>
              </a:rPr>
              <a:t>=180 Len=7: 228,100,7,24,21,38,59</a:t>
            </a:r>
          </a:p>
          <a:p>
            <a:r>
              <a:rPr lang="en-US" sz="2800" b="1" dirty="0">
                <a:latin typeface="Cordia New" pitchFamily="34" charset="-34"/>
                <a:cs typeface="Cordia New" pitchFamily="34" charset="-34"/>
              </a:rPr>
              <a:t>24-JUL-00 08.37.58.000000 PM   </a:t>
            </a:r>
            <a:r>
              <a:rPr lang="en-US" sz="2800" b="1" dirty="0" err="1">
                <a:latin typeface="Cordia New" pitchFamily="34" charset="-34"/>
                <a:cs typeface="Cordia New" pitchFamily="34" charset="-34"/>
              </a:rPr>
              <a:t>Typ</a:t>
            </a:r>
            <a:r>
              <a:rPr lang="en-US" sz="2800" b="1" dirty="0">
                <a:latin typeface="Cordia New" pitchFamily="34" charset="-34"/>
                <a:cs typeface="Cordia New" pitchFamily="34" charset="-34"/>
              </a:rPr>
              <a:t>=180 Len=7: 228,100,7,24,21,38,59</a:t>
            </a:r>
          </a:p>
          <a:p>
            <a:endParaRPr lang="en-US" dirty="0"/>
          </a:p>
        </p:txBody>
      </p:sp>
      <p:cxnSp>
        <p:nvCxnSpPr>
          <p:cNvPr id="6" name="Straight Connector 5"/>
          <p:cNvCxnSpPr/>
          <p:nvPr/>
        </p:nvCxnSpPr>
        <p:spPr>
          <a:xfrm>
            <a:off x="1600200" y="12954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51744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Box 1"/>
          <p:cNvSpPr txBox="1">
            <a:spLocks noChangeArrowheads="1"/>
          </p:cNvSpPr>
          <p:nvPr/>
        </p:nvSpPr>
        <p:spPr bwMode="auto">
          <a:xfrm>
            <a:off x="3711236" y="762000"/>
            <a:ext cx="4800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dirty="0"/>
              <a:t>Daylight Saving Time (Prevailing Time)</a:t>
            </a:r>
          </a:p>
        </p:txBody>
      </p:sp>
      <p:sp>
        <p:nvSpPr>
          <p:cNvPr id="33795" name="TextBox 2"/>
          <p:cNvSpPr txBox="1">
            <a:spLocks noChangeArrowheads="1"/>
          </p:cNvSpPr>
          <p:nvPr/>
        </p:nvSpPr>
        <p:spPr bwMode="auto">
          <a:xfrm>
            <a:off x="2286000" y="2590800"/>
            <a:ext cx="85344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a:t>How to determine if you are in Daylight or Standard Time?</a:t>
            </a:r>
          </a:p>
          <a:p>
            <a:pPr eaLnBrk="1" hangingPunct="1"/>
            <a:endParaRPr lang="en-US" dirty="0"/>
          </a:p>
          <a:p>
            <a:pPr eaLnBrk="1" hangingPunct="1"/>
            <a:r>
              <a:rPr lang="en-US" dirty="0"/>
              <a:t>Oracle determines it based on your localization settings and which time zone file has been loaded.</a:t>
            </a:r>
          </a:p>
          <a:p>
            <a:pPr eaLnBrk="1" hangingPunct="1"/>
            <a:endParaRPr lang="en-US" dirty="0"/>
          </a:p>
          <a:p>
            <a:pPr eaLnBrk="1" hangingPunct="1"/>
            <a:r>
              <a:rPr lang="en-US" dirty="0"/>
              <a:t>SELECT TZ_OFFSET('US/Eastern') FROM DUAL; -- If -4 then DST, -5 Standard</a:t>
            </a:r>
          </a:p>
        </p:txBody>
      </p:sp>
      <p:cxnSp>
        <p:nvCxnSpPr>
          <p:cNvPr id="4" name="Straight Connector 3"/>
          <p:cNvCxnSpPr/>
          <p:nvPr/>
        </p:nvCxnSpPr>
        <p:spPr>
          <a:xfrm>
            <a:off x="1537317" y="13716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5613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Box 2"/>
          <p:cNvSpPr txBox="1">
            <a:spLocks noChangeArrowheads="1"/>
          </p:cNvSpPr>
          <p:nvPr/>
        </p:nvSpPr>
        <p:spPr bwMode="auto">
          <a:xfrm>
            <a:off x="1905000" y="693678"/>
            <a:ext cx="8305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dirty="0"/>
              <a:t>Where to find Daylight Saving and Time Zone Localization information</a:t>
            </a:r>
          </a:p>
        </p:txBody>
      </p:sp>
      <p:sp>
        <p:nvSpPr>
          <p:cNvPr id="34819" name="TextBox 3"/>
          <p:cNvSpPr txBox="1">
            <a:spLocks noChangeArrowheads="1"/>
          </p:cNvSpPr>
          <p:nvPr/>
        </p:nvSpPr>
        <p:spPr bwMode="auto">
          <a:xfrm>
            <a:off x="2957004" y="2057400"/>
            <a:ext cx="6172200" cy="252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dirty="0"/>
              <a:t>select * from </a:t>
            </a:r>
            <a:r>
              <a:rPr lang="en-US" sz="2000" dirty="0" err="1"/>
              <a:t>v$timezone_names</a:t>
            </a:r>
            <a:r>
              <a:rPr lang="en-US" sz="2000" dirty="0"/>
              <a:t>;</a:t>
            </a:r>
          </a:p>
          <a:p>
            <a:pPr eaLnBrk="1" hangingPunct="1"/>
            <a:endParaRPr lang="en-US" sz="2000" dirty="0"/>
          </a:p>
          <a:p>
            <a:pPr eaLnBrk="1" hangingPunct="1"/>
            <a:r>
              <a:rPr lang="en-US" sz="2000" dirty="0"/>
              <a:t>select * from </a:t>
            </a:r>
            <a:r>
              <a:rPr lang="en-US" sz="2000" dirty="0" err="1"/>
              <a:t>v$timezone_file</a:t>
            </a:r>
            <a:r>
              <a:rPr lang="en-US" sz="2000" dirty="0"/>
              <a:t>;</a:t>
            </a:r>
          </a:p>
          <a:p>
            <a:pPr eaLnBrk="1" hangingPunct="1"/>
            <a:endParaRPr lang="en-US" sz="2000" dirty="0"/>
          </a:p>
          <a:p>
            <a:pPr eaLnBrk="1" hangingPunct="1"/>
            <a:r>
              <a:rPr lang="en-US" sz="2000" dirty="0"/>
              <a:t>To get the most recent time zone file and instructions for patching your database with that file read MOS Doc 412160.1 (KB 151444)</a:t>
            </a:r>
          </a:p>
          <a:p>
            <a:pPr eaLnBrk="1" hangingPunct="1"/>
            <a:endParaRPr lang="en-US" dirty="0"/>
          </a:p>
        </p:txBody>
      </p:sp>
      <p:sp>
        <p:nvSpPr>
          <p:cNvPr id="2" name="TextBox 1"/>
          <p:cNvSpPr txBox="1">
            <a:spLocks noChangeArrowheads="1"/>
          </p:cNvSpPr>
          <p:nvPr/>
        </p:nvSpPr>
        <p:spPr bwMode="auto">
          <a:xfrm>
            <a:off x="3177836" y="5105400"/>
            <a:ext cx="5867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dirty="0"/>
              <a:t>Latest version as of this writing is v45, released in April.</a:t>
            </a:r>
          </a:p>
          <a:p>
            <a:pPr eaLnBrk="1" hangingPunct="1"/>
            <a:endParaRPr lang="en-US" dirty="0"/>
          </a:p>
        </p:txBody>
      </p:sp>
      <p:cxnSp>
        <p:nvCxnSpPr>
          <p:cNvPr id="5" name="Straight Connector 4"/>
          <p:cNvCxnSpPr/>
          <p:nvPr/>
        </p:nvCxnSpPr>
        <p:spPr>
          <a:xfrm>
            <a:off x="1539536" y="1295400"/>
            <a:ext cx="9144000" cy="1588"/>
          </a:xfrm>
          <a:prstGeom prst="line">
            <a:avLst/>
          </a:prstGeom>
          <a:ln w="28575">
            <a:solidFill>
              <a:srgbClr val="2A15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5755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3286225" y="2046684"/>
            <a:ext cx="57912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341313">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t>Sean D. </a:t>
            </a:r>
            <a:r>
              <a:rPr lang="en-US" sz="2400" dirty="0" err="1"/>
              <a:t>Stuber</a:t>
            </a:r>
            <a:endParaRPr lang="en-US" sz="2400" dirty="0"/>
          </a:p>
          <a:p>
            <a:pPr indent="-341313">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t>An Oracle Geek’s Guide to Successful Dating</a:t>
            </a:r>
          </a:p>
          <a:p>
            <a:pPr indent="-341313">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2400" dirty="0"/>
          </a:p>
          <a:p>
            <a:pPr indent="-341313">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t>sean.stuber@gmail.com</a:t>
            </a:r>
          </a:p>
        </p:txBody>
      </p:sp>
      <p:sp>
        <p:nvSpPr>
          <p:cNvPr id="35843" name="TextBox 2"/>
          <p:cNvSpPr txBox="1">
            <a:spLocks noChangeArrowheads="1"/>
          </p:cNvSpPr>
          <p:nvPr/>
        </p:nvSpPr>
        <p:spPr bwMode="auto">
          <a:xfrm>
            <a:off x="4953000" y="1039813"/>
            <a:ext cx="2286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200" dirty="0"/>
              <a:t>Questions</a:t>
            </a:r>
            <a:r>
              <a:rPr lang="en-US" sz="2800" dirty="0"/>
              <a:t>?</a:t>
            </a:r>
          </a:p>
        </p:txBody>
      </p:sp>
      <p:sp>
        <p:nvSpPr>
          <p:cNvPr id="3" name="TextBox 2">
            <a:extLst>
              <a:ext uri="{FF2B5EF4-FFF2-40B4-BE49-F238E27FC236}">
                <a16:creationId xmlns:a16="http://schemas.microsoft.com/office/drawing/2014/main" id="{110E2C3C-8A3C-77CA-C299-F9D4838DC0BE}"/>
              </a:ext>
            </a:extLst>
          </p:cNvPr>
          <p:cNvSpPr txBox="1"/>
          <p:nvPr/>
        </p:nvSpPr>
        <p:spPr>
          <a:xfrm>
            <a:off x="2033581" y="3682311"/>
            <a:ext cx="9269128" cy="3416320"/>
          </a:xfrm>
          <a:prstGeom prst="rect">
            <a:avLst/>
          </a:prstGeom>
          <a:noFill/>
        </p:spPr>
        <p:txBody>
          <a:bodyPr wrap="square" rtlCol="0">
            <a:spAutoFit/>
          </a:bodyPr>
          <a:lstStyle/>
          <a:p>
            <a:r>
              <a:rPr lang="en-US" dirty="0"/>
              <a:t>Related articles:</a:t>
            </a:r>
          </a:p>
          <a:p>
            <a:br>
              <a:rPr lang="en-US" dirty="0">
                <a:hlinkClick r:id="rId2"/>
              </a:rPr>
            </a:br>
            <a:r>
              <a:rPr lang="en-US" dirty="0">
                <a:hlinkClick r:id="rId2"/>
              </a:rPr>
              <a:t>https://seanstuber.com/2012/09/22/filling-in-missing-functionality-with-oracle-interval-types/</a:t>
            </a:r>
            <a:br>
              <a:rPr lang="en-US" dirty="0">
                <a:hlinkClick r:id="rId2"/>
              </a:rPr>
            </a:br>
            <a:r>
              <a:rPr lang="en-US" dirty="0">
                <a:hlinkClick r:id="rId2"/>
              </a:rPr>
              <a:t>https://seanstuber.com/2020/05/17/dates-and-timestamp-formats-and-structure/</a:t>
            </a:r>
            <a:endParaRPr lang="en-US" dirty="0"/>
          </a:p>
          <a:p>
            <a:r>
              <a:rPr lang="en-US" dirty="0">
                <a:hlinkClick r:id="rId3"/>
              </a:rPr>
              <a:t>https://seanstuber.com/2020/11/19/time-zones-daylight-saving-time-and-data-types/</a:t>
            </a:r>
            <a:endParaRPr lang="en-US" dirty="0"/>
          </a:p>
          <a:p>
            <a:r>
              <a:rPr lang="en-US" dirty="0">
                <a:hlinkClick r:id="rId4"/>
              </a:rPr>
              <a:t>https://seanstuber.com/2020/12/23/oracle-intervals-overview/</a:t>
            </a:r>
            <a:endParaRPr lang="en-US" dirty="0"/>
          </a:p>
          <a:p>
            <a:r>
              <a:rPr lang="en-US" dirty="0">
                <a:hlinkClick r:id="rId5"/>
              </a:rPr>
              <a:t>https://seanstuber.com/2020/12/23/oracle-intervals-day-to-second/</a:t>
            </a:r>
            <a:endParaRPr lang="en-US" dirty="0"/>
          </a:p>
          <a:p>
            <a:r>
              <a:rPr lang="en-US" dirty="0">
                <a:hlinkClick r:id="rId6"/>
              </a:rPr>
              <a:t>https://seanstuber.com/2020/12/30/oracle-intervals-year-to-month/</a:t>
            </a:r>
            <a:endParaRPr lang="en-US" dirty="0"/>
          </a:p>
          <a:p>
            <a:r>
              <a:rPr lang="en-US" dirty="0">
                <a:hlinkClick r:id="rId7"/>
              </a:rPr>
              <a:t>https://seanstuber.com/2021/01/30/dates-and-timestamps-the-trunc-function/</a:t>
            </a:r>
            <a:endParaRPr lang="en-US" dirty="0"/>
          </a:p>
          <a:p>
            <a:r>
              <a:rPr lang="en-US" dirty="0">
                <a:hlinkClick r:id="rId8"/>
              </a:rPr>
              <a:t>https://seanstuber.com/2023/05/08/oracle-23c-interval-aggregates/</a:t>
            </a:r>
            <a:endParaRPr lang="en-US" dirty="0"/>
          </a:p>
          <a:p>
            <a:endParaRPr lang="en-US" dirty="0"/>
          </a:p>
          <a:p>
            <a:endParaRPr lang="en-US" dirty="0"/>
          </a:p>
        </p:txBody>
      </p:sp>
    </p:spTree>
    <p:extLst>
      <p:ext uri="{BB962C8B-B14F-4D97-AF65-F5344CB8AC3E}">
        <p14:creationId xmlns:p14="http://schemas.microsoft.com/office/powerpoint/2010/main" val="30455722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427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14959</TotalTime>
  <Words>3045</Words>
  <Application>Microsoft Office PowerPoint</Application>
  <PresentationFormat>Widescreen</PresentationFormat>
  <Paragraphs>426</Paragraphs>
  <Slides>39</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39</vt:i4>
      </vt:variant>
    </vt:vector>
  </HeadingPairs>
  <TitlesOfParts>
    <vt:vector size="50" baseType="lpstr">
      <vt:lpstr>Aptos</vt:lpstr>
      <vt:lpstr>Arial</vt:lpstr>
      <vt:lpstr>Arial Unicode MS</vt:lpstr>
      <vt:lpstr>Calibri</vt:lpstr>
      <vt:lpstr>Calibri Light</vt:lpstr>
      <vt:lpstr>Cordia New</vt:lpstr>
      <vt:lpstr>Courier New</vt:lpstr>
      <vt:lpstr>Gill Sans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Sean D. Stuber</dc:creator>
  <cp:lastModifiedBy>Sean Stuber</cp:lastModifiedBy>
  <cp:revision>39</cp:revision>
  <dcterms:created xsi:type="dcterms:W3CDTF">2025-07-11T14:55:26Z</dcterms:created>
  <dcterms:modified xsi:type="dcterms:W3CDTF">2026-06-01T03:42:30Z</dcterms:modified>
</cp:coreProperties>
</file>